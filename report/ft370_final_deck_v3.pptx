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70" r:id="rId11"/>
    <p:sldId id="271" r:id="rId12"/>
    <p:sldId id="272" r:id="rId13"/>
    <p:sldId id="267" r:id="rId14"/>
    <p:sldId id="268" r:id="rId15"/>
    <p:sldId id="269" r:id="rId16"/>
    <p:sldId id="273"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varScale="1">
        <p:scale>
          <a:sx n="169" d="100"/>
          <a:sy n="169" d="100"/>
        </p:scale>
        <p:origin x="1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296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State the thesis up front. This is NOT a 'we tried to predict the Fed' talk. It's an efficiency finding. Each phase asked a harder question and got the same answer with more force.
Don't apologize for null results. They ARE the finding.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Give the class the framing. We followed the spirit of the assignment — LM sentiment, quintile portfolio, IC/IR/hit rate — but applied it to a richer domain where we can also benchmark against a prediction market.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Walk through quickly — 60-90 seconds. The key framing: this is NOT four independent null results. It is a progressively stronger efficiency finding. The fact that BERT at r=0.866 still can't beat Kalshi makes the finding stronger, not weaker.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Spend 2 minutes here. This is what differentiates the project from a standard class assignment.
The key story: we didn't just run a notebook. We built production data pipelines on cloud infrastructure to collect real market data in real-time. Pipeline 5 ran continuously on EC2 collecting Kalshi prices throughout the semester.
The AI collaboration: be direct. Every pipeline was designed and debugged with Claude. This is the future of research.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SIGNAL: LM detects hedging (uncertainty) but not direction. This is the structural finding — not a failure of sample size or window choice. The construct mismatch is systematic.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DELIVERABLES: This slide directly addresses the project rubric requirements — fractile returns F1-F5, F1-F5 long-short, F1-Benchmark, Benchmark-F5, IC, IR, Hit Rate.
Note for comparison with the standard assignment: most LM strategies on 10-K data show IC near zero (−0.003 is typical per the guidelines). We show similarly weak IC on FOMC text — not because we did something wrong, but because Kalshi already captured this information.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RESULT: The α-sweep across 7 FOMC mention-market meetings. α=0 is pure Kalshi; α=1 is pure LM. Every step away from Kalshi is worse.
This replicates Kim et al. (2026) on a new signal type. The result generalizes: it's not about how you build the NLP signal, it's about the informational efficiency of the market.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Training data: Shah et al. 2,329 sentences (FOMC minutes, press conferences, speeches) + 500 LLM-labeled Powell paragraphs. DistilBERT zero-shot on Shah test = F1=0.925. The task is fully solvable. LM's r=0.069 is a method failure, not a task ceiling.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CONCLUSION: α*=0.00 for FinBERT too, just like LM. Even a 5× better paragraph classifier gets blocked by Kalshi. The r=-0.078 between signals is a useful future-work finding: they measure different things.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v1: The strategy sorts on the ANTICIPATED component — already in ETF prices before the meeting. That's why TLT hit rate is 31.8% (below random). The redesign on the next slide fixes this by switching to the surprise signal.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 FRAMING — lead with regime, not correlation:
'The Phase 4 sample comprises 22 FOMC meetings of holds and consensus cuts plus one genuine dovish surprise. The surprise distribution is near-degenerate by regime construction. corr(T-7,T-1)=0.9993 confirms this — it is a symptom of the same regime, not the primary claim.'
If challenged: 'B-K (2005) got R²=0.40-0.79 because 1994-2002 surprises had std dev 10-15bp. Ours are under 5bp. The market is more efficient now.'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13: The 2×3 summary figure from the phase 3 redesign notebook. Top-left shows the near-degenerate surprise distribution (most meetings near zero, Sep 2024 outlier at −25bp). Top-middle and top-right are the IEI and KRE scatter plots with regression lines — the near-flat IEI line vs the steeper KRE line illustrates the differential sensitivity. Bottom-left shows bootstrap CIs all include zero. Bottom-middle shows IC comparison between surprise and expectation signals. Bottom-right IC bar chart shows KRE as best result.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UNIFIED FINDING: Don't apologize for null results. 'The surprise variance is near-zero because Kalshi prices each meeting to near-perfection a week in advance — that IS the efficiency finding.' If pushed: 'Bernanke-Kuttner got R²=0.40-0.79 because 1994-2002 fed funds futures surprises were 10-15bp std dev. Ours are under 5bp. The market is more efficient now.' KRE (t=−1.57, p=0.116) is the only result with directional content and is the focus for future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State these upfront, not defensively. They remove 90% of the air from methodological pushback. The framing: 'We know the limits. Here's what we found within them.' The extension to Polymarket is the clearest next step — bigger sample, two rate regimes, and the Allium grant is already applied for.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Land the finding cleanly. 'The market has already read the Fed. Prediction markets aggregate what NLP attempts to extract. The signal is in the price before the text is processed.'
GitHub: update repo URL before presenting. Pull it up at the end to show pipelines and README.
Take questions. Good luck.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nix064/kalshi-fomc-nlp"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24183" y="-59959"/>
            <a:ext cx="9236196" cy="5266749"/>
          </a:xfrm>
          <a:prstGeom prst="rect">
            <a:avLst/>
          </a:prstGeom>
          <a:solidFill>
            <a:srgbClr val="0F1A3A"/>
          </a:solidFill>
          <a:ln/>
        </p:spPr>
        <p:txBody>
          <a:bodyPr/>
          <a:lstStyle/>
          <a:p>
            <a:endParaRPr lang="en-US"/>
          </a:p>
        </p:txBody>
      </p:sp>
      <p:sp>
        <p:nvSpPr>
          <p:cNvPr id="3" name="Shape 1"/>
          <p:cNvSpPr/>
          <p:nvPr/>
        </p:nvSpPr>
        <p:spPr>
          <a:xfrm>
            <a:off x="0" y="1005840"/>
            <a:ext cx="9144000" cy="0"/>
          </a:xfrm>
          <a:prstGeom prst="line">
            <a:avLst/>
          </a:prstGeom>
          <a:noFill/>
          <a:ln w="7620">
            <a:solidFill>
              <a:srgbClr val="1A2550"/>
            </a:solidFill>
            <a:prstDash val="solid"/>
          </a:ln>
        </p:spPr>
        <p:txBody>
          <a:bodyPr/>
          <a:lstStyle/>
          <a:p>
            <a:endParaRPr lang="en-US"/>
          </a:p>
        </p:txBody>
      </p:sp>
      <p:sp>
        <p:nvSpPr>
          <p:cNvPr id="4" name="Shape 2"/>
          <p:cNvSpPr/>
          <p:nvPr/>
        </p:nvSpPr>
        <p:spPr>
          <a:xfrm>
            <a:off x="0" y="2011680"/>
            <a:ext cx="9144000" cy="0"/>
          </a:xfrm>
          <a:prstGeom prst="line">
            <a:avLst/>
          </a:prstGeom>
          <a:noFill/>
          <a:ln w="7620">
            <a:solidFill>
              <a:srgbClr val="1A2550"/>
            </a:solidFill>
            <a:prstDash val="solid"/>
          </a:ln>
        </p:spPr>
        <p:txBody>
          <a:bodyPr/>
          <a:lstStyle/>
          <a:p>
            <a:endParaRPr lang="en-US"/>
          </a:p>
        </p:txBody>
      </p:sp>
      <p:sp>
        <p:nvSpPr>
          <p:cNvPr id="5" name="Shape 3"/>
          <p:cNvSpPr/>
          <p:nvPr/>
        </p:nvSpPr>
        <p:spPr>
          <a:xfrm>
            <a:off x="0" y="3017520"/>
            <a:ext cx="9144000" cy="0"/>
          </a:xfrm>
          <a:prstGeom prst="line">
            <a:avLst/>
          </a:prstGeom>
          <a:noFill/>
          <a:ln w="7620">
            <a:solidFill>
              <a:srgbClr val="1A2550"/>
            </a:solidFill>
            <a:prstDash val="solid"/>
          </a:ln>
        </p:spPr>
        <p:txBody>
          <a:bodyPr/>
          <a:lstStyle/>
          <a:p>
            <a:endParaRPr lang="en-US"/>
          </a:p>
        </p:txBody>
      </p:sp>
      <p:sp>
        <p:nvSpPr>
          <p:cNvPr id="6" name="Shape 4"/>
          <p:cNvSpPr/>
          <p:nvPr/>
        </p:nvSpPr>
        <p:spPr>
          <a:xfrm>
            <a:off x="0" y="4023360"/>
            <a:ext cx="9144000" cy="0"/>
          </a:xfrm>
          <a:prstGeom prst="line">
            <a:avLst/>
          </a:prstGeom>
          <a:noFill/>
          <a:ln w="7620">
            <a:solidFill>
              <a:srgbClr val="1A2550"/>
            </a:solidFill>
            <a:prstDash val="solid"/>
          </a:ln>
        </p:spPr>
        <p:txBody>
          <a:bodyPr/>
          <a:lstStyle/>
          <a:p>
            <a:endParaRPr lang="en-US"/>
          </a:p>
        </p:txBody>
      </p:sp>
      <p:sp>
        <p:nvSpPr>
          <p:cNvPr id="7" name="Text 5"/>
          <p:cNvSpPr/>
          <p:nvPr/>
        </p:nvSpPr>
        <p:spPr>
          <a:xfrm>
            <a:off x="548640" y="822960"/>
            <a:ext cx="804672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Can a Computer Read the Fed?</a:t>
            </a:r>
            <a:endParaRPr lang="en-US" sz="4000" dirty="0"/>
          </a:p>
        </p:txBody>
      </p:sp>
      <p:sp>
        <p:nvSpPr>
          <p:cNvPr id="8" name="Text 6"/>
          <p:cNvSpPr/>
          <p:nvPr/>
        </p:nvSpPr>
        <p:spPr>
          <a:xfrm>
            <a:off x="731520" y="1874520"/>
            <a:ext cx="7680960" cy="502920"/>
          </a:xfrm>
          <a:prstGeom prst="rect">
            <a:avLst/>
          </a:prstGeom>
          <a:noFill/>
          <a:ln/>
        </p:spPr>
        <p:txBody>
          <a:bodyPr wrap="square" lIns="0" tIns="0" rIns="0" bIns="0" rtlCol="0" anchor="ctr"/>
          <a:lstStyle/>
          <a:p>
            <a:pPr marL="0" indent="0" algn="ctr">
              <a:buNone/>
            </a:pPr>
            <a:r>
              <a:rPr lang="en-US" sz="1600" i="1" dirty="0">
                <a:solidFill>
                  <a:srgbClr val="CADCFC"/>
                </a:solidFill>
                <a:latin typeface="Calibri" pitchFamily="34" charset="0"/>
                <a:ea typeface="Calibri" pitchFamily="34" charset="-122"/>
                <a:cs typeface="Calibri" pitchFamily="34" charset="-120"/>
              </a:rPr>
              <a:t>NLP, Prediction Markets, and FOMC Informational Efficiency</a:t>
            </a:r>
            <a:endParaRPr lang="en-US" sz="1600" dirty="0"/>
          </a:p>
        </p:txBody>
      </p:sp>
      <p:sp>
        <p:nvSpPr>
          <p:cNvPr id="9" name="Shape 7"/>
          <p:cNvSpPr/>
          <p:nvPr/>
        </p:nvSpPr>
        <p:spPr>
          <a:xfrm>
            <a:off x="2286000" y="2606040"/>
            <a:ext cx="4572000" cy="1371600"/>
          </a:xfrm>
          <a:prstGeom prst="roundRect">
            <a:avLst>
              <a:gd name="adj" fmla="val 4667"/>
            </a:avLst>
          </a:prstGeom>
          <a:solidFill>
            <a:srgbClr val="1A2755"/>
          </a:solidFill>
          <a:ln/>
        </p:spPr>
        <p:txBody>
          <a:bodyPr/>
          <a:lstStyle/>
          <a:p>
            <a:endParaRPr lang="en-US"/>
          </a:p>
        </p:txBody>
      </p:sp>
      <p:sp>
        <p:nvSpPr>
          <p:cNvPr id="10" name="Text 8"/>
          <p:cNvSpPr/>
          <p:nvPr/>
        </p:nvSpPr>
        <p:spPr>
          <a:xfrm>
            <a:off x="2423160" y="2697480"/>
            <a:ext cx="4297680" cy="292608"/>
          </a:xfrm>
          <a:prstGeom prst="rect">
            <a:avLst/>
          </a:prstGeom>
          <a:noFill/>
          <a:ln/>
        </p:spPr>
        <p:txBody>
          <a:bodyPr wrap="square" lIns="38100" tIns="38100" rIns="38100" bIns="38100" rtlCol="0" anchor="t"/>
          <a:lstStyle/>
          <a:p>
            <a:pPr marL="0" indent="0" algn="ctr">
              <a:buNone/>
            </a:pPr>
            <a:r>
              <a:rPr lang="en-US" sz="1200" dirty="0">
                <a:solidFill>
                  <a:srgbClr val="CADCFC"/>
                </a:solidFill>
                <a:latin typeface="Calibri" pitchFamily="34" charset="0"/>
                <a:ea typeface="Calibri" pitchFamily="34" charset="-122"/>
                <a:cs typeface="Calibri" pitchFamily="34" charset="-120"/>
              </a:rPr>
              <a:t>Three phases. Four experiments.</a:t>
            </a:r>
            <a:endParaRPr lang="en-US" sz="1200" dirty="0"/>
          </a:p>
        </p:txBody>
      </p:sp>
      <p:sp>
        <p:nvSpPr>
          <p:cNvPr id="11" name="Text 9"/>
          <p:cNvSpPr/>
          <p:nvPr/>
        </p:nvSpPr>
        <p:spPr>
          <a:xfrm>
            <a:off x="2423160" y="3017520"/>
            <a:ext cx="4297680" cy="804672"/>
          </a:xfrm>
          <a:prstGeom prst="rect">
            <a:avLst/>
          </a:prstGeom>
          <a:noFill/>
          <a:ln/>
        </p:spPr>
        <p:txBody>
          <a:bodyPr wrap="square" lIns="50800" tIns="50800" rIns="50800" bIns="50800"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Kalshi FOMC markets: efficient against text,</a:t>
            </a:r>
            <a:endParaRPr lang="en-US" sz="1250" dirty="0"/>
          </a:p>
          <a:p>
            <a:pPr marL="0" indent="0" algn="ctr">
              <a:buNone/>
            </a:pPr>
            <a:r>
              <a:rPr lang="en-US" sz="1250" dirty="0">
                <a:solidFill>
                  <a:srgbClr val="FFFFFF"/>
                </a:solidFill>
                <a:latin typeface="Calibri" pitchFamily="34" charset="0"/>
                <a:ea typeface="Calibri" pitchFamily="34" charset="-122"/>
                <a:cs typeface="Calibri" pitchFamily="34" charset="-120"/>
              </a:rPr>
              <a:t>transformers, and their own surprise residual.</a:t>
            </a:r>
            <a:endParaRPr lang="en-US" sz="1250" dirty="0"/>
          </a:p>
        </p:txBody>
      </p:sp>
      <p:sp>
        <p:nvSpPr>
          <p:cNvPr id="12" name="Text 10"/>
          <p:cNvSpPr/>
          <p:nvPr/>
        </p:nvSpPr>
        <p:spPr>
          <a:xfrm>
            <a:off x="548640" y="4343400"/>
            <a:ext cx="8046720" cy="292608"/>
          </a:xfrm>
          <a:prstGeom prst="rect">
            <a:avLst/>
          </a:prstGeom>
          <a:noFill/>
          <a:ln/>
        </p:spPr>
        <p:txBody>
          <a:bodyPr wrap="square" lIns="0" tIns="0" rIns="0" bIns="0" rtlCol="0" anchor="t"/>
          <a:lstStyle/>
          <a:p>
            <a:pPr marL="0" indent="0" algn="ctr">
              <a:buNone/>
            </a:pPr>
            <a:r>
              <a:rPr lang="en-US" sz="1100" dirty="0">
                <a:solidFill>
                  <a:srgbClr val="8A9BC1"/>
                </a:solidFill>
                <a:latin typeface="Calibri" pitchFamily="34" charset="0"/>
                <a:ea typeface="Calibri" pitchFamily="34" charset="-122"/>
                <a:cs typeface="Calibri" pitchFamily="34" charset="-120"/>
              </a:rPr>
              <a:t>Nic Saliou  ·  FT370 ·  Bentley University  ·  May 2026</a:t>
            </a:r>
            <a:endParaRPr lang="en-US" sz="1100" dirty="0"/>
          </a:p>
        </p:txBody>
      </p:sp>
      <p:sp>
        <p:nvSpPr>
          <p:cNvPr id="13" name="Text 11"/>
          <p:cNvSpPr/>
          <p:nvPr/>
        </p:nvSpPr>
        <p:spPr>
          <a:xfrm>
            <a:off x="548640" y="4645152"/>
            <a:ext cx="8046720" cy="256032"/>
          </a:xfrm>
          <a:prstGeom prst="rect">
            <a:avLst/>
          </a:prstGeom>
          <a:noFill/>
          <a:ln/>
        </p:spPr>
        <p:txBody>
          <a:bodyPr wrap="square" lIns="0" tIns="0" rIns="0" bIns="0" rtlCol="0" anchor="t"/>
          <a:lstStyle/>
          <a:p>
            <a:pPr marL="0" indent="0" algn="ctr">
              <a:buNone/>
            </a:pPr>
            <a:r>
              <a:rPr lang="en-US" sz="1000" i="1" dirty="0">
                <a:solidFill>
                  <a:srgbClr val="8A9BC1"/>
                </a:solidFill>
                <a:latin typeface="Calibri" pitchFamily="34" charset="0"/>
                <a:ea typeface="Calibri" pitchFamily="34" charset="-122"/>
                <a:cs typeface="Calibri" pitchFamily="34" charset="-120"/>
              </a:rPr>
              <a:t>Prof. Zhang + Prof. Babaian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CONTEXT &amp; MOTIVATION</a:t>
            </a:r>
            <a:endParaRPr lang="en-US" sz="800" dirty="0"/>
          </a:p>
        </p:txBody>
      </p:sp>
      <p:sp>
        <p:nvSpPr>
          <p:cNvPr id="5" name="Text 3"/>
          <p:cNvSpPr/>
          <p:nvPr/>
        </p:nvSpPr>
        <p:spPr>
          <a:xfrm>
            <a:off x="320040" y="621792"/>
            <a:ext cx="8503920" cy="530352"/>
          </a:xfrm>
          <a:prstGeom prst="rect">
            <a:avLst/>
          </a:prstGeom>
          <a:noFill/>
          <a:ln/>
        </p:spPr>
        <p:txBody>
          <a:bodyPr wrap="square" lIns="0" tIns="0" rIns="0" bIns="0"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The Assignment: LM Sentiment Strategy. Our Extension: Is Kalshi Already There?</a:t>
            </a:r>
            <a:endParaRPr lang="en-US" sz="2000" dirty="0"/>
          </a:p>
        </p:txBody>
      </p:sp>
      <p:sp>
        <p:nvSpPr>
          <p:cNvPr id="6" name="Shape 4"/>
          <p:cNvSpPr/>
          <p:nvPr/>
        </p:nvSpPr>
        <p:spPr>
          <a:xfrm>
            <a:off x="320040" y="1234440"/>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320040" y="1353312"/>
            <a:ext cx="4114800" cy="3520440"/>
          </a:xfrm>
          <a:prstGeom prst="roundRect">
            <a:avLst>
              <a:gd name="adj" fmla="val 1818"/>
            </a:avLst>
          </a:prstGeom>
          <a:solidFill>
            <a:srgbClr val="F4F6FB"/>
          </a:solidFill>
          <a:ln/>
        </p:spPr>
        <p:txBody>
          <a:bodyPr/>
          <a:lstStyle/>
          <a:p>
            <a:endParaRPr lang="en-US"/>
          </a:p>
        </p:txBody>
      </p:sp>
      <p:sp>
        <p:nvSpPr>
          <p:cNvPr id="8" name="Text 6"/>
          <p:cNvSpPr/>
          <p:nvPr/>
        </p:nvSpPr>
        <p:spPr>
          <a:xfrm>
            <a:off x="457200" y="1426464"/>
            <a:ext cx="3840480" cy="274320"/>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What the assignment asked</a:t>
            </a:r>
            <a:endParaRPr lang="en-US" sz="1100" dirty="0"/>
          </a:p>
        </p:txBody>
      </p:sp>
      <p:sp>
        <p:nvSpPr>
          <p:cNvPr id="9" name="Text 7"/>
          <p:cNvSpPr/>
          <p:nvPr/>
        </p:nvSpPr>
        <p:spPr>
          <a:xfrm>
            <a:off x="457200" y="1755648"/>
            <a:ext cx="3840480" cy="1188720"/>
          </a:xfrm>
          <a:prstGeom prst="rect">
            <a:avLst/>
          </a:prstGeom>
          <a:noFill/>
          <a:ln/>
        </p:spPr>
        <p:txBody>
          <a:bodyPr wrap="square" lIns="38100" tIns="38100" rIns="38100" bIns="38100"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  Build LM sentiment signal from 10-K/Q filings</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Quintile long-short portfolio</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Report IC, IR, hit rate, fractile returns</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Discuss: does it work? why?</a:t>
            </a:r>
            <a:endParaRPr lang="en-US" sz="1200" dirty="0"/>
          </a:p>
        </p:txBody>
      </p:sp>
      <p:sp>
        <p:nvSpPr>
          <p:cNvPr id="10" name="Shape 8"/>
          <p:cNvSpPr/>
          <p:nvPr/>
        </p:nvSpPr>
        <p:spPr>
          <a:xfrm>
            <a:off x="320040" y="3063240"/>
            <a:ext cx="8503920" cy="0"/>
          </a:xfrm>
          <a:prstGeom prst="line">
            <a:avLst/>
          </a:prstGeom>
          <a:noFill/>
          <a:ln w="12700">
            <a:solidFill>
              <a:srgbClr val="CADCFC"/>
            </a:solidFill>
            <a:prstDash val="solid"/>
          </a:ln>
        </p:spPr>
        <p:txBody>
          <a:bodyPr/>
          <a:lstStyle/>
          <a:p>
            <a:endParaRPr lang="en-US"/>
          </a:p>
        </p:txBody>
      </p:sp>
      <p:sp>
        <p:nvSpPr>
          <p:cNvPr id="11" name="Text 9"/>
          <p:cNvSpPr/>
          <p:nvPr/>
        </p:nvSpPr>
        <p:spPr>
          <a:xfrm>
            <a:off x="457200" y="3127248"/>
            <a:ext cx="3840480" cy="274320"/>
          </a:xfrm>
          <a:prstGeom prst="rect">
            <a:avLst/>
          </a:prstGeom>
          <a:noFill/>
          <a:ln/>
        </p:spPr>
        <p:txBody>
          <a:bodyPr wrap="square" lIns="38100" tIns="38100" rIns="38100" bIns="38100" rtlCol="0" anchor="t"/>
          <a:lstStyle/>
          <a:p>
            <a:pPr marL="0" indent="0" algn="l">
              <a:buNone/>
            </a:pPr>
            <a:r>
              <a:rPr lang="en-US" sz="1100" b="1" dirty="0">
                <a:solidFill>
                  <a:srgbClr val="1E2761"/>
                </a:solidFill>
                <a:latin typeface="Calibri" pitchFamily="34" charset="0"/>
                <a:ea typeface="Calibri" pitchFamily="34" charset="-122"/>
                <a:cs typeface="Calibri" pitchFamily="34" charset="-120"/>
              </a:rPr>
              <a:t>What we did instead</a:t>
            </a:r>
            <a:endParaRPr lang="en-US" sz="1100" dirty="0"/>
          </a:p>
        </p:txBody>
      </p:sp>
      <p:sp>
        <p:nvSpPr>
          <p:cNvPr id="12" name="Text 10"/>
          <p:cNvSpPr/>
          <p:nvPr/>
        </p:nvSpPr>
        <p:spPr>
          <a:xfrm>
            <a:off x="457200" y="3456432"/>
            <a:ext cx="3840480" cy="1280160"/>
          </a:xfrm>
          <a:prstGeom prst="rect">
            <a:avLst/>
          </a:prstGeom>
          <a:noFill/>
          <a:ln/>
        </p:spPr>
        <p:txBody>
          <a:bodyPr wrap="square" lIns="38100" tIns="38100" rIns="38100" bIns="38100"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  Applied LM to 254 Federal Reserve documents</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Validated against prediction market prices</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Extended to transformer models + surprise signal</a:t>
            </a:r>
            <a:endParaRPr lang="en-US" sz="1200" dirty="0"/>
          </a:p>
          <a:p>
            <a:pPr marL="0" indent="0" algn="l">
              <a:buNone/>
            </a:pPr>
            <a:r>
              <a:rPr lang="en-US" sz="1200" dirty="0">
                <a:solidFill>
                  <a:srgbClr val="333333"/>
                </a:solidFill>
                <a:latin typeface="Calibri" pitchFamily="34" charset="0"/>
                <a:ea typeface="Calibri" pitchFamily="34" charset="-122"/>
                <a:cs typeface="Calibri" pitchFamily="34" charset="-120"/>
              </a:rPr>
              <a:t>→  Same metrics, richer domain, stronger null</a:t>
            </a:r>
            <a:endParaRPr lang="en-US" sz="1200" dirty="0"/>
          </a:p>
        </p:txBody>
      </p:sp>
      <p:sp>
        <p:nvSpPr>
          <p:cNvPr id="13" name="Shape 11"/>
          <p:cNvSpPr/>
          <p:nvPr/>
        </p:nvSpPr>
        <p:spPr>
          <a:xfrm>
            <a:off x="4617720" y="1353312"/>
            <a:ext cx="4206240" cy="3520440"/>
          </a:xfrm>
          <a:prstGeom prst="roundRect">
            <a:avLst>
              <a:gd name="adj" fmla="val 1818"/>
            </a:avLst>
          </a:prstGeom>
          <a:solidFill>
            <a:srgbClr val="1E2761"/>
          </a:solidFill>
          <a:ln/>
        </p:spPr>
        <p:txBody>
          <a:bodyPr/>
          <a:lstStyle/>
          <a:p>
            <a:endParaRPr lang="en-US"/>
          </a:p>
        </p:txBody>
      </p:sp>
      <p:sp>
        <p:nvSpPr>
          <p:cNvPr id="14" name="Text 12"/>
          <p:cNvSpPr/>
          <p:nvPr/>
        </p:nvSpPr>
        <p:spPr>
          <a:xfrm>
            <a:off x="4754880" y="1426464"/>
            <a:ext cx="3931920"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Why FOMC text?</a:t>
            </a:r>
            <a:endParaRPr lang="en-US" sz="1100" dirty="0"/>
          </a:p>
        </p:txBody>
      </p:sp>
      <p:sp>
        <p:nvSpPr>
          <p:cNvPr id="15" name="Text 13"/>
          <p:cNvSpPr/>
          <p:nvPr/>
        </p:nvSpPr>
        <p:spPr>
          <a:xfrm>
            <a:off x="4754880" y="1737360"/>
            <a:ext cx="3931920" cy="1005840"/>
          </a:xfrm>
          <a:prstGeom prst="rect">
            <a:avLst/>
          </a:prstGeom>
          <a:noFill/>
          <a:ln/>
        </p:spPr>
        <p:txBody>
          <a:bodyPr wrap="square" lIns="38100" tIns="38100" rIns="38100" bIns="3810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Eight times a year the Fed releases a statement. Every basis point of rate change moves bonds, banks, real estate, and equity simultaneously. The stakes for getting the signal right are enormous.</a:t>
            </a:r>
            <a:endParaRPr lang="en-US" sz="1200" dirty="0"/>
          </a:p>
        </p:txBody>
      </p:sp>
      <p:sp>
        <p:nvSpPr>
          <p:cNvPr id="16" name="Text 14"/>
          <p:cNvSpPr/>
          <p:nvPr/>
        </p:nvSpPr>
        <p:spPr>
          <a:xfrm>
            <a:off x="4754880" y="2990088"/>
            <a:ext cx="3931920"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Why Kalshi?</a:t>
            </a:r>
            <a:endParaRPr lang="en-US" sz="1100" dirty="0"/>
          </a:p>
        </p:txBody>
      </p:sp>
      <p:sp>
        <p:nvSpPr>
          <p:cNvPr id="17" name="Text 15"/>
          <p:cNvSpPr/>
          <p:nvPr/>
        </p:nvSpPr>
        <p:spPr>
          <a:xfrm>
            <a:off x="4754880" y="3282696"/>
            <a:ext cx="3931920" cy="1554480"/>
          </a:xfrm>
          <a:prstGeom prst="rect">
            <a:avLst/>
          </a:prstGeom>
          <a:noFill/>
          <a:ln/>
        </p:spPr>
        <p:txBody>
          <a:bodyPr wrap="square" lIns="38100" tIns="38100" rIns="38100" bIns="3810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Kalshi FED DECISION markets aggregate thousands of informed traders into a continuous probability distribution over possible rate outcomes. Diercks, Katz &amp; Wright (2026) — a Federal Reserve FEDS paper — established Kalshi alongside Bloomberg consensus and FRBNY surveys as a legitimate forecasting instrument.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RESEARCH ARC</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Four Experiments. Progressively Stronger Efficiency Finding.</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256032" y="1298448"/>
            <a:ext cx="2057400" cy="3611880"/>
          </a:xfrm>
          <a:prstGeom prst="roundRect">
            <a:avLst>
              <a:gd name="adj" fmla="val 3111"/>
            </a:avLst>
          </a:prstGeom>
          <a:solidFill>
            <a:srgbClr val="F4F6FB"/>
          </a:solidFill>
          <a:ln/>
        </p:spPr>
        <p:txBody>
          <a:bodyPr/>
          <a:lstStyle/>
          <a:p>
            <a:endParaRPr lang="en-US"/>
          </a:p>
        </p:txBody>
      </p:sp>
      <p:sp>
        <p:nvSpPr>
          <p:cNvPr id="8" name="Shape 6"/>
          <p:cNvSpPr/>
          <p:nvPr/>
        </p:nvSpPr>
        <p:spPr>
          <a:xfrm>
            <a:off x="987552" y="1371600"/>
            <a:ext cx="594360" cy="594360"/>
          </a:xfrm>
          <a:prstGeom prst="ellipse">
            <a:avLst/>
          </a:prstGeom>
          <a:solidFill>
            <a:srgbClr val="1E2761"/>
          </a:solidFill>
          <a:ln/>
        </p:spPr>
        <p:txBody>
          <a:bodyPr/>
          <a:lstStyle/>
          <a:p>
            <a:endParaRPr lang="en-US"/>
          </a:p>
        </p:txBody>
      </p:sp>
      <p:sp>
        <p:nvSpPr>
          <p:cNvPr id="9" name="Text 7"/>
          <p:cNvSpPr/>
          <p:nvPr/>
        </p:nvSpPr>
        <p:spPr>
          <a:xfrm>
            <a:off x="987552" y="1371600"/>
            <a:ext cx="59436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10" name="Text 8"/>
          <p:cNvSpPr/>
          <p:nvPr/>
        </p:nvSpPr>
        <p:spPr>
          <a:xfrm>
            <a:off x="347472" y="2066544"/>
            <a:ext cx="1874520" cy="32004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LM Dictionary</a:t>
            </a:r>
            <a:endParaRPr lang="en-US" sz="1200" dirty="0"/>
          </a:p>
        </p:txBody>
      </p:sp>
      <p:sp>
        <p:nvSpPr>
          <p:cNvPr id="11" name="Text 9"/>
          <p:cNvSpPr/>
          <p:nvPr/>
        </p:nvSpPr>
        <p:spPr>
          <a:xfrm>
            <a:off x="347472" y="2432304"/>
            <a:ext cx="1874520" cy="594360"/>
          </a:xfrm>
          <a:prstGeom prst="rect">
            <a:avLst/>
          </a:prstGeom>
          <a:noFill/>
          <a:ln/>
        </p:spPr>
        <p:txBody>
          <a:bodyPr wrap="square" lIns="0" tIns="0" rIns="0" bIns="0" rtlCol="0" anchor="t"/>
          <a:lstStyle/>
          <a:p>
            <a:pPr marL="0" indent="0" algn="ctr">
              <a:buNone/>
            </a:pPr>
            <a:r>
              <a:rPr lang="en-US" sz="1100" i="1" dirty="0">
                <a:solidFill>
                  <a:srgbClr val="555555"/>
                </a:solidFill>
                <a:latin typeface="Calibri" pitchFamily="34" charset="0"/>
                <a:ea typeface="Calibri" pitchFamily="34" charset="-122"/>
                <a:cs typeface="Calibri" pitchFamily="34" charset="-120"/>
              </a:rPr>
              <a:t>Can word counts</a:t>
            </a:r>
            <a:endParaRPr lang="en-US" sz="1100" dirty="0"/>
          </a:p>
          <a:p>
            <a:pPr marL="0" indent="0" algn="ctr">
              <a:buNone/>
            </a:pPr>
            <a:r>
              <a:rPr lang="en-US" sz="1100" i="1" dirty="0">
                <a:solidFill>
                  <a:srgbClr val="555555"/>
                </a:solidFill>
                <a:latin typeface="Calibri" pitchFamily="34" charset="0"/>
                <a:ea typeface="Calibri" pitchFamily="34" charset="-122"/>
                <a:cs typeface="Calibri" pitchFamily="34" charset="-120"/>
              </a:rPr>
              <a:t>read Powell?</a:t>
            </a:r>
            <a:endParaRPr lang="en-US" sz="1100" dirty="0"/>
          </a:p>
        </p:txBody>
      </p:sp>
      <p:sp>
        <p:nvSpPr>
          <p:cNvPr id="12" name="Shape 10"/>
          <p:cNvSpPr/>
          <p:nvPr/>
        </p:nvSpPr>
        <p:spPr>
          <a:xfrm>
            <a:off x="393192" y="3108960"/>
            <a:ext cx="1783080" cy="475488"/>
          </a:xfrm>
          <a:prstGeom prst="roundRect">
            <a:avLst>
              <a:gd name="adj" fmla="val 13462"/>
            </a:avLst>
          </a:prstGeom>
          <a:solidFill>
            <a:srgbClr val="FFFFFF"/>
          </a:solidFill>
          <a:ln/>
        </p:spPr>
        <p:txBody>
          <a:bodyPr/>
          <a:lstStyle/>
          <a:p>
            <a:endParaRPr lang="en-US"/>
          </a:p>
        </p:txBody>
      </p:sp>
      <p:sp>
        <p:nvSpPr>
          <p:cNvPr id="13" name="Text 11"/>
          <p:cNvSpPr/>
          <p:nvPr/>
        </p:nvSpPr>
        <p:spPr>
          <a:xfrm>
            <a:off x="393192" y="3108960"/>
            <a:ext cx="1783080" cy="475488"/>
          </a:xfrm>
          <a:prstGeom prst="rect">
            <a:avLst/>
          </a:prstGeom>
          <a:noFill/>
          <a:ln/>
        </p:spPr>
        <p:txBody>
          <a:bodyPr wrap="square" lIns="25400" tIns="25400" rIns="25400" bIns="25400" rtlCol="0" anchor="ctr"/>
          <a:lstStyle/>
          <a:p>
            <a:pPr marL="0" indent="0" algn="ctr">
              <a:buNone/>
            </a:pPr>
            <a:r>
              <a:rPr lang="en-US" sz="1400" b="1" dirty="0">
                <a:solidFill>
                  <a:srgbClr val="C0392B"/>
                </a:solidFill>
                <a:latin typeface="Calibri" pitchFamily="34" charset="0"/>
                <a:ea typeface="Calibri" pitchFamily="34" charset="-122"/>
                <a:cs typeface="Calibri" pitchFamily="34" charset="-120"/>
              </a:rPr>
              <a:t>α* = 0.00</a:t>
            </a:r>
            <a:endParaRPr lang="en-US" sz="1400" dirty="0"/>
          </a:p>
        </p:txBody>
      </p:sp>
      <p:sp>
        <p:nvSpPr>
          <p:cNvPr id="14" name="Text 12"/>
          <p:cNvSpPr/>
          <p:nvPr/>
        </p:nvSpPr>
        <p:spPr>
          <a:xfrm>
            <a:off x="347472" y="3639312"/>
            <a:ext cx="1874520" cy="749808"/>
          </a:xfrm>
          <a:prstGeom prst="rect">
            <a:avLst/>
          </a:prstGeom>
          <a:noFill/>
          <a:ln/>
        </p:spPr>
        <p:txBody>
          <a:bodyPr wrap="square" lIns="0" tIns="0" rIns="0" bIns="0" rtlCol="0" anchor="t"/>
          <a:lstStyle/>
          <a:p>
            <a:pPr marL="0" indent="0" algn="ctr">
              <a:buNone/>
            </a:pPr>
            <a:r>
              <a:rPr lang="en-US" sz="1050" dirty="0">
                <a:solidFill>
                  <a:srgbClr val="555555"/>
                </a:solidFill>
                <a:latin typeface="Calibri" pitchFamily="34" charset="0"/>
                <a:ea typeface="Calibri" pitchFamily="34" charset="-122"/>
                <a:cs typeface="Calibri" pitchFamily="34" charset="-120"/>
              </a:rPr>
              <a:t>Kalshi wins</a:t>
            </a:r>
            <a:endParaRPr lang="en-US" sz="1050" dirty="0"/>
          </a:p>
        </p:txBody>
      </p:sp>
      <p:sp>
        <p:nvSpPr>
          <p:cNvPr id="15" name="Text 13"/>
          <p:cNvSpPr/>
          <p:nvPr/>
        </p:nvSpPr>
        <p:spPr>
          <a:xfrm>
            <a:off x="2313432" y="2834640"/>
            <a:ext cx="118872" cy="365760"/>
          </a:xfrm>
          <a:prstGeom prst="rect">
            <a:avLst/>
          </a:prstGeom>
          <a:noFill/>
          <a:ln/>
        </p:spPr>
        <p:txBody>
          <a:bodyPr wrap="square" lIns="0" tIns="0" rIns="0" bIns="0" rtlCol="0" anchor="t"/>
          <a:lstStyle/>
          <a:p>
            <a:pPr marL="0" indent="0" algn="ctr">
              <a:buNone/>
            </a:pPr>
            <a:r>
              <a:rPr lang="en-US" sz="1700" dirty="0">
                <a:solidFill>
                  <a:srgbClr val="8A9BC1"/>
                </a:solidFill>
                <a:latin typeface="Calibri" pitchFamily="34" charset="0"/>
                <a:ea typeface="Calibri" pitchFamily="34" charset="-122"/>
                <a:cs typeface="Calibri" pitchFamily="34" charset="-120"/>
              </a:rPr>
              <a:t>→</a:t>
            </a:r>
            <a:endParaRPr lang="en-US" sz="1700" dirty="0"/>
          </a:p>
        </p:txBody>
      </p:sp>
      <p:sp>
        <p:nvSpPr>
          <p:cNvPr id="16" name="Shape 14"/>
          <p:cNvSpPr/>
          <p:nvPr/>
        </p:nvSpPr>
        <p:spPr>
          <a:xfrm>
            <a:off x="2432304" y="1298448"/>
            <a:ext cx="2057400" cy="3611880"/>
          </a:xfrm>
          <a:prstGeom prst="roundRect">
            <a:avLst>
              <a:gd name="adj" fmla="val 3111"/>
            </a:avLst>
          </a:prstGeom>
          <a:solidFill>
            <a:srgbClr val="F4F6FB"/>
          </a:solidFill>
          <a:ln/>
        </p:spPr>
        <p:txBody>
          <a:bodyPr/>
          <a:lstStyle/>
          <a:p>
            <a:endParaRPr lang="en-US"/>
          </a:p>
        </p:txBody>
      </p:sp>
      <p:sp>
        <p:nvSpPr>
          <p:cNvPr id="17" name="Shape 15"/>
          <p:cNvSpPr/>
          <p:nvPr/>
        </p:nvSpPr>
        <p:spPr>
          <a:xfrm>
            <a:off x="3163824" y="1371600"/>
            <a:ext cx="594360" cy="594360"/>
          </a:xfrm>
          <a:prstGeom prst="ellipse">
            <a:avLst/>
          </a:prstGeom>
          <a:solidFill>
            <a:srgbClr val="1E2761"/>
          </a:solidFill>
          <a:ln/>
        </p:spPr>
        <p:txBody>
          <a:bodyPr/>
          <a:lstStyle/>
          <a:p>
            <a:endParaRPr lang="en-US"/>
          </a:p>
        </p:txBody>
      </p:sp>
      <p:sp>
        <p:nvSpPr>
          <p:cNvPr id="18" name="Text 16"/>
          <p:cNvSpPr/>
          <p:nvPr/>
        </p:nvSpPr>
        <p:spPr>
          <a:xfrm>
            <a:off x="3163824" y="1371600"/>
            <a:ext cx="59436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9" name="Text 17"/>
          <p:cNvSpPr/>
          <p:nvPr/>
        </p:nvSpPr>
        <p:spPr>
          <a:xfrm>
            <a:off x="2523744" y="2066544"/>
            <a:ext cx="1874520" cy="32004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Transformers</a:t>
            </a:r>
            <a:endParaRPr lang="en-US" sz="1200" dirty="0"/>
          </a:p>
        </p:txBody>
      </p:sp>
      <p:sp>
        <p:nvSpPr>
          <p:cNvPr id="20" name="Text 18"/>
          <p:cNvSpPr/>
          <p:nvPr/>
        </p:nvSpPr>
        <p:spPr>
          <a:xfrm>
            <a:off x="2523744" y="2432304"/>
            <a:ext cx="1874520" cy="594360"/>
          </a:xfrm>
          <a:prstGeom prst="rect">
            <a:avLst/>
          </a:prstGeom>
          <a:noFill/>
          <a:ln/>
        </p:spPr>
        <p:txBody>
          <a:bodyPr wrap="square" lIns="0" tIns="0" rIns="0" bIns="0" rtlCol="0" anchor="t"/>
          <a:lstStyle/>
          <a:p>
            <a:pPr marL="0" indent="0" algn="ctr">
              <a:buNone/>
            </a:pPr>
            <a:r>
              <a:rPr lang="en-US" sz="1100" i="1" dirty="0">
                <a:solidFill>
                  <a:srgbClr val="555555"/>
                </a:solidFill>
                <a:latin typeface="Calibri" pitchFamily="34" charset="0"/>
                <a:ea typeface="Calibri" pitchFamily="34" charset="-122"/>
                <a:cs typeface="Calibri" pitchFamily="34" charset="-120"/>
              </a:rPr>
              <a:t>Can BERT beat</a:t>
            </a:r>
            <a:endParaRPr lang="en-US" sz="1100" dirty="0"/>
          </a:p>
          <a:p>
            <a:pPr marL="0" indent="0" algn="ctr">
              <a:buNone/>
            </a:pPr>
            <a:r>
              <a:rPr lang="en-US" sz="1100" i="1" dirty="0">
                <a:solidFill>
                  <a:srgbClr val="555555"/>
                </a:solidFill>
                <a:latin typeface="Calibri" pitchFamily="34" charset="0"/>
                <a:ea typeface="Calibri" pitchFamily="34" charset="-122"/>
                <a:cs typeface="Calibri" pitchFamily="34" charset="-120"/>
              </a:rPr>
              <a:t>the dictionary?</a:t>
            </a:r>
            <a:endParaRPr lang="en-US" sz="1100" dirty="0"/>
          </a:p>
        </p:txBody>
      </p:sp>
      <p:sp>
        <p:nvSpPr>
          <p:cNvPr id="21" name="Shape 19"/>
          <p:cNvSpPr/>
          <p:nvPr/>
        </p:nvSpPr>
        <p:spPr>
          <a:xfrm>
            <a:off x="2569464" y="3108960"/>
            <a:ext cx="1783080" cy="475488"/>
          </a:xfrm>
          <a:prstGeom prst="roundRect">
            <a:avLst>
              <a:gd name="adj" fmla="val 13462"/>
            </a:avLst>
          </a:prstGeom>
          <a:solidFill>
            <a:srgbClr val="FFFFFF"/>
          </a:solidFill>
          <a:ln/>
        </p:spPr>
        <p:txBody>
          <a:bodyPr/>
          <a:lstStyle/>
          <a:p>
            <a:endParaRPr lang="en-US"/>
          </a:p>
        </p:txBody>
      </p:sp>
      <p:sp>
        <p:nvSpPr>
          <p:cNvPr id="22" name="Text 20"/>
          <p:cNvSpPr/>
          <p:nvPr/>
        </p:nvSpPr>
        <p:spPr>
          <a:xfrm>
            <a:off x="2569464" y="3108960"/>
            <a:ext cx="1783080" cy="475488"/>
          </a:xfrm>
          <a:prstGeom prst="rect">
            <a:avLst/>
          </a:prstGeom>
          <a:noFill/>
          <a:ln/>
        </p:spPr>
        <p:txBody>
          <a:bodyPr wrap="square" lIns="25400" tIns="25400" rIns="25400" bIns="25400" rtlCol="0" anchor="ctr"/>
          <a:lstStyle/>
          <a:p>
            <a:pPr marL="0" indent="0" algn="ctr">
              <a:buNone/>
            </a:pPr>
            <a:r>
              <a:rPr lang="en-US" sz="1400" b="1" dirty="0">
                <a:solidFill>
                  <a:srgbClr val="C8860A"/>
                </a:solidFill>
                <a:latin typeface="Calibri" pitchFamily="34" charset="0"/>
                <a:ea typeface="Calibri" pitchFamily="34" charset="-122"/>
                <a:cs typeface="Calibri" pitchFamily="34" charset="-120"/>
              </a:rPr>
              <a:t>r = 0.866</a:t>
            </a:r>
            <a:endParaRPr lang="en-US" sz="1400" dirty="0"/>
          </a:p>
        </p:txBody>
      </p:sp>
      <p:sp>
        <p:nvSpPr>
          <p:cNvPr id="23" name="Text 21"/>
          <p:cNvSpPr/>
          <p:nvPr/>
        </p:nvSpPr>
        <p:spPr>
          <a:xfrm>
            <a:off x="2523744" y="3639312"/>
            <a:ext cx="1874520" cy="749808"/>
          </a:xfrm>
          <a:prstGeom prst="rect">
            <a:avLst/>
          </a:prstGeom>
          <a:noFill/>
          <a:ln/>
        </p:spPr>
        <p:txBody>
          <a:bodyPr wrap="square" lIns="0" tIns="0" rIns="0" bIns="0" rtlCol="0" anchor="t"/>
          <a:lstStyle/>
          <a:p>
            <a:pPr marL="0" indent="0" algn="ctr">
              <a:buNone/>
            </a:pPr>
            <a:r>
              <a:rPr lang="en-US" sz="1050" dirty="0">
                <a:solidFill>
                  <a:srgbClr val="555555"/>
                </a:solidFill>
                <a:latin typeface="Calibri" pitchFamily="34" charset="0"/>
                <a:ea typeface="Calibri" pitchFamily="34" charset="-122"/>
                <a:cs typeface="Calibri" pitchFamily="34" charset="-120"/>
              </a:rPr>
              <a:t>Task solvable.</a:t>
            </a:r>
            <a:endParaRPr lang="en-US" sz="1050" dirty="0"/>
          </a:p>
          <a:p>
            <a:pPr marL="0" indent="0" algn="ctr">
              <a:buNone/>
            </a:pPr>
            <a:r>
              <a:rPr lang="en-US" sz="1050" dirty="0">
                <a:solidFill>
                  <a:srgbClr val="555555"/>
                </a:solidFill>
                <a:latin typeface="Calibri" pitchFamily="34" charset="0"/>
                <a:ea typeface="Calibri" pitchFamily="34" charset="-122"/>
                <a:cs typeface="Calibri" pitchFamily="34" charset="-120"/>
              </a:rPr>
              <a:t>Kalshi still wins.</a:t>
            </a:r>
            <a:endParaRPr lang="en-US" sz="1050" dirty="0"/>
          </a:p>
        </p:txBody>
      </p:sp>
      <p:sp>
        <p:nvSpPr>
          <p:cNvPr id="24" name="Text 22"/>
          <p:cNvSpPr/>
          <p:nvPr/>
        </p:nvSpPr>
        <p:spPr>
          <a:xfrm>
            <a:off x="4489704" y="2834640"/>
            <a:ext cx="118872" cy="365760"/>
          </a:xfrm>
          <a:prstGeom prst="rect">
            <a:avLst/>
          </a:prstGeom>
          <a:noFill/>
          <a:ln/>
        </p:spPr>
        <p:txBody>
          <a:bodyPr wrap="square" lIns="0" tIns="0" rIns="0" bIns="0" rtlCol="0" anchor="t"/>
          <a:lstStyle/>
          <a:p>
            <a:pPr marL="0" indent="0" algn="ctr">
              <a:buNone/>
            </a:pPr>
            <a:r>
              <a:rPr lang="en-US" sz="1700" dirty="0">
                <a:solidFill>
                  <a:srgbClr val="8A9BC1"/>
                </a:solidFill>
                <a:latin typeface="Calibri" pitchFamily="34" charset="0"/>
                <a:ea typeface="Calibri" pitchFamily="34" charset="-122"/>
                <a:cs typeface="Calibri" pitchFamily="34" charset="-120"/>
              </a:rPr>
              <a:t>→</a:t>
            </a:r>
            <a:endParaRPr lang="en-US" sz="1700" dirty="0"/>
          </a:p>
        </p:txBody>
      </p:sp>
      <p:sp>
        <p:nvSpPr>
          <p:cNvPr id="25" name="Shape 23"/>
          <p:cNvSpPr/>
          <p:nvPr/>
        </p:nvSpPr>
        <p:spPr>
          <a:xfrm>
            <a:off x="4608576" y="1298448"/>
            <a:ext cx="2057400" cy="3611880"/>
          </a:xfrm>
          <a:prstGeom prst="roundRect">
            <a:avLst>
              <a:gd name="adj" fmla="val 3111"/>
            </a:avLst>
          </a:prstGeom>
          <a:solidFill>
            <a:srgbClr val="F4F6FB"/>
          </a:solidFill>
          <a:ln/>
        </p:spPr>
        <p:txBody>
          <a:bodyPr/>
          <a:lstStyle/>
          <a:p>
            <a:endParaRPr lang="en-US"/>
          </a:p>
        </p:txBody>
      </p:sp>
      <p:sp>
        <p:nvSpPr>
          <p:cNvPr id="26" name="Shape 24"/>
          <p:cNvSpPr/>
          <p:nvPr/>
        </p:nvSpPr>
        <p:spPr>
          <a:xfrm>
            <a:off x="5340096" y="1371600"/>
            <a:ext cx="594360" cy="594360"/>
          </a:xfrm>
          <a:prstGeom prst="ellipse">
            <a:avLst/>
          </a:prstGeom>
          <a:solidFill>
            <a:srgbClr val="1E2761"/>
          </a:solidFill>
          <a:ln/>
        </p:spPr>
        <p:txBody>
          <a:bodyPr/>
          <a:lstStyle/>
          <a:p>
            <a:endParaRPr lang="en-US"/>
          </a:p>
        </p:txBody>
      </p:sp>
      <p:sp>
        <p:nvSpPr>
          <p:cNvPr id="27" name="Text 25"/>
          <p:cNvSpPr/>
          <p:nvPr/>
        </p:nvSpPr>
        <p:spPr>
          <a:xfrm>
            <a:off x="5340096" y="1371600"/>
            <a:ext cx="59436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28" name="Text 26"/>
          <p:cNvSpPr/>
          <p:nvPr/>
        </p:nvSpPr>
        <p:spPr>
          <a:xfrm>
            <a:off x="4700016" y="2066544"/>
            <a:ext cx="1874520" cy="32004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Kalshi Portfolio</a:t>
            </a:r>
            <a:endParaRPr lang="en-US" sz="1200" dirty="0"/>
          </a:p>
        </p:txBody>
      </p:sp>
      <p:sp>
        <p:nvSpPr>
          <p:cNvPr id="29" name="Text 27"/>
          <p:cNvSpPr/>
          <p:nvPr/>
        </p:nvSpPr>
        <p:spPr>
          <a:xfrm>
            <a:off x="4700016" y="2432304"/>
            <a:ext cx="1874520" cy="594360"/>
          </a:xfrm>
          <a:prstGeom prst="rect">
            <a:avLst/>
          </a:prstGeom>
          <a:noFill/>
          <a:ln/>
        </p:spPr>
        <p:txBody>
          <a:bodyPr wrap="square" lIns="0" tIns="0" rIns="0" bIns="0" rtlCol="0" anchor="t"/>
          <a:lstStyle/>
          <a:p>
            <a:pPr marL="0" indent="0" algn="ctr">
              <a:buNone/>
            </a:pPr>
            <a:r>
              <a:rPr lang="en-US" sz="1100" i="1" dirty="0">
                <a:solidFill>
                  <a:srgbClr val="555555"/>
                </a:solidFill>
                <a:latin typeface="Calibri" pitchFamily="34" charset="0"/>
                <a:ea typeface="Calibri" pitchFamily="34" charset="-122"/>
                <a:cs typeface="Calibri" pitchFamily="34" charset="-120"/>
              </a:rPr>
              <a:t>Can we trade</a:t>
            </a:r>
            <a:endParaRPr lang="en-US" sz="1100" dirty="0"/>
          </a:p>
          <a:p>
            <a:pPr marL="0" indent="0" algn="ctr">
              <a:buNone/>
            </a:pPr>
            <a:r>
              <a:rPr lang="en-US" sz="1100" i="1" dirty="0">
                <a:solidFill>
                  <a:srgbClr val="555555"/>
                </a:solidFill>
                <a:latin typeface="Calibri" pitchFamily="34" charset="0"/>
                <a:ea typeface="Calibri" pitchFamily="34" charset="-122"/>
                <a:cs typeface="Calibri" pitchFamily="34" charset="-120"/>
              </a:rPr>
              <a:t>Kalshi's signal?</a:t>
            </a:r>
            <a:endParaRPr lang="en-US" sz="1100" dirty="0"/>
          </a:p>
        </p:txBody>
      </p:sp>
      <p:sp>
        <p:nvSpPr>
          <p:cNvPr id="30" name="Shape 28"/>
          <p:cNvSpPr/>
          <p:nvPr/>
        </p:nvSpPr>
        <p:spPr>
          <a:xfrm>
            <a:off x="4745736" y="3108960"/>
            <a:ext cx="1783080" cy="475488"/>
          </a:xfrm>
          <a:prstGeom prst="roundRect">
            <a:avLst>
              <a:gd name="adj" fmla="val 13462"/>
            </a:avLst>
          </a:prstGeom>
          <a:solidFill>
            <a:srgbClr val="FFFFFF"/>
          </a:solidFill>
          <a:ln/>
        </p:spPr>
        <p:txBody>
          <a:bodyPr/>
          <a:lstStyle/>
          <a:p>
            <a:endParaRPr lang="en-US"/>
          </a:p>
        </p:txBody>
      </p:sp>
      <p:sp>
        <p:nvSpPr>
          <p:cNvPr id="31" name="Text 29"/>
          <p:cNvSpPr/>
          <p:nvPr/>
        </p:nvSpPr>
        <p:spPr>
          <a:xfrm>
            <a:off x="4745736" y="3108960"/>
            <a:ext cx="1783080" cy="475488"/>
          </a:xfrm>
          <a:prstGeom prst="rect">
            <a:avLst/>
          </a:prstGeom>
          <a:noFill/>
          <a:ln/>
        </p:spPr>
        <p:txBody>
          <a:bodyPr wrap="square" lIns="25400" tIns="25400" rIns="25400" bIns="25400" rtlCol="0" anchor="ctr"/>
          <a:lstStyle/>
          <a:p>
            <a:pPr marL="0" indent="0" algn="ctr">
              <a:buNone/>
            </a:pPr>
            <a:r>
              <a:rPr lang="en-US" sz="1400" b="1" dirty="0">
                <a:solidFill>
                  <a:srgbClr val="C8860A"/>
                </a:solidFill>
                <a:latin typeface="Calibri" pitchFamily="34" charset="0"/>
                <a:ea typeface="Calibri" pitchFamily="34" charset="-122"/>
                <a:cs typeface="Calibri" pitchFamily="34" charset="-120"/>
              </a:rPr>
              <a:t>IR = 0.57</a:t>
            </a:r>
            <a:endParaRPr lang="en-US" sz="1400" dirty="0"/>
          </a:p>
        </p:txBody>
      </p:sp>
      <p:sp>
        <p:nvSpPr>
          <p:cNvPr id="32" name="Text 30"/>
          <p:cNvSpPr/>
          <p:nvPr/>
        </p:nvSpPr>
        <p:spPr>
          <a:xfrm>
            <a:off x="4700016" y="3639312"/>
            <a:ext cx="1874520" cy="749808"/>
          </a:xfrm>
          <a:prstGeom prst="rect">
            <a:avLst/>
          </a:prstGeom>
          <a:noFill/>
          <a:ln/>
        </p:spPr>
        <p:txBody>
          <a:bodyPr wrap="square" lIns="0" tIns="0" rIns="0" bIns="0" rtlCol="0" anchor="t"/>
          <a:lstStyle/>
          <a:p>
            <a:pPr marL="0" indent="0" algn="ctr">
              <a:buNone/>
            </a:pPr>
            <a:r>
              <a:rPr lang="en-US" sz="1050" dirty="0">
                <a:solidFill>
                  <a:srgbClr val="555555"/>
                </a:solidFill>
                <a:latin typeface="Calibri" pitchFamily="34" charset="0"/>
                <a:ea typeface="Calibri" pitchFamily="34" charset="-122"/>
                <a:cs typeface="Calibri" pitchFamily="34" charset="-120"/>
              </a:rPr>
              <a:t>Anticipated</a:t>
            </a:r>
            <a:endParaRPr lang="en-US" sz="1050" dirty="0"/>
          </a:p>
          <a:p>
            <a:pPr marL="0" indent="0" algn="ctr">
              <a:buNone/>
            </a:pPr>
            <a:r>
              <a:rPr lang="en-US" sz="1050" dirty="0">
                <a:solidFill>
                  <a:srgbClr val="555555"/>
                </a:solidFill>
                <a:latin typeface="Calibri" pitchFamily="34" charset="0"/>
                <a:ea typeface="Calibri" pitchFamily="34" charset="-122"/>
                <a:cs typeface="Calibri" pitchFamily="34" charset="-120"/>
              </a:rPr>
              <a:t>in prices</a:t>
            </a:r>
            <a:endParaRPr lang="en-US" sz="1050" dirty="0"/>
          </a:p>
        </p:txBody>
      </p:sp>
      <p:sp>
        <p:nvSpPr>
          <p:cNvPr id="33" name="Text 31"/>
          <p:cNvSpPr/>
          <p:nvPr/>
        </p:nvSpPr>
        <p:spPr>
          <a:xfrm>
            <a:off x="6665976" y="2834640"/>
            <a:ext cx="118872" cy="365760"/>
          </a:xfrm>
          <a:prstGeom prst="rect">
            <a:avLst/>
          </a:prstGeom>
          <a:noFill/>
          <a:ln/>
        </p:spPr>
        <p:txBody>
          <a:bodyPr wrap="square" lIns="0" tIns="0" rIns="0" bIns="0" rtlCol="0" anchor="t"/>
          <a:lstStyle/>
          <a:p>
            <a:pPr marL="0" indent="0" algn="ctr">
              <a:buNone/>
            </a:pPr>
            <a:r>
              <a:rPr lang="en-US" sz="1700" dirty="0">
                <a:solidFill>
                  <a:srgbClr val="8A9BC1"/>
                </a:solidFill>
                <a:latin typeface="Calibri" pitchFamily="34" charset="0"/>
                <a:ea typeface="Calibri" pitchFamily="34" charset="-122"/>
                <a:cs typeface="Calibri" pitchFamily="34" charset="-120"/>
              </a:rPr>
              <a:t>→</a:t>
            </a:r>
            <a:endParaRPr lang="en-US" sz="1700" dirty="0"/>
          </a:p>
        </p:txBody>
      </p:sp>
      <p:sp>
        <p:nvSpPr>
          <p:cNvPr id="34" name="Shape 32"/>
          <p:cNvSpPr/>
          <p:nvPr/>
        </p:nvSpPr>
        <p:spPr>
          <a:xfrm>
            <a:off x="6784848" y="1298448"/>
            <a:ext cx="2057400" cy="3611880"/>
          </a:xfrm>
          <a:prstGeom prst="roundRect">
            <a:avLst>
              <a:gd name="adj" fmla="val 3111"/>
            </a:avLst>
          </a:prstGeom>
          <a:solidFill>
            <a:srgbClr val="F4F6FB"/>
          </a:solidFill>
          <a:ln/>
        </p:spPr>
        <p:txBody>
          <a:bodyPr/>
          <a:lstStyle/>
          <a:p>
            <a:endParaRPr lang="en-US"/>
          </a:p>
        </p:txBody>
      </p:sp>
      <p:sp>
        <p:nvSpPr>
          <p:cNvPr id="35" name="Shape 33"/>
          <p:cNvSpPr/>
          <p:nvPr/>
        </p:nvSpPr>
        <p:spPr>
          <a:xfrm>
            <a:off x="7516368" y="1371600"/>
            <a:ext cx="594360" cy="594360"/>
          </a:xfrm>
          <a:prstGeom prst="ellipse">
            <a:avLst/>
          </a:prstGeom>
          <a:solidFill>
            <a:srgbClr val="1E2761"/>
          </a:solidFill>
          <a:ln/>
        </p:spPr>
        <p:txBody>
          <a:bodyPr/>
          <a:lstStyle/>
          <a:p>
            <a:endParaRPr lang="en-US"/>
          </a:p>
        </p:txBody>
      </p:sp>
      <p:sp>
        <p:nvSpPr>
          <p:cNvPr id="36" name="Text 34"/>
          <p:cNvSpPr/>
          <p:nvPr/>
        </p:nvSpPr>
        <p:spPr>
          <a:xfrm>
            <a:off x="7516368" y="1371600"/>
            <a:ext cx="594360" cy="59436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37" name="Text 35"/>
          <p:cNvSpPr/>
          <p:nvPr/>
        </p:nvSpPr>
        <p:spPr>
          <a:xfrm>
            <a:off x="6876288" y="2066544"/>
            <a:ext cx="1874520" cy="32004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Surprise Signal</a:t>
            </a:r>
            <a:endParaRPr lang="en-US" sz="1200" dirty="0"/>
          </a:p>
        </p:txBody>
      </p:sp>
      <p:sp>
        <p:nvSpPr>
          <p:cNvPr id="38" name="Text 36"/>
          <p:cNvSpPr/>
          <p:nvPr/>
        </p:nvSpPr>
        <p:spPr>
          <a:xfrm>
            <a:off x="6876288" y="2432304"/>
            <a:ext cx="1874520" cy="594360"/>
          </a:xfrm>
          <a:prstGeom prst="rect">
            <a:avLst/>
          </a:prstGeom>
          <a:noFill/>
          <a:ln/>
        </p:spPr>
        <p:txBody>
          <a:bodyPr wrap="square" lIns="0" tIns="0" rIns="0" bIns="0" rtlCol="0" anchor="t"/>
          <a:lstStyle/>
          <a:p>
            <a:pPr marL="0" indent="0" algn="ctr">
              <a:buNone/>
            </a:pPr>
            <a:r>
              <a:rPr lang="en-US" sz="1100" i="1" dirty="0">
                <a:solidFill>
                  <a:srgbClr val="555555"/>
                </a:solidFill>
                <a:latin typeface="Calibri" pitchFamily="34" charset="0"/>
                <a:ea typeface="Calibri" pitchFamily="34" charset="-122"/>
                <a:cs typeface="Calibri" pitchFamily="34" charset="-120"/>
              </a:rPr>
              <a:t>Bernanke-Kuttner:</a:t>
            </a:r>
            <a:endParaRPr lang="en-US" sz="1100" dirty="0"/>
          </a:p>
          <a:p>
            <a:pPr marL="0" indent="0" algn="ctr">
              <a:buNone/>
            </a:pPr>
            <a:r>
              <a:rPr lang="en-US" sz="1100" i="1" dirty="0">
                <a:solidFill>
                  <a:srgbClr val="555555"/>
                </a:solidFill>
                <a:latin typeface="Calibri" pitchFamily="34" charset="0"/>
                <a:ea typeface="Calibri" pitchFamily="34" charset="-122"/>
                <a:cs typeface="Calibri" pitchFamily="34" charset="-120"/>
              </a:rPr>
              <a:t>use the surprise</a:t>
            </a:r>
            <a:endParaRPr lang="en-US" sz="1100" dirty="0"/>
          </a:p>
        </p:txBody>
      </p:sp>
      <p:sp>
        <p:nvSpPr>
          <p:cNvPr id="39" name="Shape 37"/>
          <p:cNvSpPr/>
          <p:nvPr/>
        </p:nvSpPr>
        <p:spPr>
          <a:xfrm>
            <a:off x="6922008" y="3108960"/>
            <a:ext cx="1783080" cy="475488"/>
          </a:xfrm>
          <a:prstGeom prst="roundRect">
            <a:avLst>
              <a:gd name="adj" fmla="val 13462"/>
            </a:avLst>
          </a:prstGeom>
          <a:solidFill>
            <a:srgbClr val="FFFFFF"/>
          </a:solidFill>
          <a:ln/>
        </p:spPr>
        <p:txBody>
          <a:bodyPr/>
          <a:lstStyle/>
          <a:p>
            <a:endParaRPr lang="en-US"/>
          </a:p>
        </p:txBody>
      </p:sp>
      <p:sp>
        <p:nvSpPr>
          <p:cNvPr id="40" name="Text 38"/>
          <p:cNvSpPr/>
          <p:nvPr/>
        </p:nvSpPr>
        <p:spPr>
          <a:xfrm>
            <a:off x="6922008" y="3108960"/>
            <a:ext cx="1783080" cy="475488"/>
          </a:xfrm>
          <a:prstGeom prst="rect">
            <a:avLst/>
          </a:prstGeom>
          <a:noFill/>
          <a:ln/>
        </p:spPr>
        <p:txBody>
          <a:bodyPr wrap="square" lIns="25400" tIns="25400" rIns="25400" bIns="25400" rtlCol="0" anchor="ctr"/>
          <a:lstStyle/>
          <a:p>
            <a:pPr marL="0" indent="0" algn="ctr">
              <a:buNone/>
            </a:pPr>
            <a:r>
              <a:rPr lang="en-US" sz="1000" b="1" dirty="0">
                <a:solidFill>
                  <a:srgbClr val="C0392B"/>
                </a:solidFill>
                <a:latin typeface="Calibri" pitchFamily="34" charset="0"/>
                <a:ea typeface="Calibri" pitchFamily="34" charset="-122"/>
                <a:cs typeface="Calibri" pitchFamily="34" charset="-120"/>
              </a:rPr>
              <a:t>near-degenerate</a:t>
            </a:r>
            <a:endParaRPr lang="en-US" sz="1000" dirty="0"/>
          </a:p>
          <a:p>
            <a:pPr marL="0" indent="0" algn="ctr">
              <a:buNone/>
            </a:pPr>
            <a:r>
              <a:rPr lang="en-US" sz="1000" b="1" dirty="0">
                <a:solidFill>
                  <a:srgbClr val="C0392B"/>
                </a:solidFill>
                <a:latin typeface="Calibri" pitchFamily="34" charset="0"/>
                <a:ea typeface="Calibri" pitchFamily="34" charset="-122"/>
                <a:cs typeface="Calibri" pitchFamily="34" charset="-120"/>
              </a:rPr>
              <a:t>surprise variance</a:t>
            </a:r>
            <a:endParaRPr lang="en-US" sz="1000" dirty="0"/>
          </a:p>
        </p:txBody>
      </p:sp>
      <p:sp>
        <p:nvSpPr>
          <p:cNvPr id="41" name="Text 39"/>
          <p:cNvSpPr/>
          <p:nvPr/>
        </p:nvSpPr>
        <p:spPr>
          <a:xfrm>
            <a:off x="6876288" y="3639312"/>
            <a:ext cx="1874520" cy="749808"/>
          </a:xfrm>
          <a:prstGeom prst="rect">
            <a:avLst/>
          </a:prstGeom>
          <a:noFill/>
          <a:ln/>
        </p:spPr>
        <p:txBody>
          <a:bodyPr wrap="square" lIns="0" tIns="0" rIns="0" bIns="0" rtlCol="0" anchor="t"/>
          <a:lstStyle/>
          <a:p>
            <a:pPr marL="0" indent="0" algn="ctr">
              <a:buNone/>
            </a:pPr>
            <a:r>
              <a:rPr lang="en-US" sz="1050" dirty="0">
                <a:solidFill>
                  <a:srgbClr val="555555"/>
                </a:solidFill>
                <a:latin typeface="Calibri" pitchFamily="34" charset="0"/>
                <a:ea typeface="Calibri" pitchFamily="34" charset="-122"/>
                <a:cs typeface="Calibri" pitchFamily="34" charset="-120"/>
              </a:rPr>
              <a:t>Kalshi efficient</a:t>
            </a:r>
            <a:endParaRPr lang="en-US" sz="1050" dirty="0"/>
          </a:p>
          <a:p>
            <a:pPr marL="0" indent="0" algn="ctr">
              <a:buNone/>
            </a:pPr>
            <a:r>
              <a:rPr lang="en-US" sz="1050" dirty="0">
                <a:solidFill>
                  <a:srgbClr val="555555"/>
                </a:solidFill>
                <a:latin typeface="Calibri" pitchFamily="34" charset="0"/>
                <a:ea typeface="Calibri" pitchFamily="34" charset="-122"/>
                <a:cs typeface="Calibri" pitchFamily="34" charset="-120"/>
              </a:rPr>
              <a:t>against itself</a:t>
            </a:r>
            <a:endParaRPr lang="en-US" sz="1050" dirty="0"/>
          </a:p>
        </p:txBody>
      </p:sp>
      <p:sp>
        <p:nvSpPr>
          <p:cNvPr id="42" name="Shape 40"/>
          <p:cNvSpPr/>
          <p:nvPr/>
        </p:nvSpPr>
        <p:spPr>
          <a:xfrm>
            <a:off x="256032" y="4892040"/>
            <a:ext cx="8631936" cy="201168"/>
          </a:xfrm>
          <a:prstGeom prst="roundRect">
            <a:avLst>
              <a:gd name="adj" fmla="val 18182"/>
            </a:avLst>
          </a:prstGeom>
          <a:solidFill>
            <a:srgbClr val="1E2761"/>
          </a:solidFill>
          <a:ln/>
        </p:spPr>
        <p:txBody>
          <a:bodyPr/>
          <a:lstStyle/>
          <a:p>
            <a:endParaRPr lang="en-US"/>
          </a:p>
        </p:txBody>
      </p:sp>
      <p:sp>
        <p:nvSpPr>
          <p:cNvPr id="43" name="Text 41"/>
          <p:cNvSpPr/>
          <p:nvPr/>
        </p:nvSpPr>
        <p:spPr>
          <a:xfrm>
            <a:off x="365760" y="4892040"/>
            <a:ext cx="8412480" cy="2011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Each phase raises the bar. Each phase gets the same answer: Kalshi prices already contain the information.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METHODOLOGY &amp; DATA PIPELINE</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000" b="1" dirty="0">
                <a:solidFill>
                  <a:srgbClr val="1E2761"/>
                </a:solidFill>
                <a:latin typeface="Calibri" pitchFamily="34" charset="0"/>
                <a:ea typeface="Calibri" pitchFamily="34" charset="-122"/>
                <a:cs typeface="Calibri" pitchFamily="34" charset="-120"/>
              </a:rPr>
              <a:t>How the Data Was Collected — Built With AI, End to End.</a:t>
            </a:r>
            <a:endParaRPr lang="en-US" sz="20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1033272" y="1307592"/>
            <a:ext cx="1664208" cy="2286000"/>
          </a:xfrm>
          <a:prstGeom prst="roundRect">
            <a:avLst>
              <a:gd name="adj" fmla="val 3846"/>
            </a:avLst>
          </a:prstGeom>
          <a:solidFill>
            <a:srgbClr val="F4F6FB"/>
          </a:solidFill>
          <a:ln/>
        </p:spPr>
        <p:txBody>
          <a:bodyPr/>
          <a:lstStyle/>
          <a:p>
            <a:endParaRPr lang="en-US"/>
          </a:p>
        </p:txBody>
      </p:sp>
      <p:sp>
        <p:nvSpPr>
          <p:cNvPr id="8" name="Shape 6"/>
          <p:cNvSpPr/>
          <p:nvPr/>
        </p:nvSpPr>
        <p:spPr>
          <a:xfrm>
            <a:off x="1600200" y="1362456"/>
            <a:ext cx="530352" cy="530352"/>
          </a:xfrm>
          <a:prstGeom prst="roundRect">
            <a:avLst>
              <a:gd name="adj" fmla="val 12069"/>
            </a:avLst>
          </a:prstGeom>
          <a:solidFill>
            <a:srgbClr val="2E5594"/>
          </a:solidFill>
          <a:ln/>
        </p:spPr>
        <p:txBody>
          <a:bodyPr/>
          <a:lstStyle/>
          <a:p>
            <a:endParaRPr lang="en-US"/>
          </a:p>
        </p:txBody>
      </p:sp>
      <p:sp>
        <p:nvSpPr>
          <p:cNvPr id="9" name="Text 7"/>
          <p:cNvSpPr/>
          <p:nvPr/>
        </p:nvSpPr>
        <p:spPr>
          <a:xfrm>
            <a:off x="1600200" y="1371600"/>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106424" y="1984248"/>
            <a:ext cx="1517904" cy="27432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Scrape</a:t>
            </a:r>
            <a:endParaRPr lang="en-US" sz="1200" dirty="0"/>
          </a:p>
        </p:txBody>
      </p:sp>
      <p:sp>
        <p:nvSpPr>
          <p:cNvPr id="11" name="Text 9"/>
          <p:cNvSpPr/>
          <p:nvPr/>
        </p:nvSpPr>
        <p:spPr>
          <a:xfrm>
            <a:off x="1106424" y="2295144"/>
            <a:ext cx="1517904" cy="1188720"/>
          </a:xfrm>
          <a:prstGeom prst="rect">
            <a:avLst/>
          </a:prstGeom>
          <a:noFill/>
          <a:ln/>
        </p:spPr>
        <p:txBody>
          <a:bodyPr wrap="square" lIns="0" tIns="0" rIns="0" bIns="0" rtlCol="0" anchor="t"/>
          <a:lstStyle/>
          <a:p>
            <a:pPr marL="0" indent="0" algn="ctr">
              <a:buNone/>
            </a:pPr>
            <a:r>
              <a:rPr lang="en-US" sz="950" dirty="0">
                <a:solidFill>
                  <a:srgbClr val="444444"/>
                </a:solidFill>
                <a:latin typeface="Calibri" pitchFamily="34" charset="0"/>
                <a:ea typeface="Calibri" pitchFamily="34" charset="-122"/>
                <a:cs typeface="Calibri" pitchFamily="34" charset="-120"/>
              </a:rPr>
              <a:t>Fed.gov HTML + PDF</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254 documents 2018–2026</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Requests + BeautifulSoup</a:t>
            </a:r>
            <a:endParaRPr lang="en-US" sz="950" dirty="0"/>
          </a:p>
        </p:txBody>
      </p:sp>
      <p:sp>
        <p:nvSpPr>
          <p:cNvPr id="12" name="Text 10"/>
          <p:cNvSpPr/>
          <p:nvPr/>
        </p:nvSpPr>
        <p:spPr>
          <a:xfrm>
            <a:off x="2679192" y="2359152"/>
            <a:ext cx="91440" cy="274320"/>
          </a:xfrm>
          <a:prstGeom prst="rect">
            <a:avLst/>
          </a:prstGeom>
          <a:noFill/>
          <a:ln/>
        </p:spPr>
        <p:txBody>
          <a:bodyPr wrap="square" lIns="0" tIns="0" rIns="0" bIns="0" rtlCol="0" anchor="t"/>
          <a:lstStyle/>
          <a:p>
            <a:pPr marL="0" indent="0" algn="ctr">
              <a:buNone/>
            </a:pPr>
            <a:r>
              <a:rPr lang="en-US" sz="1300" dirty="0">
                <a:solidFill>
                  <a:srgbClr val="8A9BC1"/>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2788920" y="1307592"/>
            <a:ext cx="1664208" cy="2286000"/>
          </a:xfrm>
          <a:prstGeom prst="roundRect">
            <a:avLst>
              <a:gd name="adj" fmla="val 3846"/>
            </a:avLst>
          </a:prstGeom>
          <a:solidFill>
            <a:srgbClr val="F4F6FB"/>
          </a:solidFill>
          <a:ln/>
        </p:spPr>
        <p:txBody>
          <a:bodyPr/>
          <a:lstStyle/>
          <a:p>
            <a:endParaRPr lang="en-US"/>
          </a:p>
        </p:txBody>
      </p:sp>
      <p:sp>
        <p:nvSpPr>
          <p:cNvPr id="14" name="Shape 12"/>
          <p:cNvSpPr/>
          <p:nvPr/>
        </p:nvSpPr>
        <p:spPr>
          <a:xfrm>
            <a:off x="3355848" y="1371600"/>
            <a:ext cx="530352" cy="530352"/>
          </a:xfrm>
          <a:prstGeom prst="roundRect">
            <a:avLst>
              <a:gd name="adj" fmla="val 12069"/>
            </a:avLst>
          </a:prstGeom>
          <a:solidFill>
            <a:srgbClr val="2E5594"/>
          </a:solidFill>
          <a:ln/>
        </p:spPr>
        <p:txBody>
          <a:bodyPr/>
          <a:lstStyle/>
          <a:p>
            <a:endParaRPr lang="en-US"/>
          </a:p>
        </p:txBody>
      </p:sp>
      <p:sp>
        <p:nvSpPr>
          <p:cNvPr id="15" name="Text 13"/>
          <p:cNvSpPr/>
          <p:nvPr/>
        </p:nvSpPr>
        <p:spPr>
          <a:xfrm>
            <a:off x="3355848" y="1362456"/>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2862072" y="1984248"/>
            <a:ext cx="1517904" cy="27432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Store</a:t>
            </a:r>
            <a:endParaRPr lang="en-US" sz="1200" dirty="0"/>
          </a:p>
        </p:txBody>
      </p:sp>
      <p:sp>
        <p:nvSpPr>
          <p:cNvPr id="17" name="Text 15"/>
          <p:cNvSpPr/>
          <p:nvPr/>
        </p:nvSpPr>
        <p:spPr>
          <a:xfrm>
            <a:off x="2862072" y="2295144"/>
            <a:ext cx="1517904" cy="1188720"/>
          </a:xfrm>
          <a:prstGeom prst="rect">
            <a:avLst/>
          </a:prstGeom>
          <a:noFill/>
          <a:ln/>
        </p:spPr>
        <p:txBody>
          <a:bodyPr wrap="square" lIns="0" tIns="0" rIns="0" bIns="0" rtlCol="0" anchor="t"/>
          <a:lstStyle/>
          <a:p>
            <a:pPr marL="0" indent="0" algn="ctr">
              <a:buNone/>
            </a:pPr>
            <a:r>
              <a:rPr lang="en-US" sz="950" dirty="0">
                <a:solidFill>
                  <a:srgbClr val="444444"/>
                </a:solidFill>
                <a:latin typeface="Calibri" pitchFamily="34" charset="0"/>
                <a:ea typeface="Calibri" pitchFamily="34" charset="-122"/>
                <a:cs typeface="Calibri" pitchFamily="34" charset="-120"/>
              </a:rPr>
              <a:t>Snowflake DB</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PREDMARKET schema</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DIM_MARKETS + FACT_PRICES</a:t>
            </a:r>
            <a:endParaRPr lang="en-US" sz="950" dirty="0"/>
          </a:p>
        </p:txBody>
      </p:sp>
      <p:sp>
        <p:nvSpPr>
          <p:cNvPr id="18" name="Text 16"/>
          <p:cNvSpPr/>
          <p:nvPr/>
        </p:nvSpPr>
        <p:spPr>
          <a:xfrm>
            <a:off x="4453128" y="2359152"/>
            <a:ext cx="91440" cy="274320"/>
          </a:xfrm>
          <a:prstGeom prst="rect">
            <a:avLst/>
          </a:prstGeom>
          <a:noFill/>
          <a:ln/>
        </p:spPr>
        <p:txBody>
          <a:bodyPr wrap="square" lIns="0" tIns="0" rIns="0" bIns="0" rtlCol="0" anchor="t"/>
          <a:lstStyle/>
          <a:p>
            <a:pPr marL="0" indent="0" algn="ctr">
              <a:buNone/>
            </a:pPr>
            <a:r>
              <a:rPr lang="en-US" sz="1300" dirty="0">
                <a:solidFill>
                  <a:srgbClr val="8A9BC1"/>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4544568" y="1307592"/>
            <a:ext cx="1664208" cy="2286000"/>
          </a:xfrm>
          <a:prstGeom prst="roundRect">
            <a:avLst>
              <a:gd name="adj" fmla="val 3846"/>
            </a:avLst>
          </a:prstGeom>
          <a:solidFill>
            <a:srgbClr val="F4F6FB"/>
          </a:solidFill>
          <a:ln/>
        </p:spPr>
        <p:txBody>
          <a:bodyPr/>
          <a:lstStyle/>
          <a:p>
            <a:endParaRPr lang="en-US"/>
          </a:p>
        </p:txBody>
      </p:sp>
      <p:sp>
        <p:nvSpPr>
          <p:cNvPr id="20" name="Shape 18"/>
          <p:cNvSpPr/>
          <p:nvPr/>
        </p:nvSpPr>
        <p:spPr>
          <a:xfrm>
            <a:off x="5111496" y="1362456"/>
            <a:ext cx="530352" cy="530352"/>
          </a:xfrm>
          <a:prstGeom prst="roundRect">
            <a:avLst>
              <a:gd name="adj" fmla="val 12069"/>
            </a:avLst>
          </a:prstGeom>
          <a:solidFill>
            <a:srgbClr val="2E5594"/>
          </a:solidFill>
          <a:ln/>
        </p:spPr>
        <p:txBody>
          <a:bodyPr/>
          <a:lstStyle/>
          <a:p>
            <a:endParaRPr lang="en-US"/>
          </a:p>
        </p:txBody>
      </p:sp>
      <p:sp>
        <p:nvSpPr>
          <p:cNvPr id="21" name="Text 19"/>
          <p:cNvSpPr/>
          <p:nvPr/>
        </p:nvSpPr>
        <p:spPr>
          <a:xfrm>
            <a:off x="5111496" y="1371600"/>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2" name="Text 20"/>
          <p:cNvSpPr/>
          <p:nvPr/>
        </p:nvSpPr>
        <p:spPr>
          <a:xfrm>
            <a:off x="4617720" y="1984248"/>
            <a:ext cx="1517904" cy="27432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Score</a:t>
            </a:r>
            <a:endParaRPr lang="en-US" sz="1200" dirty="0"/>
          </a:p>
        </p:txBody>
      </p:sp>
      <p:sp>
        <p:nvSpPr>
          <p:cNvPr id="23" name="Text 21"/>
          <p:cNvSpPr/>
          <p:nvPr/>
        </p:nvSpPr>
        <p:spPr>
          <a:xfrm>
            <a:off x="4617720" y="2295144"/>
            <a:ext cx="1517904" cy="1188720"/>
          </a:xfrm>
          <a:prstGeom prst="rect">
            <a:avLst/>
          </a:prstGeom>
          <a:noFill/>
          <a:ln/>
        </p:spPr>
        <p:txBody>
          <a:bodyPr wrap="square" lIns="0" tIns="0" rIns="0" bIns="0" rtlCol="0" anchor="t"/>
          <a:lstStyle/>
          <a:p>
            <a:pPr marL="0" indent="0" algn="ctr">
              <a:buNone/>
            </a:pPr>
            <a:r>
              <a:rPr lang="en-US" sz="950" dirty="0">
                <a:solidFill>
                  <a:srgbClr val="444444"/>
                </a:solidFill>
                <a:latin typeface="Calibri" pitchFamily="34" charset="0"/>
                <a:ea typeface="Calibri" pitchFamily="34" charset="-122"/>
                <a:cs typeface="Calibri" pitchFamily="34" charset="-120"/>
              </a:rPr>
              <a:t>LM 7 categories</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T-42 window per meeting</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Negation-adjusted</a:t>
            </a:r>
            <a:endParaRPr lang="en-US" sz="950" dirty="0"/>
          </a:p>
        </p:txBody>
      </p:sp>
      <p:sp>
        <p:nvSpPr>
          <p:cNvPr id="24" name="Text 22"/>
          <p:cNvSpPr/>
          <p:nvPr/>
        </p:nvSpPr>
        <p:spPr>
          <a:xfrm>
            <a:off x="6208776" y="2359152"/>
            <a:ext cx="91440" cy="274320"/>
          </a:xfrm>
          <a:prstGeom prst="rect">
            <a:avLst/>
          </a:prstGeom>
          <a:noFill/>
          <a:ln/>
        </p:spPr>
        <p:txBody>
          <a:bodyPr wrap="square" lIns="0" tIns="0" rIns="0" bIns="0" rtlCol="0" anchor="t"/>
          <a:lstStyle/>
          <a:p>
            <a:pPr marL="0" indent="0" algn="ctr">
              <a:buNone/>
            </a:pPr>
            <a:r>
              <a:rPr lang="en-US" sz="1300" dirty="0">
                <a:solidFill>
                  <a:srgbClr val="8A9BC1"/>
                </a:solidFill>
                <a:latin typeface="Calibri" pitchFamily="34" charset="0"/>
                <a:ea typeface="Calibri" pitchFamily="34" charset="-122"/>
                <a:cs typeface="Calibri" pitchFamily="34" charset="-120"/>
              </a:rPr>
              <a:t>→</a:t>
            </a:r>
            <a:endParaRPr lang="en-US" sz="1300" dirty="0"/>
          </a:p>
        </p:txBody>
      </p:sp>
      <p:sp>
        <p:nvSpPr>
          <p:cNvPr id="25" name="Shape 23"/>
          <p:cNvSpPr/>
          <p:nvPr/>
        </p:nvSpPr>
        <p:spPr>
          <a:xfrm>
            <a:off x="6300216" y="1307592"/>
            <a:ext cx="1664208" cy="2286000"/>
          </a:xfrm>
          <a:prstGeom prst="roundRect">
            <a:avLst>
              <a:gd name="adj" fmla="val 3846"/>
            </a:avLst>
          </a:prstGeom>
          <a:solidFill>
            <a:srgbClr val="F4F6FB"/>
          </a:solidFill>
          <a:ln/>
        </p:spPr>
        <p:txBody>
          <a:bodyPr/>
          <a:lstStyle/>
          <a:p>
            <a:endParaRPr lang="en-US"/>
          </a:p>
        </p:txBody>
      </p:sp>
      <p:sp>
        <p:nvSpPr>
          <p:cNvPr id="26" name="Shape 24"/>
          <p:cNvSpPr/>
          <p:nvPr/>
        </p:nvSpPr>
        <p:spPr>
          <a:xfrm>
            <a:off x="6867144" y="1371600"/>
            <a:ext cx="530352" cy="530352"/>
          </a:xfrm>
          <a:prstGeom prst="roundRect">
            <a:avLst>
              <a:gd name="adj" fmla="val 12069"/>
            </a:avLst>
          </a:prstGeom>
          <a:solidFill>
            <a:srgbClr val="2E5594"/>
          </a:solidFill>
          <a:ln/>
        </p:spPr>
        <p:txBody>
          <a:bodyPr/>
          <a:lstStyle/>
          <a:p>
            <a:endParaRPr lang="en-US"/>
          </a:p>
        </p:txBody>
      </p:sp>
      <p:sp>
        <p:nvSpPr>
          <p:cNvPr id="27" name="Text 25"/>
          <p:cNvSpPr/>
          <p:nvPr/>
        </p:nvSpPr>
        <p:spPr>
          <a:xfrm>
            <a:off x="6867144" y="1362456"/>
            <a:ext cx="530352" cy="53035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8" name="Text 26"/>
          <p:cNvSpPr/>
          <p:nvPr/>
        </p:nvSpPr>
        <p:spPr>
          <a:xfrm>
            <a:off x="6373368" y="1984248"/>
            <a:ext cx="1517904" cy="274320"/>
          </a:xfrm>
          <a:prstGeom prst="rect">
            <a:avLst/>
          </a:prstGeom>
          <a:noFill/>
          <a:ln/>
        </p:spPr>
        <p:txBody>
          <a:bodyPr wrap="square" lIns="0" tIns="0" rIns="0" bIns="0" rtlCol="0" anchor="t"/>
          <a:lstStyle/>
          <a:p>
            <a:pPr marL="0" indent="0" algn="ctr">
              <a:buNone/>
            </a:pPr>
            <a:r>
              <a:rPr lang="en-US" sz="1200" b="1" dirty="0">
                <a:solidFill>
                  <a:srgbClr val="2E7DD1"/>
                </a:solidFill>
                <a:latin typeface="Calibri" pitchFamily="34" charset="0"/>
                <a:ea typeface="Calibri" pitchFamily="34" charset="-122"/>
                <a:cs typeface="Calibri" pitchFamily="34" charset="-120"/>
              </a:rPr>
              <a:t>Validate</a:t>
            </a:r>
            <a:endParaRPr lang="en-US" sz="1200" dirty="0"/>
          </a:p>
        </p:txBody>
      </p:sp>
      <p:sp>
        <p:nvSpPr>
          <p:cNvPr id="29" name="Text 27"/>
          <p:cNvSpPr/>
          <p:nvPr/>
        </p:nvSpPr>
        <p:spPr>
          <a:xfrm>
            <a:off x="6373368" y="2295144"/>
            <a:ext cx="1517904" cy="1188720"/>
          </a:xfrm>
          <a:prstGeom prst="rect">
            <a:avLst/>
          </a:prstGeom>
          <a:noFill/>
          <a:ln/>
        </p:spPr>
        <p:txBody>
          <a:bodyPr wrap="square" lIns="0" tIns="0" rIns="0" bIns="0" rtlCol="0" anchor="t"/>
          <a:lstStyle/>
          <a:p>
            <a:pPr marL="0" indent="0" algn="ctr">
              <a:buNone/>
            </a:pPr>
            <a:r>
              <a:rPr lang="en-US" sz="950" dirty="0">
                <a:solidFill>
                  <a:srgbClr val="444444"/>
                </a:solidFill>
                <a:latin typeface="Calibri" pitchFamily="34" charset="0"/>
                <a:ea typeface="Calibri" pitchFamily="34" charset="-122"/>
                <a:cs typeface="Calibri" pitchFamily="34" charset="-120"/>
              </a:rPr>
              <a:t>3-layer check:</a:t>
            </a:r>
            <a:endParaRPr lang="en-US" sz="950" dirty="0"/>
          </a:p>
          <a:p>
            <a:pPr marL="0" indent="0" algn="ctr">
              <a:buNone/>
            </a:pPr>
            <a:r>
              <a:rPr lang="en-US" sz="950" dirty="0">
                <a:solidFill>
                  <a:srgbClr val="444444"/>
                </a:solidFill>
                <a:latin typeface="Calibri" pitchFamily="34" charset="0"/>
                <a:ea typeface="Calibri" pitchFamily="34" charset="-122"/>
                <a:cs typeface="Calibri" pitchFamily="34" charset="-120"/>
              </a:rPr>
              <a:t>Hand Labeled Paragraphs → LLM → Shah data</a:t>
            </a:r>
            <a:endParaRPr lang="en-US" sz="950" dirty="0"/>
          </a:p>
        </p:txBody>
      </p:sp>
      <p:sp>
        <p:nvSpPr>
          <p:cNvPr id="30" name="Text 28"/>
          <p:cNvSpPr/>
          <p:nvPr/>
        </p:nvSpPr>
        <p:spPr>
          <a:xfrm>
            <a:off x="7187184" y="2331720"/>
            <a:ext cx="91440" cy="274320"/>
          </a:xfrm>
          <a:prstGeom prst="rect">
            <a:avLst/>
          </a:prstGeom>
          <a:noFill/>
          <a:ln/>
        </p:spPr>
        <p:txBody>
          <a:bodyPr wrap="square" lIns="0" tIns="0" rIns="0" bIns="0" rtlCol="0" anchor="t"/>
          <a:lstStyle/>
          <a:p>
            <a:pPr marL="0" indent="0" algn="ctr">
              <a:buNone/>
            </a:pPr>
            <a:endParaRPr lang="en-US" sz="1300" dirty="0"/>
          </a:p>
        </p:txBody>
      </p:sp>
      <p:sp>
        <p:nvSpPr>
          <p:cNvPr id="36" name="Shape 34"/>
          <p:cNvSpPr/>
          <p:nvPr/>
        </p:nvSpPr>
        <p:spPr>
          <a:xfrm>
            <a:off x="256032" y="3730752"/>
            <a:ext cx="4206240" cy="1298448"/>
          </a:xfrm>
          <a:prstGeom prst="roundRect">
            <a:avLst>
              <a:gd name="adj" fmla="val 4930"/>
            </a:avLst>
          </a:prstGeom>
          <a:solidFill>
            <a:srgbClr val="1E2761"/>
          </a:solidFill>
          <a:ln/>
        </p:spPr>
        <p:txBody>
          <a:bodyPr/>
          <a:lstStyle/>
          <a:p>
            <a:endParaRPr lang="en-US"/>
          </a:p>
        </p:txBody>
      </p:sp>
      <p:sp>
        <p:nvSpPr>
          <p:cNvPr id="37" name="Text 35"/>
          <p:cNvSpPr/>
          <p:nvPr/>
        </p:nvSpPr>
        <p:spPr>
          <a:xfrm>
            <a:off x="411480" y="3803904"/>
            <a:ext cx="3886200"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  Built with Claude AI</a:t>
            </a:r>
            <a:endParaRPr lang="en-US" sz="1100" dirty="0"/>
          </a:p>
        </p:txBody>
      </p:sp>
      <p:sp>
        <p:nvSpPr>
          <p:cNvPr id="38" name="Text 36"/>
          <p:cNvSpPr/>
          <p:nvPr/>
        </p:nvSpPr>
        <p:spPr>
          <a:xfrm>
            <a:off x="411480" y="4114800"/>
            <a:ext cx="3886200" cy="841248"/>
          </a:xfrm>
          <a:prstGeom prst="rect">
            <a:avLst/>
          </a:prstGeom>
          <a:noFill/>
          <a:ln/>
        </p:spPr>
        <p:txBody>
          <a:bodyPr wrap="square" lIns="38100" tIns="38100" rIns="38100" bIns="381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All 5 pipelines, Snowflake schema design, EC2 deployment, analysis notebooks, and this report were built in real-time collaboration with Anthropic's Claude. Every prompt is disclosed. Estimated: 300+ prompts across 3 months. (100+ this weekend).</a:t>
            </a:r>
            <a:endParaRPr lang="en-US" sz="1100" dirty="0"/>
          </a:p>
        </p:txBody>
      </p:sp>
      <p:sp>
        <p:nvSpPr>
          <p:cNvPr id="39" name="Shape 37"/>
          <p:cNvSpPr/>
          <p:nvPr/>
        </p:nvSpPr>
        <p:spPr>
          <a:xfrm>
            <a:off x="4617720" y="3730752"/>
            <a:ext cx="4206240" cy="1298448"/>
          </a:xfrm>
          <a:prstGeom prst="roundRect">
            <a:avLst>
              <a:gd name="adj" fmla="val 4930"/>
            </a:avLst>
          </a:prstGeom>
          <a:solidFill>
            <a:srgbClr val="F4F6FB"/>
          </a:solidFill>
          <a:ln/>
        </p:spPr>
        <p:txBody>
          <a:bodyPr/>
          <a:lstStyle/>
          <a:p>
            <a:endParaRPr lang="en-US"/>
          </a:p>
        </p:txBody>
      </p:sp>
      <p:sp>
        <p:nvSpPr>
          <p:cNvPr id="40" name="Text 38"/>
          <p:cNvSpPr/>
          <p:nvPr/>
        </p:nvSpPr>
        <p:spPr>
          <a:xfrm>
            <a:off x="4754880" y="3803904"/>
            <a:ext cx="3931920" cy="274320"/>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Infrastructure</a:t>
            </a:r>
            <a:endParaRPr lang="en-US" sz="1100" dirty="0"/>
          </a:p>
        </p:txBody>
      </p:sp>
      <p:sp>
        <p:nvSpPr>
          <p:cNvPr id="41" name="Text 39"/>
          <p:cNvSpPr/>
          <p:nvPr/>
        </p:nvSpPr>
        <p:spPr>
          <a:xfrm>
            <a:off x="4754880" y="4114800"/>
            <a:ext cx="3931920" cy="841248"/>
          </a:xfrm>
          <a:prstGeom prst="rect">
            <a:avLst/>
          </a:prstGeom>
          <a:noFill/>
          <a:ln/>
        </p:spPr>
        <p:txBody>
          <a:bodyPr wrap="square" lIns="38100" tIns="38100" rIns="38100" bIns="38100" rtlCol="0" anchor="t"/>
          <a:lstStyle/>
          <a:p>
            <a:pPr marL="0" indent="0" algn="l">
              <a:buNone/>
            </a:pPr>
            <a:r>
              <a:rPr lang="en-US" sz="1050" dirty="0">
                <a:solidFill>
                  <a:srgbClr val="444444"/>
                </a:solidFill>
                <a:latin typeface="Calibri" pitchFamily="34" charset="0"/>
                <a:ea typeface="Calibri" pitchFamily="34" charset="-122"/>
                <a:cs typeface="Calibri" pitchFamily="34" charset="-120"/>
              </a:rPr>
              <a:t>AWS EC2 t3.micro (Kalshi live collector, static IP, always-on)</a:t>
            </a:r>
            <a:endParaRPr lang="en-US" sz="1050" dirty="0"/>
          </a:p>
          <a:p>
            <a:pPr marL="0" indent="0" algn="l">
              <a:buNone/>
            </a:pPr>
            <a:r>
              <a:rPr lang="en-US" sz="1050" dirty="0">
                <a:solidFill>
                  <a:srgbClr val="444444"/>
                </a:solidFill>
                <a:latin typeface="Calibri" pitchFamily="34" charset="0"/>
                <a:ea typeface="Calibri" pitchFamily="34" charset="-122"/>
                <a:cs typeface="Calibri" pitchFamily="34" charset="-120"/>
              </a:rPr>
              <a:t>AWS EC2 t3.xlarge (batch processing, stop when idle)</a:t>
            </a:r>
            <a:endParaRPr lang="en-US" sz="1050" dirty="0"/>
          </a:p>
          <a:p>
            <a:pPr marL="0" indent="0" algn="l">
              <a:buNone/>
            </a:pPr>
            <a:r>
              <a:rPr lang="en-US" sz="1050" dirty="0">
                <a:solidFill>
                  <a:srgbClr val="444444"/>
                </a:solidFill>
                <a:latin typeface="Calibri" pitchFamily="34" charset="0"/>
                <a:ea typeface="Calibri" pitchFamily="34" charset="-122"/>
                <a:cs typeface="Calibri" pitchFamily="34" charset="-120"/>
              </a:rPr>
              <a:t>Snowflake PREDMARKET DB · Google Colab T4 GPU</a:t>
            </a:r>
            <a:endParaRPr lang="en-US" sz="1050" dirty="0"/>
          </a:p>
          <a:p>
            <a:pPr marL="0" indent="0" algn="l">
              <a:buNone/>
            </a:pPr>
            <a:r>
              <a:rPr lang="en-US" sz="1050" dirty="0">
                <a:solidFill>
                  <a:srgbClr val="444444"/>
                </a:solidFill>
                <a:latin typeface="Calibri" pitchFamily="34" charset="0"/>
                <a:ea typeface="Calibri" pitchFamily="34" charset="-122"/>
                <a:cs typeface="Calibri" pitchFamily="34" charset="-120"/>
              </a:rPr>
              <a:t>Kalshi REST API · Allium on-chain data (Ivan Dubinin)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87452"/>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1 — SIGNAL CONSTRUCTION</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Applying LM Methodology to Fed Text: Signal Design</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8" name="Text 6"/>
          <p:cNvSpPr/>
          <p:nvPr/>
        </p:nvSpPr>
        <p:spPr>
          <a:xfrm>
            <a:off x="320040" y="1261872"/>
            <a:ext cx="4297680" cy="2103120"/>
          </a:xfrm>
          <a:prstGeom prst="rect">
            <a:avLst/>
          </a:prstGeom>
          <a:noFill/>
          <a:ln/>
        </p:spPr>
        <p:txBody>
          <a:bodyPr wrap="square" lIns="38100" tIns="38100" rIns="38100" bIns="38100" rtlCol="0" anchor="ctr"/>
          <a:lstStyle/>
          <a:p>
            <a:pPr marL="0" indent="0" algn="ctr">
              <a:buNone/>
            </a:pPr>
            <a:r>
              <a:rPr lang="en-US" sz="900" i="1" dirty="0">
                <a:solidFill>
                  <a:srgbClr val="8A9BC1"/>
                </a:solidFill>
                <a:latin typeface="Calibri" pitchFamily="34" charset="0"/>
                <a:ea typeface="Calibri" pitchFamily="34" charset="-122"/>
                <a:cs typeface="Calibri" pitchFamily="34" charset="-120"/>
              </a:rPr>
              <a:t>[ INSERT: fig1_signal_timeseries.png ]</a:t>
            </a:r>
            <a:endParaRPr lang="en-US" sz="900" dirty="0"/>
          </a:p>
        </p:txBody>
      </p:sp>
      <p:sp>
        <p:nvSpPr>
          <p:cNvPr id="9" name="Shape 7"/>
          <p:cNvSpPr/>
          <p:nvPr/>
        </p:nvSpPr>
        <p:spPr>
          <a:xfrm>
            <a:off x="4754880" y="1261872"/>
            <a:ext cx="4069080" cy="2103120"/>
          </a:xfrm>
          <a:prstGeom prst="roundRect">
            <a:avLst>
              <a:gd name="adj" fmla="val 3043"/>
            </a:avLst>
          </a:prstGeom>
          <a:solidFill>
            <a:srgbClr val="F4F6FB"/>
          </a:solidFill>
          <a:ln/>
        </p:spPr>
        <p:txBody>
          <a:bodyPr/>
          <a:lstStyle/>
          <a:p>
            <a:endParaRPr lang="en-US"/>
          </a:p>
        </p:txBody>
      </p:sp>
      <p:sp>
        <p:nvSpPr>
          <p:cNvPr id="10" name="Text 8"/>
          <p:cNvSpPr/>
          <p:nvPr/>
        </p:nvSpPr>
        <p:spPr>
          <a:xfrm>
            <a:off x="4892040" y="1325880"/>
            <a:ext cx="3749040" cy="274320"/>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LM composite signal</a:t>
            </a:r>
            <a:endParaRPr lang="en-US" sz="1100" dirty="0"/>
          </a:p>
        </p:txBody>
      </p:sp>
      <p:sp>
        <p:nvSpPr>
          <p:cNvPr id="11" name="Text 9"/>
          <p:cNvSpPr/>
          <p:nvPr/>
        </p:nvSpPr>
        <p:spPr>
          <a:xfrm>
            <a:off x="4892040" y="1664208"/>
            <a:ext cx="3749040" cy="292608"/>
          </a:xfrm>
          <a:prstGeom prst="rect">
            <a:avLst/>
          </a:prstGeom>
          <a:noFill/>
          <a:ln/>
        </p:spPr>
        <p:txBody>
          <a:bodyPr wrap="square" lIns="38100" tIns="38100" rIns="38100" bIns="38100" rtlCol="0" anchor="t"/>
          <a:lstStyle/>
          <a:p>
            <a:pPr marL="0" indent="0" algn="ctr">
              <a:buNone/>
            </a:pPr>
            <a:r>
              <a:rPr lang="en-US" sz="1300" i="1" dirty="0">
                <a:solidFill>
                  <a:srgbClr val="1E2761"/>
                </a:solidFill>
                <a:latin typeface="Calibri" pitchFamily="34" charset="0"/>
                <a:ea typeface="Calibri" pitchFamily="34" charset="-122"/>
                <a:cs typeface="Calibri" pitchFamily="34" charset="-120"/>
              </a:rPr>
              <a:t>(Negative + Uncertainty − Positive)</a:t>
            </a:r>
            <a:endParaRPr lang="en-US" sz="1300" dirty="0"/>
          </a:p>
        </p:txBody>
      </p:sp>
      <p:sp>
        <p:nvSpPr>
          <p:cNvPr id="12" name="Text 10"/>
          <p:cNvSpPr/>
          <p:nvPr/>
        </p:nvSpPr>
        <p:spPr>
          <a:xfrm>
            <a:off x="4892040" y="1956816"/>
            <a:ext cx="3749040" cy="256032"/>
          </a:xfrm>
          <a:prstGeom prst="rect">
            <a:avLst/>
          </a:prstGeom>
          <a:noFill/>
          <a:ln/>
        </p:spPr>
        <p:txBody>
          <a:bodyPr wrap="square" lIns="38100" tIns="38100" rIns="38100" bIns="38100" rtlCol="0" anchor="t"/>
          <a:lstStyle/>
          <a:p>
            <a:pPr marL="0" indent="0" algn="ctr">
              <a:buNone/>
            </a:pPr>
            <a:r>
              <a:rPr lang="en-US" sz="1300" i="1" dirty="0">
                <a:solidFill>
                  <a:srgbClr val="1E2761"/>
                </a:solidFill>
                <a:latin typeface="Calibri" pitchFamily="34" charset="0"/>
                <a:ea typeface="Calibri" pitchFamily="34" charset="-122"/>
                <a:cs typeface="Calibri" pitchFamily="34" charset="-120"/>
              </a:rPr>
              <a:t>÷ total words</a:t>
            </a:r>
            <a:endParaRPr lang="en-US" sz="1300" dirty="0"/>
          </a:p>
        </p:txBody>
      </p:sp>
      <p:sp>
        <p:nvSpPr>
          <p:cNvPr id="14" name="Text 12"/>
          <p:cNvSpPr/>
          <p:nvPr/>
        </p:nvSpPr>
        <p:spPr>
          <a:xfrm>
            <a:off x="4892040" y="2377440"/>
            <a:ext cx="1554480" cy="274320"/>
          </a:xfrm>
          <a:prstGeom prst="rect">
            <a:avLst/>
          </a:prstGeom>
          <a:noFill/>
          <a:ln/>
        </p:spPr>
        <p:txBody>
          <a:bodyPr wrap="square" lIns="38100" tIns="38100" rIns="38100" bIns="38100" rtlCol="0" anchor="t"/>
          <a:lstStyle/>
          <a:p>
            <a:pPr marL="0" indent="0" algn="l">
              <a:buNone/>
            </a:pPr>
            <a:r>
              <a:rPr lang="en-US" sz="1050" dirty="0">
                <a:solidFill>
                  <a:srgbClr val="8A9BC1"/>
                </a:solidFill>
                <a:latin typeface="Calibri" pitchFamily="34" charset="0"/>
                <a:ea typeface="Calibri" pitchFamily="34" charset="-122"/>
                <a:cs typeface="Calibri" pitchFamily="34" charset="-120"/>
              </a:rPr>
              <a:t>Document types</a:t>
            </a:r>
            <a:endParaRPr lang="en-US" sz="1050" dirty="0"/>
          </a:p>
        </p:txBody>
      </p:sp>
      <p:sp>
        <p:nvSpPr>
          <p:cNvPr id="15" name="Text 13"/>
          <p:cNvSpPr/>
          <p:nvPr/>
        </p:nvSpPr>
        <p:spPr>
          <a:xfrm>
            <a:off x="6492240" y="2377440"/>
            <a:ext cx="2240280" cy="274320"/>
          </a:xfrm>
          <a:prstGeom prst="rect">
            <a:avLst/>
          </a:prstGeom>
          <a:noFill/>
          <a:ln/>
        </p:spPr>
        <p:txBody>
          <a:bodyPr wrap="square" lIns="38100" tIns="38100" rIns="38100" bIns="38100" rtlCol="0" anchor="t"/>
          <a:lstStyle/>
          <a:p>
            <a:pPr marL="0" indent="0" algn="l">
              <a:buNone/>
            </a:pPr>
            <a:r>
              <a:rPr lang="en-US" sz="1050" dirty="0">
                <a:solidFill>
                  <a:srgbClr val="333333"/>
                </a:solidFill>
                <a:latin typeface="Calibri" pitchFamily="34" charset="0"/>
                <a:ea typeface="Calibri" pitchFamily="34" charset="-122"/>
                <a:cs typeface="Calibri" pitchFamily="34" charset="-120"/>
              </a:rPr>
              <a:t>Speeches, minutes, statements, press conf.</a:t>
            </a:r>
            <a:endParaRPr lang="en-US" sz="1050" dirty="0"/>
          </a:p>
        </p:txBody>
      </p:sp>
      <p:sp>
        <p:nvSpPr>
          <p:cNvPr id="16" name="Text 14"/>
          <p:cNvSpPr/>
          <p:nvPr/>
        </p:nvSpPr>
        <p:spPr>
          <a:xfrm>
            <a:off x="4892040" y="2724912"/>
            <a:ext cx="1554480" cy="274320"/>
          </a:xfrm>
          <a:prstGeom prst="rect">
            <a:avLst/>
          </a:prstGeom>
          <a:noFill/>
          <a:ln/>
        </p:spPr>
        <p:txBody>
          <a:bodyPr wrap="square" lIns="38100" tIns="38100" rIns="38100" bIns="38100" rtlCol="0" anchor="t"/>
          <a:lstStyle/>
          <a:p>
            <a:pPr marL="0" indent="0" algn="l">
              <a:buNone/>
            </a:pPr>
            <a:r>
              <a:rPr lang="en-US" sz="1050" dirty="0">
                <a:solidFill>
                  <a:srgbClr val="8A9BC1"/>
                </a:solidFill>
                <a:latin typeface="Calibri" pitchFamily="34" charset="0"/>
                <a:ea typeface="Calibri" pitchFamily="34" charset="-122"/>
                <a:cs typeface="Calibri" pitchFamily="34" charset="-120"/>
              </a:rPr>
              <a:t>Window</a:t>
            </a:r>
            <a:endParaRPr lang="en-US" sz="1050" dirty="0"/>
          </a:p>
        </p:txBody>
      </p:sp>
      <p:sp>
        <p:nvSpPr>
          <p:cNvPr id="17" name="Text 15"/>
          <p:cNvSpPr/>
          <p:nvPr/>
        </p:nvSpPr>
        <p:spPr>
          <a:xfrm>
            <a:off x="6492240" y="2724912"/>
            <a:ext cx="2240280" cy="274320"/>
          </a:xfrm>
          <a:prstGeom prst="rect">
            <a:avLst/>
          </a:prstGeom>
          <a:noFill/>
          <a:ln/>
        </p:spPr>
        <p:txBody>
          <a:bodyPr wrap="square" lIns="38100" tIns="38100" rIns="38100" bIns="38100" rtlCol="0" anchor="t"/>
          <a:lstStyle/>
          <a:p>
            <a:pPr marL="0" indent="0" algn="l">
              <a:buNone/>
            </a:pPr>
            <a:r>
              <a:rPr lang="en-US" sz="1050" dirty="0">
                <a:solidFill>
                  <a:srgbClr val="333333"/>
                </a:solidFill>
                <a:latin typeface="Calibri" pitchFamily="34" charset="0"/>
                <a:ea typeface="Calibri" pitchFamily="34" charset="-122"/>
                <a:cs typeface="Calibri" pitchFamily="34" charset="-120"/>
              </a:rPr>
              <a:t>T-42 to T-1 before each FOMC meeting</a:t>
            </a:r>
            <a:endParaRPr lang="en-US" sz="1050" dirty="0"/>
          </a:p>
        </p:txBody>
      </p:sp>
      <p:sp>
        <p:nvSpPr>
          <p:cNvPr id="18" name="Text 16"/>
          <p:cNvSpPr/>
          <p:nvPr/>
        </p:nvSpPr>
        <p:spPr>
          <a:xfrm>
            <a:off x="4892040" y="3072384"/>
            <a:ext cx="1554480" cy="274320"/>
          </a:xfrm>
          <a:prstGeom prst="rect">
            <a:avLst/>
          </a:prstGeom>
          <a:noFill/>
          <a:ln/>
        </p:spPr>
        <p:txBody>
          <a:bodyPr wrap="square" lIns="38100" tIns="38100" rIns="38100" bIns="38100" rtlCol="0" anchor="t"/>
          <a:lstStyle/>
          <a:p>
            <a:pPr marL="0" indent="0" algn="l">
              <a:buNone/>
            </a:pPr>
            <a:r>
              <a:rPr lang="en-US" sz="1050" dirty="0">
                <a:solidFill>
                  <a:srgbClr val="8A9BC1"/>
                </a:solidFill>
                <a:latin typeface="Calibri" pitchFamily="34" charset="0"/>
                <a:ea typeface="Calibri" pitchFamily="34" charset="-122"/>
                <a:cs typeface="Calibri" pitchFamily="34" charset="-120"/>
              </a:rPr>
              <a:t>Meetings</a:t>
            </a:r>
            <a:endParaRPr lang="en-US" sz="1050" dirty="0"/>
          </a:p>
        </p:txBody>
      </p:sp>
      <p:sp>
        <p:nvSpPr>
          <p:cNvPr id="19" name="Text 17"/>
          <p:cNvSpPr/>
          <p:nvPr/>
        </p:nvSpPr>
        <p:spPr>
          <a:xfrm>
            <a:off x="6492240" y="3072384"/>
            <a:ext cx="2240280" cy="274320"/>
          </a:xfrm>
          <a:prstGeom prst="rect">
            <a:avLst/>
          </a:prstGeom>
          <a:noFill/>
          <a:ln/>
        </p:spPr>
        <p:txBody>
          <a:bodyPr wrap="square" lIns="38100" tIns="38100" rIns="38100" bIns="38100" rtlCol="0" anchor="t"/>
          <a:lstStyle/>
          <a:p>
            <a:pPr marL="0" indent="0" algn="l">
              <a:buNone/>
            </a:pPr>
            <a:r>
              <a:rPr lang="en-US" sz="1050" dirty="0">
                <a:solidFill>
                  <a:srgbClr val="333333"/>
                </a:solidFill>
                <a:latin typeface="Calibri" pitchFamily="34" charset="0"/>
                <a:ea typeface="Calibri" pitchFamily="34" charset="-122"/>
                <a:cs typeface="Calibri" pitchFamily="34" charset="-120"/>
              </a:rPr>
              <a:t>62 with complete signal</a:t>
            </a:r>
            <a:endParaRPr lang="en-US" sz="1050" dirty="0"/>
          </a:p>
        </p:txBody>
      </p:sp>
      <p:sp>
        <p:nvSpPr>
          <p:cNvPr id="20" name="Text 18"/>
          <p:cNvSpPr/>
          <p:nvPr/>
        </p:nvSpPr>
        <p:spPr>
          <a:xfrm>
            <a:off x="4892040" y="3419856"/>
            <a:ext cx="1554480" cy="274320"/>
          </a:xfrm>
          <a:prstGeom prst="rect">
            <a:avLst/>
          </a:prstGeom>
          <a:noFill/>
          <a:ln/>
        </p:spPr>
        <p:txBody>
          <a:bodyPr wrap="square" lIns="38100" tIns="38100" rIns="38100" bIns="38100" rtlCol="0" anchor="t"/>
          <a:lstStyle/>
          <a:p>
            <a:pPr marL="0" indent="0" algn="l">
              <a:buNone/>
            </a:pPr>
            <a:r>
              <a:rPr lang="en-US" sz="1050" dirty="0">
                <a:solidFill>
                  <a:srgbClr val="8A9BC1"/>
                </a:solidFill>
                <a:latin typeface="Calibri" pitchFamily="34" charset="0"/>
                <a:ea typeface="Calibri" pitchFamily="34" charset="-122"/>
                <a:cs typeface="Calibri" pitchFamily="34" charset="-120"/>
              </a:rPr>
              <a:t>Weighting</a:t>
            </a:r>
            <a:endParaRPr lang="en-US" sz="1050" dirty="0"/>
          </a:p>
        </p:txBody>
      </p:sp>
      <p:sp>
        <p:nvSpPr>
          <p:cNvPr id="21" name="Text 19"/>
          <p:cNvSpPr/>
          <p:nvPr/>
        </p:nvSpPr>
        <p:spPr>
          <a:xfrm>
            <a:off x="6492240" y="3419856"/>
            <a:ext cx="2240280" cy="274320"/>
          </a:xfrm>
          <a:prstGeom prst="rect">
            <a:avLst/>
          </a:prstGeom>
          <a:noFill/>
          <a:ln/>
        </p:spPr>
        <p:txBody>
          <a:bodyPr wrap="square" lIns="38100" tIns="38100" rIns="38100" bIns="38100" rtlCol="0" anchor="t"/>
          <a:lstStyle/>
          <a:p>
            <a:pPr marL="0" indent="0" algn="l">
              <a:buNone/>
            </a:pPr>
            <a:r>
              <a:rPr lang="en-US" sz="1050" dirty="0">
                <a:solidFill>
                  <a:srgbClr val="333333"/>
                </a:solidFill>
                <a:latin typeface="Calibri" pitchFamily="34" charset="0"/>
                <a:ea typeface="Calibri" pitchFamily="34" charset="-122"/>
                <a:cs typeface="Calibri" pitchFamily="34" charset="-120"/>
              </a:rPr>
              <a:t>Equal, speaker-weighted, T-11 variants tested</a:t>
            </a:r>
            <a:endParaRPr lang="en-US" sz="1050" dirty="0"/>
          </a:p>
        </p:txBody>
      </p:sp>
      <p:sp>
        <p:nvSpPr>
          <p:cNvPr id="22" name="Shape 20"/>
          <p:cNvSpPr/>
          <p:nvPr/>
        </p:nvSpPr>
        <p:spPr>
          <a:xfrm>
            <a:off x="320040" y="3493008"/>
            <a:ext cx="8503920" cy="1463040"/>
          </a:xfrm>
          <a:prstGeom prst="roundRect">
            <a:avLst>
              <a:gd name="adj" fmla="val 4375"/>
            </a:avLst>
          </a:prstGeom>
          <a:solidFill>
            <a:srgbClr val="0F1A3A"/>
          </a:solidFill>
          <a:ln/>
        </p:spPr>
        <p:txBody>
          <a:bodyPr/>
          <a:lstStyle/>
          <a:p>
            <a:endParaRPr lang="en-US"/>
          </a:p>
        </p:txBody>
      </p:sp>
      <p:sp>
        <p:nvSpPr>
          <p:cNvPr id="23" name="Text 21"/>
          <p:cNvSpPr/>
          <p:nvPr/>
        </p:nvSpPr>
        <p:spPr>
          <a:xfrm>
            <a:off x="457200" y="3566160"/>
            <a:ext cx="8229600"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Three-layer validation (pre-registered before analysis)</a:t>
            </a:r>
            <a:endParaRPr lang="en-US" sz="1100" dirty="0"/>
          </a:p>
        </p:txBody>
      </p:sp>
      <p:sp>
        <p:nvSpPr>
          <p:cNvPr id="24" name="Text 22"/>
          <p:cNvSpPr/>
          <p:nvPr/>
        </p:nvSpPr>
        <p:spPr>
          <a:xfrm>
            <a:off x="457200" y="3886200"/>
            <a:ext cx="1920240" cy="256032"/>
          </a:xfrm>
          <a:prstGeom prst="rect">
            <a:avLst/>
          </a:prstGeom>
          <a:noFill/>
          <a:ln/>
        </p:spPr>
        <p:txBody>
          <a:bodyPr wrap="square" lIns="38100" tIns="38100" rIns="38100" bIns="38100" rtlCol="0" anchor="t"/>
          <a:lstStyle/>
          <a:p>
            <a:pPr marL="0" indent="0" algn="l">
              <a:buNone/>
            </a:pPr>
            <a:r>
              <a:rPr lang="en-US" sz="900" dirty="0">
                <a:solidFill>
                  <a:srgbClr val="CADCFC"/>
                </a:solidFill>
                <a:latin typeface="Calibri" pitchFamily="34" charset="0"/>
                <a:ea typeface="Calibri" pitchFamily="34" charset="-122"/>
                <a:cs typeface="Calibri" pitchFamily="34" charset="-120"/>
              </a:rPr>
              <a:t>Layer 1: Personal hand-coded (N=17)</a:t>
            </a:r>
            <a:endParaRPr lang="en-US" sz="900" dirty="0"/>
          </a:p>
        </p:txBody>
      </p:sp>
      <p:sp>
        <p:nvSpPr>
          <p:cNvPr id="25" name="Text 23"/>
          <p:cNvSpPr/>
          <p:nvPr/>
        </p:nvSpPr>
        <p:spPr>
          <a:xfrm>
            <a:off x="457200" y="4160520"/>
            <a:ext cx="1920240" cy="274320"/>
          </a:xfrm>
          <a:prstGeom prst="rect">
            <a:avLst/>
          </a:prstGeom>
          <a:noFill/>
          <a:ln/>
        </p:spPr>
        <p:txBody>
          <a:bodyPr wrap="square" lIns="38100" tIns="38100" rIns="38100" bIns="38100" rtlCol="0" anchor="t"/>
          <a:lstStyle/>
          <a:p>
            <a:pPr marL="0" indent="0" algn="l">
              <a:buNone/>
            </a:pPr>
            <a:r>
              <a:rPr lang="en-US" sz="1300" b="1" dirty="0">
                <a:solidFill>
                  <a:srgbClr val="C0392B"/>
                </a:solidFill>
                <a:latin typeface="Calibri" pitchFamily="34" charset="0"/>
                <a:ea typeface="Calibri" pitchFamily="34" charset="-122"/>
                <a:cs typeface="Calibri" pitchFamily="34" charset="-120"/>
              </a:rPr>
              <a:t>r = 0.130</a:t>
            </a:r>
            <a:endParaRPr lang="en-US" sz="1300" dirty="0"/>
          </a:p>
        </p:txBody>
      </p:sp>
      <p:sp>
        <p:nvSpPr>
          <p:cNvPr id="26" name="Text 24"/>
          <p:cNvSpPr/>
          <p:nvPr/>
        </p:nvSpPr>
        <p:spPr>
          <a:xfrm>
            <a:off x="457200" y="4462272"/>
            <a:ext cx="1920240" cy="22860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n.s.</a:t>
            </a:r>
            <a:endParaRPr lang="en-US" sz="900" dirty="0"/>
          </a:p>
        </p:txBody>
      </p:sp>
      <p:sp>
        <p:nvSpPr>
          <p:cNvPr id="27" name="Text 25"/>
          <p:cNvSpPr/>
          <p:nvPr/>
        </p:nvSpPr>
        <p:spPr>
          <a:xfrm>
            <a:off x="2578608" y="3886200"/>
            <a:ext cx="1920240" cy="256032"/>
          </a:xfrm>
          <a:prstGeom prst="rect">
            <a:avLst/>
          </a:prstGeom>
          <a:noFill/>
          <a:ln/>
        </p:spPr>
        <p:txBody>
          <a:bodyPr wrap="square" lIns="38100" tIns="38100" rIns="38100" bIns="38100" rtlCol="0" anchor="t"/>
          <a:lstStyle/>
          <a:p>
            <a:pPr marL="0" indent="0" algn="l">
              <a:buNone/>
            </a:pPr>
            <a:r>
              <a:rPr lang="en-US" sz="900" dirty="0">
                <a:solidFill>
                  <a:srgbClr val="CADCFC"/>
                </a:solidFill>
                <a:latin typeface="Calibri" pitchFamily="34" charset="0"/>
                <a:ea typeface="Calibri" pitchFamily="34" charset="-122"/>
                <a:cs typeface="Calibri" pitchFamily="34" charset="-120"/>
              </a:rPr>
              <a:t>Layer 2: LLM Claude labels (N=500)</a:t>
            </a:r>
            <a:endParaRPr lang="en-US" sz="900" dirty="0"/>
          </a:p>
        </p:txBody>
      </p:sp>
      <p:sp>
        <p:nvSpPr>
          <p:cNvPr id="28" name="Text 26"/>
          <p:cNvSpPr/>
          <p:nvPr/>
        </p:nvSpPr>
        <p:spPr>
          <a:xfrm>
            <a:off x="2578608" y="4160520"/>
            <a:ext cx="1920240" cy="274320"/>
          </a:xfrm>
          <a:prstGeom prst="rect">
            <a:avLst/>
          </a:prstGeom>
          <a:noFill/>
          <a:ln/>
        </p:spPr>
        <p:txBody>
          <a:bodyPr wrap="square" lIns="38100" tIns="38100" rIns="38100" bIns="38100" rtlCol="0" anchor="t"/>
          <a:lstStyle/>
          <a:p>
            <a:pPr marL="0" indent="0" algn="l">
              <a:buNone/>
            </a:pPr>
            <a:r>
              <a:rPr lang="en-US" sz="1300" b="1" dirty="0">
                <a:solidFill>
                  <a:srgbClr val="C0392B"/>
                </a:solidFill>
                <a:latin typeface="Calibri" pitchFamily="34" charset="0"/>
                <a:ea typeface="Calibri" pitchFamily="34" charset="-122"/>
                <a:cs typeface="Calibri" pitchFamily="34" charset="-120"/>
              </a:rPr>
              <a:t>r = 0.062</a:t>
            </a:r>
            <a:endParaRPr lang="en-US" sz="1300" dirty="0"/>
          </a:p>
        </p:txBody>
      </p:sp>
      <p:sp>
        <p:nvSpPr>
          <p:cNvPr id="29" name="Text 27"/>
          <p:cNvSpPr/>
          <p:nvPr/>
        </p:nvSpPr>
        <p:spPr>
          <a:xfrm>
            <a:off x="2578608" y="4462272"/>
            <a:ext cx="1920240" cy="22860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n.s.</a:t>
            </a:r>
            <a:endParaRPr lang="en-US" sz="900" dirty="0"/>
          </a:p>
        </p:txBody>
      </p:sp>
      <p:sp>
        <p:nvSpPr>
          <p:cNvPr id="30" name="Text 28"/>
          <p:cNvSpPr/>
          <p:nvPr/>
        </p:nvSpPr>
        <p:spPr>
          <a:xfrm>
            <a:off x="4700016" y="3886200"/>
            <a:ext cx="1920240" cy="256032"/>
          </a:xfrm>
          <a:prstGeom prst="rect">
            <a:avLst/>
          </a:prstGeom>
          <a:noFill/>
          <a:ln/>
        </p:spPr>
        <p:txBody>
          <a:bodyPr wrap="square" lIns="38100" tIns="38100" rIns="38100" bIns="38100" rtlCol="0" anchor="t"/>
          <a:lstStyle/>
          <a:p>
            <a:pPr marL="0" indent="0" algn="l">
              <a:buNone/>
            </a:pPr>
            <a:r>
              <a:rPr lang="en-US" sz="900" dirty="0">
                <a:solidFill>
                  <a:srgbClr val="CADCFC"/>
                </a:solidFill>
                <a:latin typeface="Calibri" pitchFamily="34" charset="0"/>
                <a:ea typeface="Calibri" pitchFamily="34" charset="-122"/>
                <a:cs typeface="Calibri" pitchFamily="34" charset="-120"/>
              </a:rPr>
              <a:t>Layer 3: Shah et al. FOMC dataset (N=476)</a:t>
            </a:r>
            <a:endParaRPr lang="en-US" sz="900" dirty="0"/>
          </a:p>
        </p:txBody>
      </p:sp>
      <p:sp>
        <p:nvSpPr>
          <p:cNvPr id="31" name="Text 29"/>
          <p:cNvSpPr/>
          <p:nvPr/>
        </p:nvSpPr>
        <p:spPr>
          <a:xfrm>
            <a:off x="4700016" y="4160520"/>
            <a:ext cx="1920240" cy="274320"/>
          </a:xfrm>
          <a:prstGeom prst="rect">
            <a:avLst/>
          </a:prstGeom>
          <a:noFill/>
          <a:ln/>
        </p:spPr>
        <p:txBody>
          <a:bodyPr wrap="square" lIns="38100" tIns="38100" rIns="38100" bIns="38100" rtlCol="0" anchor="t"/>
          <a:lstStyle/>
          <a:p>
            <a:pPr marL="0" indent="0" algn="l">
              <a:buNone/>
            </a:pPr>
            <a:r>
              <a:rPr lang="en-US" sz="1300" b="1" dirty="0">
                <a:solidFill>
                  <a:srgbClr val="C0392B"/>
                </a:solidFill>
                <a:latin typeface="Calibri" pitchFamily="34" charset="0"/>
                <a:ea typeface="Calibri" pitchFamily="34" charset="-122"/>
                <a:cs typeface="Calibri" pitchFamily="34" charset="-120"/>
              </a:rPr>
              <a:t>r = 0.069</a:t>
            </a:r>
            <a:endParaRPr lang="en-US" sz="1300" dirty="0"/>
          </a:p>
        </p:txBody>
      </p:sp>
      <p:sp>
        <p:nvSpPr>
          <p:cNvPr id="32" name="Text 30"/>
          <p:cNvSpPr/>
          <p:nvPr/>
        </p:nvSpPr>
        <p:spPr>
          <a:xfrm>
            <a:off x="4700016" y="4462272"/>
            <a:ext cx="1920240" cy="22860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n.s.</a:t>
            </a:r>
            <a:endParaRPr lang="en-US" sz="900" dirty="0"/>
          </a:p>
        </p:txBody>
      </p:sp>
      <p:sp>
        <p:nvSpPr>
          <p:cNvPr id="33" name="Text 31"/>
          <p:cNvSpPr/>
          <p:nvPr/>
        </p:nvSpPr>
        <p:spPr>
          <a:xfrm>
            <a:off x="6821424" y="3886200"/>
            <a:ext cx="1920240" cy="256032"/>
          </a:xfrm>
          <a:prstGeom prst="rect">
            <a:avLst/>
          </a:prstGeom>
          <a:noFill/>
          <a:ln/>
        </p:spPr>
        <p:txBody>
          <a:bodyPr wrap="square" lIns="38100" tIns="38100" rIns="38100" bIns="38100" rtlCol="0" anchor="t"/>
          <a:lstStyle/>
          <a:p>
            <a:pPr marL="0" indent="0" algn="l">
              <a:buNone/>
            </a:pPr>
            <a:r>
              <a:rPr lang="en-US" sz="900" dirty="0">
                <a:solidFill>
                  <a:srgbClr val="CADCFC"/>
                </a:solidFill>
                <a:latin typeface="Calibri" pitchFamily="34" charset="0"/>
                <a:ea typeface="Calibri" pitchFamily="34" charset="-122"/>
                <a:cs typeface="Calibri" pitchFamily="34" charset="-120"/>
              </a:rPr>
              <a:t>Uncertainty dimension only (N=1,364)</a:t>
            </a:r>
            <a:endParaRPr lang="en-US" sz="900" dirty="0"/>
          </a:p>
        </p:txBody>
      </p:sp>
      <p:sp>
        <p:nvSpPr>
          <p:cNvPr id="34" name="Text 32"/>
          <p:cNvSpPr/>
          <p:nvPr/>
        </p:nvSpPr>
        <p:spPr>
          <a:xfrm>
            <a:off x="6821424" y="4160520"/>
            <a:ext cx="1920240" cy="274320"/>
          </a:xfrm>
          <a:prstGeom prst="rect">
            <a:avLst/>
          </a:prstGeom>
          <a:noFill/>
          <a:ln/>
        </p:spPr>
        <p:txBody>
          <a:bodyPr wrap="square" lIns="38100" tIns="38100" rIns="38100" bIns="38100" rtlCol="0" anchor="t"/>
          <a:lstStyle/>
          <a:p>
            <a:pPr marL="0" indent="0" algn="l">
              <a:buNone/>
            </a:pPr>
            <a:r>
              <a:rPr lang="en-US" sz="1300" b="1" dirty="0">
                <a:solidFill>
                  <a:srgbClr val="5AF07A"/>
                </a:solidFill>
                <a:latin typeface="Calibri" pitchFamily="34" charset="0"/>
                <a:ea typeface="Calibri" pitchFamily="34" charset="-122"/>
                <a:cs typeface="Calibri" pitchFamily="34" charset="-120"/>
              </a:rPr>
              <a:t>r = 0.167</a:t>
            </a:r>
            <a:endParaRPr lang="en-US" sz="1300" dirty="0"/>
          </a:p>
        </p:txBody>
      </p:sp>
      <p:sp>
        <p:nvSpPr>
          <p:cNvPr id="35" name="Text 33"/>
          <p:cNvSpPr/>
          <p:nvPr/>
        </p:nvSpPr>
        <p:spPr>
          <a:xfrm>
            <a:off x="6821424" y="4462272"/>
            <a:ext cx="1920240" cy="22860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p&lt;0.001 ✓</a:t>
            </a:r>
            <a:endParaRPr lang="en-US" sz="900" dirty="0"/>
          </a:p>
        </p:txBody>
      </p:sp>
      <p:pic>
        <p:nvPicPr>
          <p:cNvPr id="37" name="Picture 36">
            <a:extLst>
              <a:ext uri="{FF2B5EF4-FFF2-40B4-BE49-F238E27FC236}">
                <a16:creationId xmlns:a16="http://schemas.microsoft.com/office/drawing/2014/main" id="{369AA801-A969-44AD-26EA-69C90D6998EF}"/>
              </a:ext>
            </a:extLst>
          </p:cNvPr>
          <p:cNvPicPr>
            <a:picLocks noChangeAspect="1"/>
          </p:cNvPicPr>
          <p:nvPr/>
        </p:nvPicPr>
        <p:blipFill>
          <a:blip r:embed="rId3"/>
          <a:stretch>
            <a:fillRect/>
          </a:stretch>
        </p:blipFill>
        <p:spPr>
          <a:xfrm>
            <a:off x="320040" y="1552960"/>
            <a:ext cx="4297680" cy="1721461"/>
          </a:xfrm>
          <a:prstGeom prst="rect">
            <a:avLst/>
          </a:prstGeom>
        </p:spPr>
      </p:pic>
      <p:sp>
        <p:nvSpPr>
          <p:cNvPr id="13" name="Shape 11"/>
          <p:cNvSpPr/>
          <p:nvPr/>
        </p:nvSpPr>
        <p:spPr>
          <a:xfrm>
            <a:off x="320040" y="2304288"/>
            <a:ext cx="8503920" cy="0"/>
          </a:xfrm>
          <a:prstGeom prst="line">
            <a:avLst/>
          </a:prstGeom>
          <a:noFill/>
          <a:ln w="12700">
            <a:solidFill>
              <a:srgbClr val="CADCFC"/>
            </a:solidFill>
            <a:prstDash val="soli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1487" y="196483"/>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1 — PORTFOLIO BACKTEST</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Backtest Results: Fractile Returns, IC, IR, Hit Rate</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Text 5"/>
          <p:cNvSpPr/>
          <p:nvPr/>
        </p:nvSpPr>
        <p:spPr>
          <a:xfrm>
            <a:off x="320040" y="1261872"/>
            <a:ext cx="8503920" cy="256032"/>
          </a:xfrm>
          <a:prstGeom prst="rect">
            <a:avLst/>
          </a:prstGeom>
          <a:noFill/>
          <a:ln/>
        </p:spPr>
        <p:txBody>
          <a:bodyPr wrap="square" lIns="38100" tIns="38100" rIns="38100" bIns="38100" rtlCol="0" anchor="t"/>
          <a:lstStyle/>
          <a:p>
            <a:pPr marL="0" indent="0" algn="l">
              <a:buNone/>
            </a:pPr>
            <a:r>
              <a:rPr lang="en-US" sz="1000" dirty="0">
                <a:solidFill>
                  <a:srgbClr val="8A9BC1"/>
                </a:solidFill>
                <a:latin typeface="Calibri" pitchFamily="34" charset="0"/>
                <a:ea typeface="Calibri" pitchFamily="34" charset="-122"/>
                <a:cs typeface="Calibri" pitchFamily="34" charset="-120"/>
              </a:rPr>
              <a:t>Fractile returns — LM signal sorted quintiles (post-FOMC, N=22 meetings)</a:t>
            </a:r>
            <a:endParaRPr lang="en-US" sz="1000" dirty="0"/>
          </a:p>
        </p:txBody>
      </p:sp>
      <p:sp>
        <p:nvSpPr>
          <p:cNvPr id="8" name="Shape 6"/>
          <p:cNvSpPr/>
          <p:nvPr/>
        </p:nvSpPr>
        <p:spPr>
          <a:xfrm>
            <a:off x="320040" y="1572768"/>
            <a:ext cx="1243584" cy="292608"/>
          </a:xfrm>
          <a:prstGeom prst="roundRect">
            <a:avLst>
              <a:gd name="adj" fmla="val 9375"/>
            </a:avLst>
          </a:prstGeom>
          <a:solidFill>
            <a:srgbClr val="1E2761"/>
          </a:solidFill>
          <a:ln/>
        </p:spPr>
        <p:txBody>
          <a:bodyPr/>
          <a:lstStyle/>
          <a:p>
            <a:endParaRPr lang="en-US"/>
          </a:p>
        </p:txBody>
      </p:sp>
      <p:sp>
        <p:nvSpPr>
          <p:cNvPr id="9" name="Text 7"/>
          <p:cNvSpPr/>
          <p:nvPr/>
        </p:nvSpPr>
        <p:spPr>
          <a:xfrm>
            <a:off x="320040" y="1572768"/>
            <a:ext cx="124358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ETF</a:t>
            </a:r>
            <a:endParaRPr lang="en-US" sz="900" dirty="0"/>
          </a:p>
        </p:txBody>
      </p:sp>
      <p:sp>
        <p:nvSpPr>
          <p:cNvPr id="10" name="Shape 8"/>
          <p:cNvSpPr/>
          <p:nvPr/>
        </p:nvSpPr>
        <p:spPr>
          <a:xfrm>
            <a:off x="1627632" y="1572768"/>
            <a:ext cx="649224" cy="292608"/>
          </a:xfrm>
          <a:prstGeom prst="roundRect">
            <a:avLst>
              <a:gd name="adj" fmla="val 9375"/>
            </a:avLst>
          </a:prstGeom>
          <a:solidFill>
            <a:srgbClr val="1E2761"/>
          </a:solidFill>
          <a:ln/>
        </p:spPr>
        <p:txBody>
          <a:bodyPr/>
          <a:lstStyle/>
          <a:p>
            <a:endParaRPr lang="en-US"/>
          </a:p>
        </p:txBody>
      </p:sp>
      <p:sp>
        <p:nvSpPr>
          <p:cNvPr id="11" name="Text 9"/>
          <p:cNvSpPr/>
          <p:nvPr/>
        </p:nvSpPr>
        <p:spPr>
          <a:xfrm>
            <a:off x="1627632" y="1572768"/>
            <a:ext cx="64922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F1</a:t>
            </a:r>
            <a:endParaRPr lang="en-US" sz="900" dirty="0"/>
          </a:p>
        </p:txBody>
      </p:sp>
      <p:sp>
        <p:nvSpPr>
          <p:cNvPr id="12" name="Shape 10"/>
          <p:cNvSpPr/>
          <p:nvPr/>
        </p:nvSpPr>
        <p:spPr>
          <a:xfrm>
            <a:off x="2340864" y="1572768"/>
            <a:ext cx="649224" cy="292608"/>
          </a:xfrm>
          <a:prstGeom prst="roundRect">
            <a:avLst>
              <a:gd name="adj" fmla="val 9375"/>
            </a:avLst>
          </a:prstGeom>
          <a:solidFill>
            <a:srgbClr val="1E2761"/>
          </a:solidFill>
          <a:ln/>
        </p:spPr>
        <p:txBody>
          <a:bodyPr/>
          <a:lstStyle/>
          <a:p>
            <a:endParaRPr lang="en-US"/>
          </a:p>
        </p:txBody>
      </p:sp>
      <p:sp>
        <p:nvSpPr>
          <p:cNvPr id="13" name="Text 11"/>
          <p:cNvSpPr/>
          <p:nvPr/>
        </p:nvSpPr>
        <p:spPr>
          <a:xfrm>
            <a:off x="2340864" y="1572768"/>
            <a:ext cx="64922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F2</a:t>
            </a:r>
            <a:endParaRPr lang="en-US" sz="900" dirty="0"/>
          </a:p>
        </p:txBody>
      </p:sp>
      <p:sp>
        <p:nvSpPr>
          <p:cNvPr id="14" name="Shape 12"/>
          <p:cNvSpPr/>
          <p:nvPr/>
        </p:nvSpPr>
        <p:spPr>
          <a:xfrm>
            <a:off x="3054096" y="1572768"/>
            <a:ext cx="649224" cy="292608"/>
          </a:xfrm>
          <a:prstGeom prst="roundRect">
            <a:avLst>
              <a:gd name="adj" fmla="val 9375"/>
            </a:avLst>
          </a:prstGeom>
          <a:solidFill>
            <a:srgbClr val="1E2761"/>
          </a:solidFill>
          <a:ln/>
        </p:spPr>
        <p:txBody>
          <a:bodyPr/>
          <a:lstStyle/>
          <a:p>
            <a:endParaRPr lang="en-US"/>
          </a:p>
        </p:txBody>
      </p:sp>
      <p:sp>
        <p:nvSpPr>
          <p:cNvPr id="15" name="Text 13"/>
          <p:cNvSpPr/>
          <p:nvPr/>
        </p:nvSpPr>
        <p:spPr>
          <a:xfrm>
            <a:off x="3054096" y="1572768"/>
            <a:ext cx="64922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F3</a:t>
            </a:r>
            <a:endParaRPr lang="en-US" sz="900" dirty="0"/>
          </a:p>
        </p:txBody>
      </p:sp>
      <p:sp>
        <p:nvSpPr>
          <p:cNvPr id="16" name="Shape 14"/>
          <p:cNvSpPr/>
          <p:nvPr/>
        </p:nvSpPr>
        <p:spPr>
          <a:xfrm>
            <a:off x="3767328" y="1572768"/>
            <a:ext cx="649224" cy="292608"/>
          </a:xfrm>
          <a:prstGeom prst="roundRect">
            <a:avLst>
              <a:gd name="adj" fmla="val 9375"/>
            </a:avLst>
          </a:prstGeom>
          <a:solidFill>
            <a:srgbClr val="1E2761"/>
          </a:solidFill>
          <a:ln/>
        </p:spPr>
        <p:txBody>
          <a:bodyPr/>
          <a:lstStyle/>
          <a:p>
            <a:endParaRPr lang="en-US"/>
          </a:p>
        </p:txBody>
      </p:sp>
      <p:sp>
        <p:nvSpPr>
          <p:cNvPr id="17" name="Text 15"/>
          <p:cNvSpPr/>
          <p:nvPr/>
        </p:nvSpPr>
        <p:spPr>
          <a:xfrm>
            <a:off x="3767328" y="1572768"/>
            <a:ext cx="64922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F4</a:t>
            </a:r>
            <a:endParaRPr lang="en-US" sz="900" dirty="0"/>
          </a:p>
        </p:txBody>
      </p:sp>
      <p:sp>
        <p:nvSpPr>
          <p:cNvPr id="18" name="Shape 16"/>
          <p:cNvSpPr/>
          <p:nvPr/>
        </p:nvSpPr>
        <p:spPr>
          <a:xfrm>
            <a:off x="4480560" y="1572768"/>
            <a:ext cx="649224" cy="292608"/>
          </a:xfrm>
          <a:prstGeom prst="roundRect">
            <a:avLst>
              <a:gd name="adj" fmla="val 9375"/>
            </a:avLst>
          </a:prstGeom>
          <a:solidFill>
            <a:srgbClr val="1E2761"/>
          </a:solidFill>
          <a:ln/>
        </p:spPr>
        <p:txBody>
          <a:bodyPr/>
          <a:lstStyle/>
          <a:p>
            <a:endParaRPr lang="en-US"/>
          </a:p>
        </p:txBody>
      </p:sp>
      <p:sp>
        <p:nvSpPr>
          <p:cNvPr id="19" name="Text 17"/>
          <p:cNvSpPr/>
          <p:nvPr/>
        </p:nvSpPr>
        <p:spPr>
          <a:xfrm>
            <a:off x="4480560" y="1572768"/>
            <a:ext cx="64922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F5</a:t>
            </a:r>
            <a:endParaRPr lang="en-US" sz="900" dirty="0"/>
          </a:p>
        </p:txBody>
      </p:sp>
      <p:sp>
        <p:nvSpPr>
          <p:cNvPr id="20" name="Shape 18"/>
          <p:cNvSpPr/>
          <p:nvPr/>
        </p:nvSpPr>
        <p:spPr>
          <a:xfrm>
            <a:off x="5193792" y="1572768"/>
            <a:ext cx="740664" cy="292608"/>
          </a:xfrm>
          <a:prstGeom prst="roundRect">
            <a:avLst>
              <a:gd name="adj" fmla="val 9375"/>
            </a:avLst>
          </a:prstGeom>
          <a:solidFill>
            <a:srgbClr val="1E2761"/>
          </a:solidFill>
          <a:ln/>
        </p:spPr>
        <p:txBody>
          <a:bodyPr/>
          <a:lstStyle/>
          <a:p>
            <a:endParaRPr lang="en-US"/>
          </a:p>
        </p:txBody>
      </p:sp>
      <p:sp>
        <p:nvSpPr>
          <p:cNvPr id="21" name="Text 19"/>
          <p:cNvSpPr/>
          <p:nvPr/>
        </p:nvSpPr>
        <p:spPr>
          <a:xfrm>
            <a:off x="5193792" y="1572768"/>
            <a:ext cx="740664"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Bench</a:t>
            </a:r>
            <a:endParaRPr lang="en-US" sz="900" dirty="0"/>
          </a:p>
        </p:txBody>
      </p:sp>
      <p:sp>
        <p:nvSpPr>
          <p:cNvPr id="22" name="Shape 20"/>
          <p:cNvSpPr/>
          <p:nvPr/>
        </p:nvSpPr>
        <p:spPr>
          <a:xfrm>
            <a:off x="5998464" y="1572768"/>
            <a:ext cx="713232" cy="292608"/>
          </a:xfrm>
          <a:prstGeom prst="roundRect">
            <a:avLst>
              <a:gd name="adj" fmla="val 9375"/>
            </a:avLst>
          </a:prstGeom>
          <a:solidFill>
            <a:srgbClr val="1E2761"/>
          </a:solidFill>
          <a:ln/>
        </p:spPr>
        <p:txBody>
          <a:bodyPr/>
          <a:lstStyle/>
          <a:p>
            <a:endParaRPr lang="en-US"/>
          </a:p>
        </p:txBody>
      </p:sp>
      <p:sp>
        <p:nvSpPr>
          <p:cNvPr id="23" name="Text 21"/>
          <p:cNvSpPr/>
          <p:nvPr/>
        </p:nvSpPr>
        <p:spPr>
          <a:xfrm>
            <a:off x="5998464" y="1572768"/>
            <a:ext cx="7132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F1−F5</a:t>
            </a:r>
            <a:endParaRPr lang="en-US" sz="900" dirty="0"/>
          </a:p>
        </p:txBody>
      </p:sp>
      <p:sp>
        <p:nvSpPr>
          <p:cNvPr id="24" name="Shape 22"/>
          <p:cNvSpPr/>
          <p:nvPr/>
        </p:nvSpPr>
        <p:spPr>
          <a:xfrm>
            <a:off x="6775704" y="1572768"/>
            <a:ext cx="713232" cy="292608"/>
          </a:xfrm>
          <a:prstGeom prst="roundRect">
            <a:avLst>
              <a:gd name="adj" fmla="val 9375"/>
            </a:avLst>
          </a:prstGeom>
          <a:solidFill>
            <a:srgbClr val="1E2761"/>
          </a:solidFill>
          <a:ln/>
        </p:spPr>
        <p:txBody>
          <a:bodyPr/>
          <a:lstStyle/>
          <a:p>
            <a:endParaRPr lang="en-US"/>
          </a:p>
        </p:txBody>
      </p:sp>
      <p:sp>
        <p:nvSpPr>
          <p:cNvPr id="25" name="Text 23"/>
          <p:cNvSpPr/>
          <p:nvPr/>
        </p:nvSpPr>
        <p:spPr>
          <a:xfrm>
            <a:off x="6775704" y="1572768"/>
            <a:ext cx="7132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F1−B</a:t>
            </a:r>
            <a:endParaRPr lang="en-US" sz="900" dirty="0"/>
          </a:p>
        </p:txBody>
      </p:sp>
      <p:sp>
        <p:nvSpPr>
          <p:cNvPr id="26" name="Shape 24"/>
          <p:cNvSpPr/>
          <p:nvPr/>
        </p:nvSpPr>
        <p:spPr>
          <a:xfrm>
            <a:off x="7552944" y="1572768"/>
            <a:ext cx="713232" cy="292608"/>
          </a:xfrm>
          <a:prstGeom prst="roundRect">
            <a:avLst>
              <a:gd name="adj" fmla="val 9375"/>
            </a:avLst>
          </a:prstGeom>
          <a:solidFill>
            <a:srgbClr val="1E2761"/>
          </a:solidFill>
          <a:ln/>
        </p:spPr>
        <p:txBody>
          <a:bodyPr/>
          <a:lstStyle/>
          <a:p>
            <a:endParaRPr lang="en-US"/>
          </a:p>
        </p:txBody>
      </p:sp>
      <p:sp>
        <p:nvSpPr>
          <p:cNvPr id="27" name="Text 25"/>
          <p:cNvSpPr/>
          <p:nvPr/>
        </p:nvSpPr>
        <p:spPr>
          <a:xfrm>
            <a:off x="7552944" y="1572768"/>
            <a:ext cx="71323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B−F5</a:t>
            </a:r>
            <a:endParaRPr lang="en-US" sz="900" dirty="0"/>
          </a:p>
        </p:txBody>
      </p:sp>
      <p:sp>
        <p:nvSpPr>
          <p:cNvPr id="28" name="Shape 26"/>
          <p:cNvSpPr/>
          <p:nvPr/>
        </p:nvSpPr>
        <p:spPr>
          <a:xfrm>
            <a:off x="320040" y="1920240"/>
            <a:ext cx="1243584" cy="347472"/>
          </a:xfrm>
          <a:prstGeom prst="roundRect">
            <a:avLst>
              <a:gd name="adj" fmla="val 5263"/>
            </a:avLst>
          </a:prstGeom>
          <a:solidFill>
            <a:srgbClr val="F4F6FB"/>
          </a:solidFill>
          <a:ln/>
        </p:spPr>
        <p:txBody>
          <a:bodyPr/>
          <a:lstStyle/>
          <a:p>
            <a:endParaRPr lang="en-US"/>
          </a:p>
        </p:txBody>
      </p:sp>
      <p:sp>
        <p:nvSpPr>
          <p:cNvPr id="29" name="Text 27"/>
          <p:cNvSpPr/>
          <p:nvPr/>
        </p:nvSpPr>
        <p:spPr>
          <a:xfrm>
            <a:off x="356616" y="1920240"/>
            <a:ext cx="120700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TLT 5d</a:t>
            </a:r>
            <a:endParaRPr lang="en-US" sz="1000" dirty="0"/>
          </a:p>
        </p:txBody>
      </p:sp>
      <p:sp>
        <p:nvSpPr>
          <p:cNvPr id="30" name="Shape 28"/>
          <p:cNvSpPr/>
          <p:nvPr/>
        </p:nvSpPr>
        <p:spPr>
          <a:xfrm>
            <a:off x="1627632" y="1920240"/>
            <a:ext cx="649224" cy="347472"/>
          </a:xfrm>
          <a:prstGeom prst="roundRect">
            <a:avLst>
              <a:gd name="adj" fmla="val 5263"/>
            </a:avLst>
          </a:prstGeom>
          <a:solidFill>
            <a:srgbClr val="F4F6FB"/>
          </a:solidFill>
          <a:ln/>
        </p:spPr>
        <p:txBody>
          <a:bodyPr/>
          <a:lstStyle/>
          <a:p>
            <a:endParaRPr lang="en-US"/>
          </a:p>
        </p:txBody>
      </p:sp>
      <p:sp>
        <p:nvSpPr>
          <p:cNvPr id="31" name="Text 29"/>
          <p:cNvSpPr/>
          <p:nvPr/>
        </p:nvSpPr>
        <p:spPr>
          <a:xfrm>
            <a:off x="1664208" y="1920240"/>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−1.42%</a:t>
            </a:r>
            <a:endParaRPr lang="en-US" sz="1000" dirty="0"/>
          </a:p>
        </p:txBody>
      </p:sp>
      <p:sp>
        <p:nvSpPr>
          <p:cNvPr id="32" name="Shape 30"/>
          <p:cNvSpPr/>
          <p:nvPr/>
        </p:nvSpPr>
        <p:spPr>
          <a:xfrm>
            <a:off x="2340864" y="1920240"/>
            <a:ext cx="649224" cy="347472"/>
          </a:xfrm>
          <a:prstGeom prst="roundRect">
            <a:avLst>
              <a:gd name="adj" fmla="val 5263"/>
            </a:avLst>
          </a:prstGeom>
          <a:solidFill>
            <a:srgbClr val="F4F6FB"/>
          </a:solidFill>
          <a:ln/>
        </p:spPr>
        <p:txBody>
          <a:bodyPr/>
          <a:lstStyle/>
          <a:p>
            <a:endParaRPr lang="en-US"/>
          </a:p>
        </p:txBody>
      </p:sp>
      <p:sp>
        <p:nvSpPr>
          <p:cNvPr id="33" name="Text 31"/>
          <p:cNvSpPr/>
          <p:nvPr/>
        </p:nvSpPr>
        <p:spPr>
          <a:xfrm>
            <a:off x="2377440" y="1920240"/>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0.10%</a:t>
            </a:r>
            <a:endParaRPr lang="en-US" sz="1000" dirty="0"/>
          </a:p>
        </p:txBody>
      </p:sp>
      <p:sp>
        <p:nvSpPr>
          <p:cNvPr id="34" name="Shape 32"/>
          <p:cNvSpPr/>
          <p:nvPr/>
        </p:nvSpPr>
        <p:spPr>
          <a:xfrm>
            <a:off x="3054096" y="1920240"/>
            <a:ext cx="649224" cy="347472"/>
          </a:xfrm>
          <a:prstGeom prst="roundRect">
            <a:avLst>
              <a:gd name="adj" fmla="val 5263"/>
            </a:avLst>
          </a:prstGeom>
          <a:solidFill>
            <a:srgbClr val="F4F6FB"/>
          </a:solidFill>
          <a:ln/>
        </p:spPr>
        <p:txBody>
          <a:bodyPr/>
          <a:lstStyle/>
          <a:p>
            <a:endParaRPr lang="en-US"/>
          </a:p>
        </p:txBody>
      </p:sp>
      <p:sp>
        <p:nvSpPr>
          <p:cNvPr id="35" name="Text 33"/>
          <p:cNvSpPr/>
          <p:nvPr/>
        </p:nvSpPr>
        <p:spPr>
          <a:xfrm>
            <a:off x="3090672" y="1920240"/>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0.46%</a:t>
            </a:r>
            <a:endParaRPr lang="en-US" sz="1000" dirty="0"/>
          </a:p>
        </p:txBody>
      </p:sp>
      <p:sp>
        <p:nvSpPr>
          <p:cNvPr id="36" name="Shape 34"/>
          <p:cNvSpPr/>
          <p:nvPr/>
        </p:nvSpPr>
        <p:spPr>
          <a:xfrm>
            <a:off x="3767328" y="1920240"/>
            <a:ext cx="649224" cy="347472"/>
          </a:xfrm>
          <a:prstGeom prst="roundRect">
            <a:avLst>
              <a:gd name="adj" fmla="val 5263"/>
            </a:avLst>
          </a:prstGeom>
          <a:solidFill>
            <a:srgbClr val="F4F6FB"/>
          </a:solidFill>
          <a:ln/>
        </p:spPr>
        <p:txBody>
          <a:bodyPr/>
          <a:lstStyle/>
          <a:p>
            <a:endParaRPr lang="en-US"/>
          </a:p>
        </p:txBody>
      </p:sp>
      <p:sp>
        <p:nvSpPr>
          <p:cNvPr id="37" name="Text 35"/>
          <p:cNvSpPr/>
          <p:nvPr/>
        </p:nvSpPr>
        <p:spPr>
          <a:xfrm>
            <a:off x="3803904" y="1920240"/>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0.19%</a:t>
            </a:r>
            <a:endParaRPr lang="en-US" sz="1000" dirty="0"/>
          </a:p>
        </p:txBody>
      </p:sp>
      <p:sp>
        <p:nvSpPr>
          <p:cNvPr id="38" name="Shape 36"/>
          <p:cNvSpPr/>
          <p:nvPr/>
        </p:nvSpPr>
        <p:spPr>
          <a:xfrm>
            <a:off x="4480560" y="1920240"/>
            <a:ext cx="649224" cy="347472"/>
          </a:xfrm>
          <a:prstGeom prst="roundRect">
            <a:avLst>
              <a:gd name="adj" fmla="val 5263"/>
            </a:avLst>
          </a:prstGeom>
          <a:solidFill>
            <a:srgbClr val="F4F6FB"/>
          </a:solidFill>
          <a:ln/>
        </p:spPr>
        <p:txBody>
          <a:bodyPr/>
          <a:lstStyle/>
          <a:p>
            <a:endParaRPr lang="en-US"/>
          </a:p>
        </p:txBody>
      </p:sp>
      <p:sp>
        <p:nvSpPr>
          <p:cNvPr id="39" name="Text 37"/>
          <p:cNvSpPr/>
          <p:nvPr/>
        </p:nvSpPr>
        <p:spPr>
          <a:xfrm>
            <a:off x="4517136" y="1920240"/>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−0.08%</a:t>
            </a:r>
            <a:endParaRPr lang="en-US" sz="1000" dirty="0"/>
          </a:p>
        </p:txBody>
      </p:sp>
      <p:sp>
        <p:nvSpPr>
          <p:cNvPr id="40" name="Shape 38"/>
          <p:cNvSpPr/>
          <p:nvPr/>
        </p:nvSpPr>
        <p:spPr>
          <a:xfrm>
            <a:off x="5193792" y="1920240"/>
            <a:ext cx="740664" cy="347472"/>
          </a:xfrm>
          <a:prstGeom prst="roundRect">
            <a:avLst>
              <a:gd name="adj" fmla="val 5263"/>
            </a:avLst>
          </a:prstGeom>
          <a:solidFill>
            <a:srgbClr val="F4F6FB"/>
          </a:solidFill>
          <a:ln/>
        </p:spPr>
        <p:txBody>
          <a:bodyPr/>
          <a:lstStyle/>
          <a:p>
            <a:endParaRPr lang="en-US"/>
          </a:p>
        </p:txBody>
      </p:sp>
      <p:sp>
        <p:nvSpPr>
          <p:cNvPr id="41" name="Text 39"/>
          <p:cNvSpPr/>
          <p:nvPr/>
        </p:nvSpPr>
        <p:spPr>
          <a:xfrm>
            <a:off x="5230368" y="1920240"/>
            <a:ext cx="704088"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−0.20%</a:t>
            </a:r>
            <a:endParaRPr lang="en-US" sz="1000" dirty="0"/>
          </a:p>
        </p:txBody>
      </p:sp>
      <p:sp>
        <p:nvSpPr>
          <p:cNvPr id="42" name="Shape 40"/>
          <p:cNvSpPr/>
          <p:nvPr/>
        </p:nvSpPr>
        <p:spPr>
          <a:xfrm>
            <a:off x="5998464" y="1920240"/>
            <a:ext cx="713232" cy="347472"/>
          </a:xfrm>
          <a:prstGeom prst="roundRect">
            <a:avLst>
              <a:gd name="adj" fmla="val 5263"/>
            </a:avLst>
          </a:prstGeom>
          <a:solidFill>
            <a:srgbClr val="F4F6FB"/>
          </a:solidFill>
          <a:ln/>
        </p:spPr>
        <p:txBody>
          <a:bodyPr/>
          <a:lstStyle/>
          <a:p>
            <a:endParaRPr lang="en-US"/>
          </a:p>
        </p:txBody>
      </p:sp>
      <p:sp>
        <p:nvSpPr>
          <p:cNvPr id="43" name="Text 41"/>
          <p:cNvSpPr/>
          <p:nvPr/>
        </p:nvSpPr>
        <p:spPr>
          <a:xfrm>
            <a:off x="6035040" y="1920240"/>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−1.34%</a:t>
            </a:r>
            <a:endParaRPr lang="en-US" sz="1000" dirty="0"/>
          </a:p>
        </p:txBody>
      </p:sp>
      <p:sp>
        <p:nvSpPr>
          <p:cNvPr id="44" name="Shape 42"/>
          <p:cNvSpPr/>
          <p:nvPr/>
        </p:nvSpPr>
        <p:spPr>
          <a:xfrm>
            <a:off x="6775704" y="1920240"/>
            <a:ext cx="713232" cy="347472"/>
          </a:xfrm>
          <a:prstGeom prst="roundRect">
            <a:avLst>
              <a:gd name="adj" fmla="val 5263"/>
            </a:avLst>
          </a:prstGeom>
          <a:solidFill>
            <a:srgbClr val="F4F6FB"/>
          </a:solidFill>
          <a:ln/>
        </p:spPr>
        <p:txBody>
          <a:bodyPr/>
          <a:lstStyle/>
          <a:p>
            <a:endParaRPr lang="en-US"/>
          </a:p>
        </p:txBody>
      </p:sp>
      <p:sp>
        <p:nvSpPr>
          <p:cNvPr id="45" name="Text 43"/>
          <p:cNvSpPr/>
          <p:nvPr/>
        </p:nvSpPr>
        <p:spPr>
          <a:xfrm>
            <a:off x="6812280" y="1920240"/>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−1.22%</a:t>
            </a:r>
            <a:endParaRPr lang="en-US" sz="1000" dirty="0"/>
          </a:p>
        </p:txBody>
      </p:sp>
      <p:sp>
        <p:nvSpPr>
          <p:cNvPr id="46" name="Shape 44"/>
          <p:cNvSpPr/>
          <p:nvPr/>
        </p:nvSpPr>
        <p:spPr>
          <a:xfrm>
            <a:off x="7552944" y="1920240"/>
            <a:ext cx="713232" cy="347472"/>
          </a:xfrm>
          <a:prstGeom prst="roundRect">
            <a:avLst>
              <a:gd name="adj" fmla="val 5263"/>
            </a:avLst>
          </a:prstGeom>
          <a:solidFill>
            <a:srgbClr val="F4F6FB"/>
          </a:solidFill>
          <a:ln/>
        </p:spPr>
        <p:txBody>
          <a:bodyPr/>
          <a:lstStyle/>
          <a:p>
            <a:endParaRPr lang="en-US"/>
          </a:p>
        </p:txBody>
      </p:sp>
      <p:sp>
        <p:nvSpPr>
          <p:cNvPr id="47" name="Text 45"/>
          <p:cNvSpPr/>
          <p:nvPr/>
        </p:nvSpPr>
        <p:spPr>
          <a:xfrm>
            <a:off x="7589520" y="1920240"/>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−0.12%</a:t>
            </a:r>
            <a:endParaRPr lang="en-US" sz="1000" dirty="0"/>
          </a:p>
        </p:txBody>
      </p:sp>
      <p:sp>
        <p:nvSpPr>
          <p:cNvPr id="48" name="Shape 46"/>
          <p:cNvSpPr/>
          <p:nvPr/>
        </p:nvSpPr>
        <p:spPr>
          <a:xfrm>
            <a:off x="320040" y="2304288"/>
            <a:ext cx="1243584" cy="347472"/>
          </a:xfrm>
          <a:prstGeom prst="roundRect">
            <a:avLst>
              <a:gd name="adj" fmla="val 5263"/>
            </a:avLst>
          </a:prstGeom>
          <a:solidFill>
            <a:srgbClr val="FFFFFF"/>
          </a:solidFill>
          <a:ln/>
        </p:spPr>
        <p:txBody>
          <a:bodyPr/>
          <a:lstStyle/>
          <a:p>
            <a:endParaRPr lang="en-US"/>
          </a:p>
        </p:txBody>
      </p:sp>
      <p:sp>
        <p:nvSpPr>
          <p:cNvPr id="49" name="Text 47"/>
          <p:cNvSpPr/>
          <p:nvPr/>
        </p:nvSpPr>
        <p:spPr>
          <a:xfrm>
            <a:off x="356616" y="2304288"/>
            <a:ext cx="120700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IEF 5d</a:t>
            </a:r>
            <a:endParaRPr lang="en-US" sz="1000" dirty="0"/>
          </a:p>
        </p:txBody>
      </p:sp>
      <p:sp>
        <p:nvSpPr>
          <p:cNvPr id="50" name="Shape 48"/>
          <p:cNvSpPr/>
          <p:nvPr/>
        </p:nvSpPr>
        <p:spPr>
          <a:xfrm>
            <a:off x="1627632" y="2304288"/>
            <a:ext cx="649224" cy="347472"/>
          </a:xfrm>
          <a:prstGeom prst="roundRect">
            <a:avLst>
              <a:gd name="adj" fmla="val 5263"/>
            </a:avLst>
          </a:prstGeom>
          <a:solidFill>
            <a:srgbClr val="FFFFFF"/>
          </a:solidFill>
          <a:ln/>
        </p:spPr>
        <p:txBody>
          <a:bodyPr/>
          <a:lstStyle/>
          <a:p>
            <a:endParaRPr lang="en-US"/>
          </a:p>
        </p:txBody>
      </p:sp>
      <p:sp>
        <p:nvSpPr>
          <p:cNvPr id="51" name="Text 49"/>
          <p:cNvSpPr/>
          <p:nvPr/>
        </p:nvSpPr>
        <p:spPr>
          <a:xfrm>
            <a:off x="1664208" y="2304288"/>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−0.36%</a:t>
            </a:r>
            <a:endParaRPr lang="en-US" sz="1000" dirty="0"/>
          </a:p>
        </p:txBody>
      </p:sp>
      <p:sp>
        <p:nvSpPr>
          <p:cNvPr id="52" name="Shape 50"/>
          <p:cNvSpPr/>
          <p:nvPr/>
        </p:nvSpPr>
        <p:spPr>
          <a:xfrm>
            <a:off x="2340864" y="2304288"/>
            <a:ext cx="649224" cy="347472"/>
          </a:xfrm>
          <a:prstGeom prst="roundRect">
            <a:avLst>
              <a:gd name="adj" fmla="val 5263"/>
            </a:avLst>
          </a:prstGeom>
          <a:solidFill>
            <a:srgbClr val="FFFFFF"/>
          </a:solidFill>
          <a:ln/>
        </p:spPr>
        <p:txBody>
          <a:bodyPr/>
          <a:lstStyle/>
          <a:p>
            <a:endParaRPr lang="en-US"/>
          </a:p>
        </p:txBody>
      </p:sp>
      <p:sp>
        <p:nvSpPr>
          <p:cNvPr id="53" name="Text 51"/>
          <p:cNvSpPr/>
          <p:nvPr/>
        </p:nvSpPr>
        <p:spPr>
          <a:xfrm>
            <a:off x="2377440" y="2304288"/>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0.13%</a:t>
            </a:r>
            <a:endParaRPr lang="en-US" sz="1000" dirty="0"/>
          </a:p>
        </p:txBody>
      </p:sp>
      <p:sp>
        <p:nvSpPr>
          <p:cNvPr id="54" name="Shape 52"/>
          <p:cNvSpPr/>
          <p:nvPr/>
        </p:nvSpPr>
        <p:spPr>
          <a:xfrm>
            <a:off x="3054096" y="2304288"/>
            <a:ext cx="649224" cy="347472"/>
          </a:xfrm>
          <a:prstGeom prst="roundRect">
            <a:avLst>
              <a:gd name="adj" fmla="val 5263"/>
            </a:avLst>
          </a:prstGeom>
          <a:solidFill>
            <a:srgbClr val="FFFFFF"/>
          </a:solidFill>
          <a:ln/>
        </p:spPr>
        <p:txBody>
          <a:bodyPr/>
          <a:lstStyle/>
          <a:p>
            <a:endParaRPr lang="en-US"/>
          </a:p>
        </p:txBody>
      </p:sp>
      <p:sp>
        <p:nvSpPr>
          <p:cNvPr id="55" name="Text 53"/>
          <p:cNvSpPr/>
          <p:nvPr/>
        </p:nvSpPr>
        <p:spPr>
          <a:xfrm>
            <a:off x="3090672" y="2304288"/>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0.36%</a:t>
            </a:r>
            <a:endParaRPr lang="en-US" sz="1000" dirty="0"/>
          </a:p>
        </p:txBody>
      </p:sp>
      <p:sp>
        <p:nvSpPr>
          <p:cNvPr id="56" name="Shape 54"/>
          <p:cNvSpPr/>
          <p:nvPr/>
        </p:nvSpPr>
        <p:spPr>
          <a:xfrm>
            <a:off x="3767328" y="2304288"/>
            <a:ext cx="649224" cy="347472"/>
          </a:xfrm>
          <a:prstGeom prst="roundRect">
            <a:avLst>
              <a:gd name="adj" fmla="val 5263"/>
            </a:avLst>
          </a:prstGeom>
          <a:solidFill>
            <a:srgbClr val="FFFFFF"/>
          </a:solidFill>
          <a:ln/>
        </p:spPr>
        <p:txBody>
          <a:bodyPr/>
          <a:lstStyle/>
          <a:p>
            <a:endParaRPr lang="en-US"/>
          </a:p>
        </p:txBody>
      </p:sp>
      <p:sp>
        <p:nvSpPr>
          <p:cNvPr id="57" name="Text 55"/>
          <p:cNvSpPr/>
          <p:nvPr/>
        </p:nvSpPr>
        <p:spPr>
          <a:xfrm>
            <a:off x="3803904" y="2304288"/>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0.20%</a:t>
            </a:r>
            <a:endParaRPr lang="en-US" sz="1000" dirty="0"/>
          </a:p>
        </p:txBody>
      </p:sp>
      <p:sp>
        <p:nvSpPr>
          <p:cNvPr id="58" name="Shape 56"/>
          <p:cNvSpPr/>
          <p:nvPr/>
        </p:nvSpPr>
        <p:spPr>
          <a:xfrm>
            <a:off x="4480560" y="2304288"/>
            <a:ext cx="649224" cy="347472"/>
          </a:xfrm>
          <a:prstGeom prst="roundRect">
            <a:avLst>
              <a:gd name="adj" fmla="val 5263"/>
            </a:avLst>
          </a:prstGeom>
          <a:solidFill>
            <a:srgbClr val="FFFFFF"/>
          </a:solidFill>
          <a:ln/>
        </p:spPr>
        <p:txBody>
          <a:bodyPr/>
          <a:lstStyle/>
          <a:p>
            <a:endParaRPr lang="en-US"/>
          </a:p>
        </p:txBody>
      </p:sp>
      <p:sp>
        <p:nvSpPr>
          <p:cNvPr id="59" name="Text 57"/>
          <p:cNvSpPr/>
          <p:nvPr/>
        </p:nvSpPr>
        <p:spPr>
          <a:xfrm>
            <a:off x="4517136" y="2304288"/>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0.03%</a:t>
            </a:r>
            <a:endParaRPr lang="en-US" sz="1000" dirty="0"/>
          </a:p>
        </p:txBody>
      </p:sp>
      <p:sp>
        <p:nvSpPr>
          <p:cNvPr id="60" name="Shape 58"/>
          <p:cNvSpPr/>
          <p:nvPr/>
        </p:nvSpPr>
        <p:spPr>
          <a:xfrm>
            <a:off x="5193792" y="2304288"/>
            <a:ext cx="740664" cy="347472"/>
          </a:xfrm>
          <a:prstGeom prst="roundRect">
            <a:avLst>
              <a:gd name="adj" fmla="val 5263"/>
            </a:avLst>
          </a:prstGeom>
          <a:solidFill>
            <a:srgbClr val="FFFFFF"/>
          </a:solidFill>
          <a:ln/>
        </p:spPr>
        <p:txBody>
          <a:bodyPr/>
          <a:lstStyle/>
          <a:p>
            <a:endParaRPr lang="en-US"/>
          </a:p>
        </p:txBody>
      </p:sp>
      <p:sp>
        <p:nvSpPr>
          <p:cNvPr id="61" name="Text 59"/>
          <p:cNvSpPr/>
          <p:nvPr/>
        </p:nvSpPr>
        <p:spPr>
          <a:xfrm>
            <a:off x="5230368" y="2304288"/>
            <a:ext cx="704088"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0.06%</a:t>
            </a:r>
            <a:endParaRPr lang="en-US" sz="1000" dirty="0"/>
          </a:p>
        </p:txBody>
      </p:sp>
      <p:sp>
        <p:nvSpPr>
          <p:cNvPr id="62" name="Shape 60"/>
          <p:cNvSpPr/>
          <p:nvPr/>
        </p:nvSpPr>
        <p:spPr>
          <a:xfrm>
            <a:off x="5998464" y="2304288"/>
            <a:ext cx="713232" cy="347472"/>
          </a:xfrm>
          <a:prstGeom prst="roundRect">
            <a:avLst>
              <a:gd name="adj" fmla="val 5263"/>
            </a:avLst>
          </a:prstGeom>
          <a:solidFill>
            <a:srgbClr val="FFFFFF"/>
          </a:solidFill>
          <a:ln/>
        </p:spPr>
        <p:txBody>
          <a:bodyPr/>
          <a:lstStyle/>
          <a:p>
            <a:endParaRPr lang="en-US"/>
          </a:p>
        </p:txBody>
      </p:sp>
      <p:sp>
        <p:nvSpPr>
          <p:cNvPr id="63" name="Text 61"/>
          <p:cNvSpPr/>
          <p:nvPr/>
        </p:nvSpPr>
        <p:spPr>
          <a:xfrm>
            <a:off x="6035040" y="2304288"/>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−0.40%</a:t>
            </a:r>
            <a:endParaRPr lang="en-US" sz="1000" dirty="0"/>
          </a:p>
        </p:txBody>
      </p:sp>
      <p:sp>
        <p:nvSpPr>
          <p:cNvPr id="64" name="Shape 62"/>
          <p:cNvSpPr/>
          <p:nvPr/>
        </p:nvSpPr>
        <p:spPr>
          <a:xfrm>
            <a:off x="6775704" y="2304288"/>
            <a:ext cx="713232" cy="347472"/>
          </a:xfrm>
          <a:prstGeom prst="roundRect">
            <a:avLst>
              <a:gd name="adj" fmla="val 5263"/>
            </a:avLst>
          </a:prstGeom>
          <a:solidFill>
            <a:srgbClr val="FFFFFF"/>
          </a:solidFill>
          <a:ln/>
        </p:spPr>
        <p:txBody>
          <a:bodyPr/>
          <a:lstStyle/>
          <a:p>
            <a:endParaRPr lang="en-US"/>
          </a:p>
        </p:txBody>
      </p:sp>
      <p:sp>
        <p:nvSpPr>
          <p:cNvPr id="65" name="Text 63"/>
          <p:cNvSpPr/>
          <p:nvPr/>
        </p:nvSpPr>
        <p:spPr>
          <a:xfrm>
            <a:off x="6812280" y="2304288"/>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−0.42%</a:t>
            </a:r>
            <a:endParaRPr lang="en-US" sz="1000" dirty="0"/>
          </a:p>
        </p:txBody>
      </p:sp>
      <p:sp>
        <p:nvSpPr>
          <p:cNvPr id="66" name="Shape 64"/>
          <p:cNvSpPr/>
          <p:nvPr/>
        </p:nvSpPr>
        <p:spPr>
          <a:xfrm>
            <a:off x="7552944" y="2304288"/>
            <a:ext cx="713232" cy="347472"/>
          </a:xfrm>
          <a:prstGeom prst="roundRect">
            <a:avLst>
              <a:gd name="adj" fmla="val 5263"/>
            </a:avLst>
          </a:prstGeom>
          <a:solidFill>
            <a:srgbClr val="FFFFFF"/>
          </a:solidFill>
          <a:ln/>
        </p:spPr>
        <p:txBody>
          <a:bodyPr/>
          <a:lstStyle/>
          <a:p>
            <a:endParaRPr lang="en-US"/>
          </a:p>
        </p:txBody>
      </p:sp>
      <p:sp>
        <p:nvSpPr>
          <p:cNvPr id="67" name="Text 65"/>
          <p:cNvSpPr/>
          <p:nvPr/>
        </p:nvSpPr>
        <p:spPr>
          <a:xfrm>
            <a:off x="7589520" y="2304288"/>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0.02%</a:t>
            </a:r>
            <a:endParaRPr lang="en-US" sz="1000" dirty="0"/>
          </a:p>
        </p:txBody>
      </p:sp>
      <p:sp>
        <p:nvSpPr>
          <p:cNvPr id="68" name="Shape 66"/>
          <p:cNvSpPr/>
          <p:nvPr/>
        </p:nvSpPr>
        <p:spPr>
          <a:xfrm>
            <a:off x="320040" y="2688336"/>
            <a:ext cx="1243584" cy="347472"/>
          </a:xfrm>
          <a:prstGeom prst="roundRect">
            <a:avLst>
              <a:gd name="adj" fmla="val 5263"/>
            </a:avLst>
          </a:prstGeom>
          <a:solidFill>
            <a:srgbClr val="F4F6FB"/>
          </a:solidFill>
          <a:ln/>
        </p:spPr>
        <p:txBody>
          <a:bodyPr/>
          <a:lstStyle/>
          <a:p>
            <a:endParaRPr lang="en-US"/>
          </a:p>
        </p:txBody>
      </p:sp>
      <p:sp>
        <p:nvSpPr>
          <p:cNvPr id="69" name="Text 67"/>
          <p:cNvSpPr/>
          <p:nvPr/>
        </p:nvSpPr>
        <p:spPr>
          <a:xfrm>
            <a:off x="356616" y="2688336"/>
            <a:ext cx="120700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XLF 5d</a:t>
            </a:r>
            <a:endParaRPr lang="en-US" sz="1000" dirty="0"/>
          </a:p>
        </p:txBody>
      </p:sp>
      <p:sp>
        <p:nvSpPr>
          <p:cNvPr id="70" name="Shape 68"/>
          <p:cNvSpPr/>
          <p:nvPr/>
        </p:nvSpPr>
        <p:spPr>
          <a:xfrm>
            <a:off x="1627632" y="2688336"/>
            <a:ext cx="649224" cy="347472"/>
          </a:xfrm>
          <a:prstGeom prst="roundRect">
            <a:avLst>
              <a:gd name="adj" fmla="val 5263"/>
            </a:avLst>
          </a:prstGeom>
          <a:solidFill>
            <a:srgbClr val="F4F6FB"/>
          </a:solidFill>
          <a:ln/>
        </p:spPr>
        <p:txBody>
          <a:bodyPr/>
          <a:lstStyle/>
          <a:p>
            <a:endParaRPr lang="en-US"/>
          </a:p>
        </p:txBody>
      </p:sp>
      <p:sp>
        <p:nvSpPr>
          <p:cNvPr id="71" name="Text 69"/>
          <p:cNvSpPr/>
          <p:nvPr/>
        </p:nvSpPr>
        <p:spPr>
          <a:xfrm>
            <a:off x="1664208" y="2688336"/>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0.96%</a:t>
            </a:r>
            <a:endParaRPr lang="en-US" sz="1000" dirty="0"/>
          </a:p>
        </p:txBody>
      </p:sp>
      <p:sp>
        <p:nvSpPr>
          <p:cNvPr id="72" name="Shape 70"/>
          <p:cNvSpPr/>
          <p:nvPr/>
        </p:nvSpPr>
        <p:spPr>
          <a:xfrm>
            <a:off x="2340864" y="2688336"/>
            <a:ext cx="649224" cy="347472"/>
          </a:xfrm>
          <a:prstGeom prst="roundRect">
            <a:avLst>
              <a:gd name="adj" fmla="val 5263"/>
            </a:avLst>
          </a:prstGeom>
          <a:solidFill>
            <a:srgbClr val="F4F6FB"/>
          </a:solidFill>
          <a:ln/>
        </p:spPr>
        <p:txBody>
          <a:bodyPr/>
          <a:lstStyle/>
          <a:p>
            <a:endParaRPr lang="en-US"/>
          </a:p>
        </p:txBody>
      </p:sp>
      <p:sp>
        <p:nvSpPr>
          <p:cNvPr id="73" name="Text 71"/>
          <p:cNvSpPr/>
          <p:nvPr/>
        </p:nvSpPr>
        <p:spPr>
          <a:xfrm>
            <a:off x="2377440" y="2688336"/>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0.36%</a:t>
            </a:r>
            <a:endParaRPr lang="en-US" sz="1000" dirty="0"/>
          </a:p>
        </p:txBody>
      </p:sp>
      <p:sp>
        <p:nvSpPr>
          <p:cNvPr id="74" name="Shape 72"/>
          <p:cNvSpPr/>
          <p:nvPr/>
        </p:nvSpPr>
        <p:spPr>
          <a:xfrm>
            <a:off x="3054096" y="2688336"/>
            <a:ext cx="649224" cy="347472"/>
          </a:xfrm>
          <a:prstGeom prst="roundRect">
            <a:avLst>
              <a:gd name="adj" fmla="val 5263"/>
            </a:avLst>
          </a:prstGeom>
          <a:solidFill>
            <a:srgbClr val="F4F6FB"/>
          </a:solidFill>
          <a:ln/>
        </p:spPr>
        <p:txBody>
          <a:bodyPr/>
          <a:lstStyle/>
          <a:p>
            <a:endParaRPr lang="en-US"/>
          </a:p>
        </p:txBody>
      </p:sp>
      <p:sp>
        <p:nvSpPr>
          <p:cNvPr id="75" name="Text 73"/>
          <p:cNvSpPr/>
          <p:nvPr/>
        </p:nvSpPr>
        <p:spPr>
          <a:xfrm>
            <a:off x="3090672" y="2688336"/>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1.71%</a:t>
            </a:r>
            <a:endParaRPr lang="en-US" sz="1000" dirty="0"/>
          </a:p>
        </p:txBody>
      </p:sp>
      <p:sp>
        <p:nvSpPr>
          <p:cNvPr id="76" name="Shape 74"/>
          <p:cNvSpPr/>
          <p:nvPr/>
        </p:nvSpPr>
        <p:spPr>
          <a:xfrm>
            <a:off x="3767328" y="2688336"/>
            <a:ext cx="649224" cy="347472"/>
          </a:xfrm>
          <a:prstGeom prst="roundRect">
            <a:avLst>
              <a:gd name="adj" fmla="val 5263"/>
            </a:avLst>
          </a:prstGeom>
          <a:solidFill>
            <a:srgbClr val="F4F6FB"/>
          </a:solidFill>
          <a:ln/>
        </p:spPr>
        <p:txBody>
          <a:bodyPr/>
          <a:lstStyle/>
          <a:p>
            <a:endParaRPr lang="en-US"/>
          </a:p>
        </p:txBody>
      </p:sp>
      <p:sp>
        <p:nvSpPr>
          <p:cNvPr id="77" name="Text 75"/>
          <p:cNvSpPr/>
          <p:nvPr/>
        </p:nvSpPr>
        <p:spPr>
          <a:xfrm>
            <a:off x="3803904" y="2688336"/>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0.60%</a:t>
            </a:r>
            <a:endParaRPr lang="en-US" sz="1000" dirty="0"/>
          </a:p>
        </p:txBody>
      </p:sp>
      <p:sp>
        <p:nvSpPr>
          <p:cNvPr id="78" name="Shape 76"/>
          <p:cNvSpPr/>
          <p:nvPr/>
        </p:nvSpPr>
        <p:spPr>
          <a:xfrm>
            <a:off x="4480560" y="2688336"/>
            <a:ext cx="649224" cy="347472"/>
          </a:xfrm>
          <a:prstGeom prst="roundRect">
            <a:avLst>
              <a:gd name="adj" fmla="val 5263"/>
            </a:avLst>
          </a:prstGeom>
          <a:solidFill>
            <a:srgbClr val="F4F6FB"/>
          </a:solidFill>
          <a:ln/>
        </p:spPr>
        <p:txBody>
          <a:bodyPr/>
          <a:lstStyle/>
          <a:p>
            <a:endParaRPr lang="en-US"/>
          </a:p>
        </p:txBody>
      </p:sp>
      <p:sp>
        <p:nvSpPr>
          <p:cNvPr id="79" name="Text 77"/>
          <p:cNvSpPr/>
          <p:nvPr/>
        </p:nvSpPr>
        <p:spPr>
          <a:xfrm>
            <a:off x="4517136" y="2688336"/>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−0.54%</a:t>
            </a:r>
            <a:endParaRPr lang="en-US" sz="1000" dirty="0"/>
          </a:p>
        </p:txBody>
      </p:sp>
      <p:sp>
        <p:nvSpPr>
          <p:cNvPr id="80" name="Shape 78"/>
          <p:cNvSpPr/>
          <p:nvPr/>
        </p:nvSpPr>
        <p:spPr>
          <a:xfrm>
            <a:off x="5193792" y="2688336"/>
            <a:ext cx="740664" cy="347472"/>
          </a:xfrm>
          <a:prstGeom prst="roundRect">
            <a:avLst>
              <a:gd name="adj" fmla="val 5263"/>
            </a:avLst>
          </a:prstGeom>
          <a:solidFill>
            <a:srgbClr val="F4F6FB"/>
          </a:solidFill>
          <a:ln/>
        </p:spPr>
        <p:txBody>
          <a:bodyPr/>
          <a:lstStyle/>
          <a:p>
            <a:endParaRPr lang="en-US"/>
          </a:p>
        </p:txBody>
      </p:sp>
      <p:sp>
        <p:nvSpPr>
          <p:cNvPr id="81" name="Text 79"/>
          <p:cNvSpPr/>
          <p:nvPr/>
        </p:nvSpPr>
        <p:spPr>
          <a:xfrm>
            <a:off x="5230368" y="2688336"/>
            <a:ext cx="704088"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0.62%</a:t>
            </a:r>
            <a:endParaRPr lang="en-US" sz="1000" dirty="0"/>
          </a:p>
        </p:txBody>
      </p:sp>
      <p:sp>
        <p:nvSpPr>
          <p:cNvPr id="82" name="Shape 80"/>
          <p:cNvSpPr/>
          <p:nvPr/>
        </p:nvSpPr>
        <p:spPr>
          <a:xfrm>
            <a:off x="5998464" y="2688336"/>
            <a:ext cx="713232" cy="347472"/>
          </a:xfrm>
          <a:prstGeom prst="roundRect">
            <a:avLst>
              <a:gd name="adj" fmla="val 5263"/>
            </a:avLst>
          </a:prstGeom>
          <a:solidFill>
            <a:srgbClr val="F4F6FB"/>
          </a:solidFill>
          <a:ln/>
        </p:spPr>
        <p:txBody>
          <a:bodyPr/>
          <a:lstStyle/>
          <a:p>
            <a:endParaRPr lang="en-US"/>
          </a:p>
        </p:txBody>
      </p:sp>
      <p:sp>
        <p:nvSpPr>
          <p:cNvPr id="83" name="Text 81"/>
          <p:cNvSpPr/>
          <p:nvPr/>
        </p:nvSpPr>
        <p:spPr>
          <a:xfrm>
            <a:off x="6035040" y="2688336"/>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1.50%</a:t>
            </a:r>
            <a:endParaRPr lang="en-US" sz="1000" dirty="0"/>
          </a:p>
        </p:txBody>
      </p:sp>
      <p:sp>
        <p:nvSpPr>
          <p:cNvPr id="84" name="Shape 82"/>
          <p:cNvSpPr/>
          <p:nvPr/>
        </p:nvSpPr>
        <p:spPr>
          <a:xfrm>
            <a:off x="6775704" y="2688336"/>
            <a:ext cx="713232" cy="347472"/>
          </a:xfrm>
          <a:prstGeom prst="roundRect">
            <a:avLst>
              <a:gd name="adj" fmla="val 5263"/>
            </a:avLst>
          </a:prstGeom>
          <a:solidFill>
            <a:srgbClr val="F4F6FB"/>
          </a:solidFill>
          <a:ln/>
        </p:spPr>
        <p:txBody>
          <a:bodyPr/>
          <a:lstStyle/>
          <a:p>
            <a:endParaRPr lang="en-US"/>
          </a:p>
        </p:txBody>
      </p:sp>
      <p:sp>
        <p:nvSpPr>
          <p:cNvPr id="85" name="Text 83"/>
          <p:cNvSpPr/>
          <p:nvPr/>
        </p:nvSpPr>
        <p:spPr>
          <a:xfrm>
            <a:off x="6812280" y="2688336"/>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0.34%</a:t>
            </a:r>
            <a:endParaRPr lang="en-US" sz="1000" dirty="0"/>
          </a:p>
        </p:txBody>
      </p:sp>
      <p:sp>
        <p:nvSpPr>
          <p:cNvPr id="86" name="Shape 84"/>
          <p:cNvSpPr/>
          <p:nvPr/>
        </p:nvSpPr>
        <p:spPr>
          <a:xfrm>
            <a:off x="7552944" y="2688336"/>
            <a:ext cx="713232" cy="347472"/>
          </a:xfrm>
          <a:prstGeom prst="roundRect">
            <a:avLst>
              <a:gd name="adj" fmla="val 5263"/>
            </a:avLst>
          </a:prstGeom>
          <a:solidFill>
            <a:srgbClr val="F4F6FB"/>
          </a:solidFill>
          <a:ln/>
        </p:spPr>
        <p:txBody>
          <a:bodyPr/>
          <a:lstStyle/>
          <a:p>
            <a:endParaRPr lang="en-US"/>
          </a:p>
        </p:txBody>
      </p:sp>
      <p:sp>
        <p:nvSpPr>
          <p:cNvPr id="87" name="Text 85"/>
          <p:cNvSpPr/>
          <p:nvPr/>
        </p:nvSpPr>
        <p:spPr>
          <a:xfrm>
            <a:off x="7589520" y="2688336"/>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1.16%</a:t>
            </a:r>
            <a:endParaRPr lang="en-US" sz="1000" dirty="0"/>
          </a:p>
        </p:txBody>
      </p:sp>
      <p:sp>
        <p:nvSpPr>
          <p:cNvPr id="88" name="Shape 86"/>
          <p:cNvSpPr/>
          <p:nvPr/>
        </p:nvSpPr>
        <p:spPr>
          <a:xfrm>
            <a:off x="320040" y="3072384"/>
            <a:ext cx="1243584" cy="347472"/>
          </a:xfrm>
          <a:prstGeom prst="roundRect">
            <a:avLst>
              <a:gd name="adj" fmla="val 5263"/>
            </a:avLst>
          </a:prstGeom>
          <a:solidFill>
            <a:srgbClr val="FFFFFF"/>
          </a:solidFill>
          <a:ln/>
        </p:spPr>
        <p:txBody>
          <a:bodyPr/>
          <a:lstStyle/>
          <a:p>
            <a:endParaRPr lang="en-US"/>
          </a:p>
        </p:txBody>
      </p:sp>
      <p:sp>
        <p:nvSpPr>
          <p:cNvPr id="89" name="Text 87"/>
          <p:cNvSpPr/>
          <p:nvPr/>
        </p:nvSpPr>
        <p:spPr>
          <a:xfrm>
            <a:off x="356616" y="3072384"/>
            <a:ext cx="120700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SPY 5d</a:t>
            </a:r>
            <a:endParaRPr lang="en-US" sz="1000" dirty="0"/>
          </a:p>
        </p:txBody>
      </p:sp>
      <p:sp>
        <p:nvSpPr>
          <p:cNvPr id="90" name="Shape 88"/>
          <p:cNvSpPr/>
          <p:nvPr/>
        </p:nvSpPr>
        <p:spPr>
          <a:xfrm>
            <a:off x="1627632" y="3072384"/>
            <a:ext cx="649224" cy="347472"/>
          </a:xfrm>
          <a:prstGeom prst="roundRect">
            <a:avLst>
              <a:gd name="adj" fmla="val 5263"/>
            </a:avLst>
          </a:prstGeom>
          <a:solidFill>
            <a:srgbClr val="FFFFFF"/>
          </a:solidFill>
          <a:ln/>
        </p:spPr>
        <p:txBody>
          <a:bodyPr/>
          <a:lstStyle/>
          <a:p>
            <a:endParaRPr lang="en-US"/>
          </a:p>
        </p:txBody>
      </p:sp>
      <p:sp>
        <p:nvSpPr>
          <p:cNvPr id="91" name="Text 89"/>
          <p:cNvSpPr/>
          <p:nvPr/>
        </p:nvSpPr>
        <p:spPr>
          <a:xfrm>
            <a:off x="1664208" y="3072384"/>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0.30%</a:t>
            </a:r>
            <a:endParaRPr lang="en-US" sz="1000" dirty="0"/>
          </a:p>
        </p:txBody>
      </p:sp>
      <p:sp>
        <p:nvSpPr>
          <p:cNvPr id="92" name="Shape 90"/>
          <p:cNvSpPr/>
          <p:nvPr/>
        </p:nvSpPr>
        <p:spPr>
          <a:xfrm>
            <a:off x="2340864" y="3072384"/>
            <a:ext cx="649224" cy="347472"/>
          </a:xfrm>
          <a:prstGeom prst="roundRect">
            <a:avLst>
              <a:gd name="adj" fmla="val 5263"/>
            </a:avLst>
          </a:prstGeom>
          <a:solidFill>
            <a:srgbClr val="FFFFFF"/>
          </a:solidFill>
          <a:ln/>
        </p:spPr>
        <p:txBody>
          <a:bodyPr/>
          <a:lstStyle/>
          <a:p>
            <a:endParaRPr lang="en-US"/>
          </a:p>
        </p:txBody>
      </p:sp>
      <p:sp>
        <p:nvSpPr>
          <p:cNvPr id="93" name="Text 91"/>
          <p:cNvSpPr/>
          <p:nvPr/>
        </p:nvSpPr>
        <p:spPr>
          <a:xfrm>
            <a:off x="2377440" y="3072384"/>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0.16%</a:t>
            </a:r>
            <a:endParaRPr lang="en-US" sz="1000" dirty="0"/>
          </a:p>
        </p:txBody>
      </p:sp>
      <p:sp>
        <p:nvSpPr>
          <p:cNvPr id="94" name="Shape 92"/>
          <p:cNvSpPr/>
          <p:nvPr/>
        </p:nvSpPr>
        <p:spPr>
          <a:xfrm>
            <a:off x="3054096" y="3072384"/>
            <a:ext cx="649224" cy="347472"/>
          </a:xfrm>
          <a:prstGeom prst="roundRect">
            <a:avLst>
              <a:gd name="adj" fmla="val 5263"/>
            </a:avLst>
          </a:prstGeom>
          <a:solidFill>
            <a:srgbClr val="FFFFFF"/>
          </a:solidFill>
          <a:ln/>
        </p:spPr>
        <p:txBody>
          <a:bodyPr/>
          <a:lstStyle/>
          <a:p>
            <a:endParaRPr lang="en-US"/>
          </a:p>
        </p:txBody>
      </p:sp>
      <p:sp>
        <p:nvSpPr>
          <p:cNvPr id="95" name="Text 93"/>
          <p:cNvSpPr/>
          <p:nvPr/>
        </p:nvSpPr>
        <p:spPr>
          <a:xfrm>
            <a:off x="3090672" y="3072384"/>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0.83%</a:t>
            </a:r>
            <a:endParaRPr lang="en-US" sz="1000" dirty="0"/>
          </a:p>
        </p:txBody>
      </p:sp>
      <p:sp>
        <p:nvSpPr>
          <p:cNvPr id="96" name="Shape 94"/>
          <p:cNvSpPr/>
          <p:nvPr/>
        </p:nvSpPr>
        <p:spPr>
          <a:xfrm>
            <a:off x="3767328" y="3072384"/>
            <a:ext cx="649224" cy="347472"/>
          </a:xfrm>
          <a:prstGeom prst="roundRect">
            <a:avLst>
              <a:gd name="adj" fmla="val 5263"/>
            </a:avLst>
          </a:prstGeom>
          <a:solidFill>
            <a:srgbClr val="FFFFFF"/>
          </a:solidFill>
          <a:ln/>
        </p:spPr>
        <p:txBody>
          <a:bodyPr/>
          <a:lstStyle/>
          <a:p>
            <a:endParaRPr lang="en-US"/>
          </a:p>
        </p:txBody>
      </p:sp>
      <p:sp>
        <p:nvSpPr>
          <p:cNvPr id="97" name="Text 95"/>
          <p:cNvSpPr/>
          <p:nvPr/>
        </p:nvSpPr>
        <p:spPr>
          <a:xfrm>
            <a:off x="3803904" y="3072384"/>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0.80%</a:t>
            </a:r>
            <a:endParaRPr lang="en-US" sz="1000" dirty="0"/>
          </a:p>
        </p:txBody>
      </p:sp>
      <p:sp>
        <p:nvSpPr>
          <p:cNvPr id="98" name="Shape 96"/>
          <p:cNvSpPr/>
          <p:nvPr/>
        </p:nvSpPr>
        <p:spPr>
          <a:xfrm>
            <a:off x="4480560" y="3072384"/>
            <a:ext cx="649224" cy="347472"/>
          </a:xfrm>
          <a:prstGeom prst="roundRect">
            <a:avLst>
              <a:gd name="adj" fmla="val 5263"/>
            </a:avLst>
          </a:prstGeom>
          <a:solidFill>
            <a:srgbClr val="FFFFFF"/>
          </a:solidFill>
          <a:ln/>
        </p:spPr>
        <p:txBody>
          <a:bodyPr/>
          <a:lstStyle/>
          <a:p>
            <a:endParaRPr lang="en-US"/>
          </a:p>
        </p:txBody>
      </p:sp>
      <p:sp>
        <p:nvSpPr>
          <p:cNvPr id="99" name="Text 97"/>
          <p:cNvSpPr/>
          <p:nvPr/>
        </p:nvSpPr>
        <p:spPr>
          <a:xfrm>
            <a:off x="4517136" y="3072384"/>
            <a:ext cx="612648" cy="347472"/>
          </a:xfrm>
          <a:prstGeom prst="rect">
            <a:avLst/>
          </a:prstGeom>
          <a:noFill/>
          <a:ln/>
        </p:spPr>
        <p:txBody>
          <a:bodyPr wrap="square" lIns="0" tIns="0" rIns="0" bIns="0" rtlCol="0" anchor="ctr"/>
          <a:lstStyle/>
          <a:p>
            <a:pPr marL="0" indent="0" algn="ctr">
              <a:buNone/>
            </a:pPr>
            <a:r>
              <a:rPr lang="en-US" sz="1000" dirty="0">
                <a:solidFill>
                  <a:srgbClr val="444444"/>
                </a:solidFill>
                <a:latin typeface="Calibri" pitchFamily="34" charset="0"/>
                <a:ea typeface="Calibri" pitchFamily="34" charset="-122"/>
                <a:cs typeface="Calibri" pitchFamily="34" charset="-120"/>
              </a:rPr>
              <a:t>−0.09%</a:t>
            </a:r>
            <a:endParaRPr lang="en-US" sz="1000" dirty="0"/>
          </a:p>
        </p:txBody>
      </p:sp>
      <p:sp>
        <p:nvSpPr>
          <p:cNvPr id="100" name="Shape 98"/>
          <p:cNvSpPr/>
          <p:nvPr/>
        </p:nvSpPr>
        <p:spPr>
          <a:xfrm>
            <a:off x="5193792" y="3072384"/>
            <a:ext cx="740664" cy="347472"/>
          </a:xfrm>
          <a:prstGeom prst="roundRect">
            <a:avLst>
              <a:gd name="adj" fmla="val 5263"/>
            </a:avLst>
          </a:prstGeom>
          <a:solidFill>
            <a:srgbClr val="FFFFFF"/>
          </a:solidFill>
          <a:ln/>
        </p:spPr>
        <p:txBody>
          <a:bodyPr/>
          <a:lstStyle/>
          <a:p>
            <a:endParaRPr lang="en-US"/>
          </a:p>
        </p:txBody>
      </p:sp>
      <p:sp>
        <p:nvSpPr>
          <p:cNvPr id="101" name="Text 99"/>
          <p:cNvSpPr/>
          <p:nvPr/>
        </p:nvSpPr>
        <p:spPr>
          <a:xfrm>
            <a:off x="5230368" y="3072384"/>
            <a:ext cx="704088"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0.35%</a:t>
            </a:r>
            <a:endParaRPr lang="en-US" sz="1000" dirty="0"/>
          </a:p>
        </p:txBody>
      </p:sp>
      <p:sp>
        <p:nvSpPr>
          <p:cNvPr id="102" name="Shape 100"/>
          <p:cNvSpPr/>
          <p:nvPr/>
        </p:nvSpPr>
        <p:spPr>
          <a:xfrm>
            <a:off x="5998464" y="3072384"/>
            <a:ext cx="713232" cy="347472"/>
          </a:xfrm>
          <a:prstGeom prst="roundRect">
            <a:avLst>
              <a:gd name="adj" fmla="val 5263"/>
            </a:avLst>
          </a:prstGeom>
          <a:solidFill>
            <a:srgbClr val="FFFFFF"/>
          </a:solidFill>
          <a:ln/>
        </p:spPr>
        <p:txBody>
          <a:bodyPr/>
          <a:lstStyle/>
          <a:p>
            <a:endParaRPr lang="en-US"/>
          </a:p>
        </p:txBody>
      </p:sp>
      <p:sp>
        <p:nvSpPr>
          <p:cNvPr id="103" name="Text 101"/>
          <p:cNvSpPr/>
          <p:nvPr/>
        </p:nvSpPr>
        <p:spPr>
          <a:xfrm>
            <a:off x="6035040" y="3072384"/>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0.40%</a:t>
            </a:r>
            <a:endParaRPr lang="en-US" sz="1000" dirty="0"/>
          </a:p>
        </p:txBody>
      </p:sp>
      <p:sp>
        <p:nvSpPr>
          <p:cNvPr id="104" name="Shape 102"/>
          <p:cNvSpPr/>
          <p:nvPr/>
        </p:nvSpPr>
        <p:spPr>
          <a:xfrm>
            <a:off x="6775704" y="3072384"/>
            <a:ext cx="713232" cy="347472"/>
          </a:xfrm>
          <a:prstGeom prst="roundRect">
            <a:avLst>
              <a:gd name="adj" fmla="val 5263"/>
            </a:avLst>
          </a:prstGeom>
          <a:solidFill>
            <a:srgbClr val="FFFFFF"/>
          </a:solidFill>
          <a:ln/>
        </p:spPr>
        <p:txBody>
          <a:bodyPr/>
          <a:lstStyle/>
          <a:p>
            <a:endParaRPr lang="en-US"/>
          </a:p>
        </p:txBody>
      </p:sp>
      <p:sp>
        <p:nvSpPr>
          <p:cNvPr id="105" name="Text 103"/>
          <p:cNvSpPr/>
          <p:nvPr/>
        </p:nvSpPr>
        <p:spPr>
          <a:xfrm>
            <a:off x="6812280" y="3072384"/>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−0.04%</a:t>
            </a:r>
            <a:endParaRPr lang="en-US" sz="1000" dirty="0"/>
          </a:p>
        </p:txBody>
      </p:sp>
      <p:sp>
        <p:nvSpPr>
          <p:cNvPr id="106" name="Shape 104"/>
          <p:cNvSpPr/>
          <p:nvPr/>
        </p:nvSpPr>
        <p:spPr>
          <a:xfrm>
            <a:off x="7552944" y="3072384"/>
            <a:ext cx="713232" cy="347472"/>
          </a:xfrm>
          <a:prstGeom prst="roundRect">
            <a:avLst>
              <a:gd name="adj" fmla="val 5263"/>
            </a:avLst>
          </a:prstGeom>
          <a:solidFill>
            <a:srgbClr val="FFFFFF"/>
          </a:solidFill>
          <a:ln/>
        </p:spPr>
        <p:txBody>
          <a:bodyPr/>
          <a:lstStyle/>
          <a:p>
            <a:endParaRPr lang="en-US"/>
          </a:p>
        </p:txBody>
      </p:sp>
      <p:sp>
        <p:nvSpPr>
          <p:cNvPr id="107" name="Text 105"/>
          <p:cNvSpPr/>
          <p:nvPr/>
        </p:nvSpPr>
        <p:spPr>
          <a:xfrm>
            <a:off x="7589520" y="3072384"/>
            <a:ext cx="676656"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0.44%</a:t>
            </a:r>
            <a:endParaRPr lang="en-US" sz="1000" dirty="0"/>
          </a:p>
        </p:txBody>
      </p:sp>
      <p:sp>
        <p:nvSpPr>
          <p:cNvPr id="108" name="Shape 106"/>
          <p:cNvSpPr/>
          <p:nvPr/>
        </p:nvSpPr>
        <p:spPr>
          <a:xfrm>
            <a:off x="320040" y="3584448"/>
            <a:ext cx="8503920" cy="256032"/>
          </a:xfrm>
          <a:prstGeom prst="roundRect">
            <a:avLst>
              <a:gd name="adj" fmla="val 25000"/>
            </a:avLst>
          </a:prstGeom>
          <a:solidFill>
            <a:srgbClr val="F4F6FB"/>
          </a:solidFill>
          <a:ln/>
        </p:spPr>
        <p:txBody>
          <a:bodyPr/>
          <a:lstStyle/>
          <a:p>
            <a:endParaRPr lang="en-US"/>
          </a:p>
        </p:txBody>
      </p:sp>
      <p:sp>
        <p:nvSpPr>
          <p:cNvPr id="109" name="Text 107"/>
          <p:cNvSpPr/>
          <p:nvPr/>
        </p:nvSpPr>
        <p:spPr>
          <a:xfrm>
            <a:off x="457200" y="3584448"/>
            <a:ext cx="8229600" cy="256032"/>
          </a:xfrm>
          <a:prstGeom prst="rect">
            <a:avLst/>
          </a:prstGeom>
          <a:noFill/>
          <a:ln/>
        </p:spPr>
        <p:txBody>
          <a:bodyPr wrap="square" lIns="50800" tIns="50800" rIns="50800" bIns="50800" rtlCol="0" anchor="ctr"/>
          <a:lstStyle/>
          <a:p>
            <a:pPr marL="0" indent="0" algn="l">
              <a:buNone/>
            </a:pPr>
            <a:r>
              <a:rPr lang="en-US" sz="1000" dirty="0">
                <a:solidFill>
                  <a:srgbClr val="8A9BC1"/>
                </a:solidFill>
                <a:latin typeface="Calibri" pitchFamily="34" charset="0"/>
                <a:ea typeface="Calibri" pitchFamily="34" charset="-122"/>
                <a:cs typeface="Calibri" pitchFamily="34" charset="-120"/>
              </a:rPr>
              <a:t>IC / IR / Hit Rate summary (5-day horizon)</a:t>
            </a:r>
            <a:endParaRPr lang="en-US" sz="1000" dirty="0"/>
          </a:p>
        </p:txBody>
      </p:sp>
      <p:sp>
        <p:nvSpPr>
          <p:cNvPr id="110" name="Shape 108"/>
          <p:cNvSpPr/>
          <p:nvPr/>
        </p:nvSpPr>
        <p:spPr>
          <a:xfrm>
            <a:off x="320040" y="3895344"/>
            <a:ext cx="1261872" cy="292608"/>
          </a:xfrm>
          <a:prstGeom prst="roundRect">
            <a:avLst>
              <a:gd name="adj" fmla="val 9375"/>
            </a:avLst>
          </a:prstGeom>
          <a:solidFill>
            <a:srgbClr val="2E5594"/>
          </a:solidFill>
          <a:ln/>
        </p:spPr>
        <p:txBody>
          <a:bodyPr/>
          <a:lstStyle/>
          <a:p>
            <a:endParaRPr lang="en-US"/>
          </a:p>
        </p:txBody>
      </p:sp>
      <p:sp>
        <p:nvSpPr>
          <p:cNvPr id="111" name="Text 109"/>
          <p:cNvSpPr/>
          <p:nvPr/>
        </p:nvSpPr>
        <p:spPr>
          <a:xfrm>
            <a:off x="320040" y="3895344"/>
            <a:ext cx="12618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IC (Spearman r)</a:t>
            </a:r>
            <a:endParaRPr lang="en-US" sz="900" dirty="0"/>
          </a:p>
        </p:txBody>
      </p:sp>
      <p:sp>
        <p:nvSpPr>
          <p:cNvPr id="112" name="Shape 110"/>
          <p:cNvSpPr/>
          <p:nvPr/>
        </p:nvSpPr>
        <p:spPr>
          <a:xfrm>
            <a:off x="1722473" y="3899916"/>
            <a:ext cx="1755648" cy="292608"/>
          </a:xfrm>
          <a:prstGeom prst="roundRect">
            <a:avLst>
              <a:gd name="adj" fmla="val 6250"/>
            </a:avLst>
          </a:prstGeom>
          <a:solidFill>
            <a:srgbClr val="F4F6FB"/>
          </a:solidFill>
          <a:ln/>
        </p:spPr>
        <p:txBody>
          <a:bodyPr/>
          <a:lstStyle/>
          <a:p>
            <a:endParaRPr lang="en-US"/>
          </a:p>
        </p:txBody>
      </p:sp>
      <p:sp>
        <p:nvSpPr>
          <p:cNvPr id="113" name="Text 111"/>
          <p:cNvSpPr/>
          <p:nvPr/>
        </p:nvSpPr>
        <p:spPr>
          <a:xfrm>
            <a:off x="1722472" y="3895287"/>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TLT: +0.182</a:t>
            </a:r>
            <a:endParaRPr lang="en-US" sz="1050" dirty="0"/>
          </a:p>
        </p:txBody>
      </p:sp>
      <p:sp>
        <p:nvSpPr>
          <p:cNvPr id="114" name="Shape 112"/>
          <p:cNvSpPr/>
          <p:nvPr/>
        </p:nvSpPr>
        <p:spPr>
          <a:xfrm>
            <a:off x="3570770" y="3895231"/>
            <a:ext cx="1755648" cy="292608"/>
          </a:xfrm>
          <a:prstGeom prst="roundRect">
            <a:avLst>
              <a:gd name="adj" fmla="val 6250"/>
            </a:avLst>
          </a:prstGeom>
          <a:solidFill>
            <a:srgbClr val="F4F6FB"/>
          </a:solidFill>
          <a:ln/>
        </p:spPr>
        <p:txBody>
          <a:bodyPr/>
          <a:lstStyle/>
          <a:p>
            <a:endParaRPr lang="en-US"/>
          </a:p>
        </p:txBody>
      </p:sp>
      <p:sp>
        <p:nvSpPr>
          <p:cNvPr id="115" name="Text 113"/>
          <p:cNvSpPr/>
          <p:nvPr/>
        </p:nvSpPr>
        <p:spPr>
          <a:xfrm>
            <a:off x="3532985" y="3899916"/>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IEF: +0.153</a:t>
            </a:r>
            <a:endParaRPr lang="en-US" sz="1050" dirty="0"/>
          </a:p>
        </p:txBody>
      </p:sp>
      <p:sp>
        <p:nvSpPr>
          <p:cNvPr id="116" name="Shape 114"/>
          <p:cNvSpPr/>
          <p:nvPr/>
        </p:nvSpPr>
        <p:spPr>
          <a:xfrm>
            <a:off x="5381282" y="3895231"/>
            <a:ext cx="1755648" cy="292608"/>
          </a:xfrm>
          <a:prstGeom prst="roundRect">
            <a:avLst>
              <a:gd name="adj" fmla="val 6250"/>
            </a:avLst>
          </a:prstGeom>
          <a:solidFill>
            <a:srgbClr val="F4F6FB"/>
          </a:solidFill>
          <a:ln/>
        </p:spPr>
        <p:txBody>
          <a:bodyPr/>
          <a:lstStyle/>
          <a:p>
            <a:endParaRPr lang="en-US"/>
          </a:p>
        </p:txBody>
      </p:sp>
      <p:sp>
        <p:nvSpPr>
          <p:cNvPr id="117" name="Text 115"/>
          <p:cNvSpPr/>
          <p:nvPr/>
        </p:nvSpPr>
        <p:spPr>
          <a:xfrm>
            <a:off x="5343497" y="3899916"/>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XLF: −0.226</a:t>
            </a:r>
            <a:endParaRPr lang="en-US" sz="1050" dirty="0"/>
          </a:p>
        </p:txBody>
      </p:sp>
      <p:sp>
        <p:nvSpPr>
          <p:cNvPr id="118" name="Shape 116"/>
          <p:cNvSpPr/>
          <p:nvPr/>
        </p:nvSpPr>
        <p:spPr>
          <a:xfrm>
            <a:off x="7191794" y="3895231"/>
            <a:ext cx="1755648" cy="292608"/>
          </a:xfrm>
          <a:prstGeom prst="roundRect">
            <a:avLst>
              <a:gd name="adj" fmla="val 6250"/>
            </a:avLst>
          </a:prstGeom>
          <a:solidFill>
            <a:srgbClr val="F4F6FB"/>
          </a:solidFill>
          <a:ln/>
        </p:spPr>
        <p:txBody>
          <a:bodyPr/>
          <a:lstStyle/>
          <a:p>
            <a:endParaRPr lang="en-US"/>
          </a:p>
        </p:txBody>
      </p:sp>
      <p:sp>
        <p:nvSpPr>
          <p:cNvPr id="119" name="Text 117"/>
          <p:cNvSpPr/>
          <p:nvPr/>
        </p:nvSpPr>
        <p:spPr>
          <a:xfrm>
            <a:off x="7154009" y="3899916"/>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SPY: −0.053</a:t>
            </a:r>
            <a:endParaRPr lang="en-US" sz="1050" dirty="0"/>
          </a:p>
        </p:txBody>
      </p:sp>
      <p:sp>
        <p:nvSpPr>
          <p:cNvPr id="120" name="Shape 118"/>
          <p:cNvSpPr/>
          <p:nvPr/>
        </p:nvSpPr>
        <p:spPr>
          <a:xfrm>
            <a:off x="320040" y="4242816"/>
            <a:ext cx="1261872" cy="292608"/>
          </a:xfrm>
          <a:prstGeom prst="roundRect">
            <a:avLst>
              <a:gd name="adj" fmla="val 9375"/>
            </a:avLst>
          </a:prstGeom>
          <a:solidFill>
            <a:srgbClr val="2E5594"/>
          </a:solidFill>
          <a:ln/>
        </p:spPr>
        <p:txBody>
          <a:bodyPr/>
          <a:lstStyle/>
          <a:p>
            <a:endParaRPr lang="en-US"/>
          </a:p>
        </p:txBody>
      </p:sp>
      <p:sp>
        <p:nvSpPr>
          <p:cNvPr id="121" name="Text 119"/>
          <p:cNvSpPr/>
          <p:nvPr/>
        </p:nvSpPr>
        <p:spPr>
          <a:xfrm>
            <a:off x="320040" y="4242816"/>
            <a:ext cx="12618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IR (annual IC)</a:t>
            </a:r>
            <a:endParaRPr lang="en-US" sz="900" dirty="0"/>
          </a:p>
        </p:txBody>
      </p:sp>
      <p:sp>
        <p:nvSpPr>
          <p:cNvPr id="122" name="Shape 120"/>
          <p:cNvSpPr/>
          <p:nvPr/>
        </p:nvSpPr>
        <p:spPr>
          <a:xfrm>
            <a:off x="1722473" y="4229100"/>
            <a:ext cx="1755648" cy="292608"/>
          </a:xfrm>
          <a:prstGeom prst="roundRect">
            <a:avLst>
              <a:gd name="adj" fmla="val 6250"/>
            </a:avLst>
          </a:prstGeom>
          <a:solidFill>
            <a:srgbClr val="F4F6FB"/>
          </a:solidFill>
          <a:ln/>
        </p:spPr>
        <p:txBody>
          <a:bodyPr/>
          <a:lstStyle/>
          <a:p>
            <a:endParaRPr lang="en-US" dirty="0"/>
          </a:p>
        </p:txBody>
      </p:sp>
      <p:sp>
        <p:nvSpPr>
          <p:cNvPr id="123" name="Text 121"/>
          <p:cNvSpPr/>
          <p:nvPr/>
        </p:nvSpPr>
        <p:spPr>
          <a:xfrm>
            <a:off x="1722473" y="4247388"/>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TLT: +0.573</a:t>
            </a:r>
            <a:endParaRPr lang="en-US" sz="1050" dirty="0"/>
          </a:p>
        </p:txBody>
      </p:sp>
      <p:sp>
        <p:nvSpPr>
          <p:cNvPr id="124" name="Shape 122"/>
          <p:cNvSpPr/>
          <p:nvPr/>
        </p:nvSpPr>
        <p:spPr>
          <a:xfrm>
            <a:off x="3570770" y="4242703"/>
            <a:ext cx="1755648" cy="292608"/>
          </a:xfrm>
          <a:prstGeom prst="roundRect">
            <a:avLst>
              <a:gd name="adj" fmla="val 6250"/>
            </a:avLst>
          </a:prstGeom>
          <a:solidFill>
            <a:srgbClr val="F4F6FB"/>
          </a:solidFill>
          <a:ln/>
        </p:spPr>
        <p:txBody>
          <a:bodyPr/>
          <a:lstStyle/>
          <a:p>
            <a:endParaRPr lang="en-US"/>
          </a:p>
        </p:txBody>
      </p:sp>
      <p:sp>
        <p:nvSpPr>
          <p:cNvPr id="125" name="Text 123"/>
          <p:cNvSpPr/>
          <p:nvPr/>
        </p:nvSpPr>
        <p:spPr>
          <a:xfrm>
            <a:off x="3532985" y="4247388"/>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IEF: +0.428</a:t>
            </a:r>
            <a:endParaRPr lang="en-US" sz="1050" dirty="0"/>
          </a:p>
        </p:txBody>
      </p:sp>
      <p:sp>
        <p:nvSpPr>
          <p:cNvPr id="126" name="Shape 124"/>
          <p:cNvSpPr/>
          <p:nvPr/>
        </p:nvSpPr>
        <p:spPr>
          <a:xfrm>
            <a:off x="5381282" y="4242703"/>
            <a:ext cx="1755648" cy="292608"/>
          </a:xfrm>
          <a:prstGeom prst="roundRect">
            <a:avLst>
              <a:gd name="adj" fmla="val 6250"/>
            </a:avLst>
          </a:prstGeom>
          <a:solidFill>
            <a:srgbClr val="F4F6FB"/>
          </a:solidFill>
          <a:ln/>
        </p:spPr>
        <p:txBody>
          <a:bodyPr/>
          <a:lstStyle/>
          <a:p>
            <a:endParaRPr lang="en-US"/>
          </a:p>
        </p:txBody>
      </p:sp>
      <p:sp>
        <p:nvSpPr>
          <p:cNvPr id="127" name="Text 125"/>
          <p:cNvSpPr/>
          <p:nvPr/>
        </p:nvSpPr>
        <p:spPr>
          <a:xfrm>
            <a:off x="5343497" y="4247388"/>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XLF: −0.482</a:t>
            </a:r>
            <a:endParaRPr lang="en-US" sz="1050" dirty="0"/>
          </a:p>
        </p:txBody>
      </p:sp>
      <p:sp>
        <p:nvSpPr>
          <p:cNvPr id="128" name="Shape 126"/>
          <p:cNvSpPr/>
          <p:nvPr/>
        </p:nvSpPr>
        <p:spPr>
          <a:xfrm>
            <a:off x="7191794" y="4242703"/>
            <a:ext cx="1755648" cy="292608"/>
          </a:xfrm>
          <a:prstGeom prst="roundRect">
            <a:avLst>
              <a:gd name="adj" fmla="val 6250"/>
            </a:avLst>
          </a:prstGeom>
          <a:solidFill>
            <a:srgbClr val="F4F6FB"/>
          </a:solidFill>
          <a:ln/>
        </p:spPr>
        <p:txBody>
          <a:bodyPr/>
          <a:lstStyle/>
          <a:p>
            <a:endParaRPr lang="en-US"/>
          </a:p>
        </p:txBody>
      </p:sp>
      <p:sp>
        <p:nvSpPr>
          <p:cNvPr id="129" name="Text 127"/>
          <p:cNvSpPr/>
          <p:nvPr/>
        </p:nvSpPr>
        <p:spPr>
          <a:xfrm>
            <a:off x="7154009" y="4247388"/>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SPY: −0.290</a:t>
            </a:r>
            <a:endParaRPr lang="en-US" sz="1050" dirty="0"/>
          </a:p>
        </p:txBody>
      </p:sp>
      <p:sp>
        <p:nvSpPr>
          <p:cNvPr id="130" name="Shape 128"/>
          <p:cNvSpPr/>
          <p:nvPr/>
        </p:nvSpPr>
        <p:spPr>
          <a:xfrm>
            <a:off x="320040" y="4590288"/>
            <a:ext cx="1261872" cy="292608"/>
          </a:xfrm>
          <a:prstGeom prst="roundRect">
            <a:avLst>
              <a:gd name="adj" fmla="val 9375"/>
            </a:avLst>
          </a:prstGeom>
          <a:solidFill>
            <a:srgbClr val="2E5594"/>
          </a:solidFill>
          <a:ln/>
        </p:spPr>
        <p:txBody>
          <a:bodyPr/>
          <a:lstStyle/>
          <a:p>
            <a:endParaRPr lang="en-US"/>
          </a:p>
        </p:txBody>
      </p:sp>
      <p:sp>
        <p:nvSpPr>
          <p:cNvPr id="131" name="Text 129"/>
          <p:cNvSpPr/>
          <p:nvPr/>
        </p:nvSpPr>
        <p:spPr>
          <a:xfrm>
            <a:off x="320040" y="4590288"/>
            <a:ext cx="1261872"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Hit Rate 5d</a:t>
            </a:r>
            <a:endParaRPr lang="en-US" sz="900" dirty="0"/>
          </a:p>
        </p:txBody>
      </p:sp>
      <p:sp>
        <p:nvSpPr>
          <p:cNvPr id="132" name="Shape 130"/>
          <p:cNvSpPr/>
          <p:nvPr/>
        </p:nvSpPr>
        <p:spPr>
          <a:xfrm>
            <a:off x="1722473" y="4594860"/>
            <a:ext cx="1755648" cy="292608"/>
          </a:xfrm>
          <a:prstGeom prst="roundRect">
            <a:avLst>
              <a:gd name="adj" fmla="val 6250"/>
            </a:avLst>
          </a:prstGeom>
          <a:solidFill>
            <a:srgbClr val="F4F6FB"/>
          </a:solidFill>
          <a:ln/>
        </p:spPr>
        <p:txBody>
          <a:bodyPr/>
          <a:lstStyle/>
          <a:p>
            <a:endParaRPr lang="en-US"/>
          </a:p>
        </p:txBody>
      </p:sp>
      <p:sp>
        <p:nvSpPr>
          <p:cNvPr id="133" name="Text 131"/>
          <p:cNvSpPr/>
          <p:nvPr/>
        </p:nvSpPr>
        <p:spPr>
          <a:xfrm>
            <a:off x="1722473" y="4594860"/>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TLT: 31.8%</a:t>
            </a:r>
            <a:endParaRPr lang="en-US" sz="1050" dirty="0"/>
          </a:p>
        </p:txBody>
      </p:sp>
      <p:sp>
        <p:nvSpPr>
          <p:cNvPr id="134" name="Shape 132"/>
          <p:cNvSpPr/>
          <p:nvPr/>
        </p:nvSpPr>
        <p:spPr>
          <a:xfrm>
            <a:off x="3570770" y="4590175"/>
            <a:ext cx="1755648" cy="292608"/>
          </a:xfrm>
          <a:prstGeom prst="roundRect">
            <a:avLst>
              <a:gd name="adj" fmla="val 6250"/>
            </a:avLst>
          </a:prstGeom>
          <a:solidFill>
            <a:srgbClr val="F4F6FB"/>
          </a:solidFill>
          <a:ln/>
        </p:spPr>
        <p:txBody>
          <a:bodyPr/>
          <a:lstStyle/>
          <a:p>
            <a:endParaRPr lang="en-US"/>
          </a:p>
        </p:txBody>
      </p:sp>
      <p:sp>
        <p:nvSpPr>
          <p:cNvPr id="135" name="Text 133"/>
          <p:cNvSpPr/>
          <p:nvPr/>
        </p:nvSpPr>
        <p:spPr>
          <a:xfrm>
            <a:off x="3532985" y="4594860"/>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IEF: 36.4%</a:t>
            </a:r>
            <a:endParaRPr lang="en-US" sz="1050" dirty="0"/>
          </a:p>
        </p:txBody>
      </p:sp>
      <p:sp>
        <p:nvSpPr>
          <p:cNvPr id="136" name="Shape 134"/>
          <p:cNvSpPr/>
          <p:nvPr/>
        </p:nvSpPr>
        <p:spPr>
          <a:xfrm>
            <a:off x="5381282" y="4590175"/>
            <a:ext cx="1755648" cy="292608"/>
          </a:xfrm>
          <a:prstGeom prst="roundRect">
            <a:avLst>
              <a:gd name="adj" fmla="val 6250"/>
            </a:avLst>
          </a:prstGeom>
          <a:solidFill>
            <a:srgbClr val="F4F6FB"/>
          </a:solidFill>
          <a:ln/>
        </p:spPr>
        <p:txBody>
          <a:bodyPr/>
          <a:lstStyle/>
          <a:p>
            <a:endParaRPr lang="en-US"/>
          </a:p>
        </p:txBody>
      </p:sp>
      <p:sp>
        <p:nvSpPr>
          <p:cNvPr id="137" name="Text 135"/>
          <p:cNvSpPr/>
          <p:nvPr/>
        </p:nvSpPr>
        <p:spPr>
          <a:xfrm>
            <a:off x="5343497" y="4594860"/>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XLF: 45.5%</a:t>
            </a:r>
            <a:endParaRPr lang="en-US" sz="1050" dirty="0"/>
          </a:p>
        </p:txBody>
      </p:sp>
      <p:sp>
        <p:nvSpPr>
          <p:cNvPr id="138" name="Shape 136"/>
          <p:cNvSpPr/>
          <p:nvPr/>
        </p:nvSpPr>
        <p:spPr>
          <a:xfrm>
            <a:off x="7191794" y="4590175"/>
            <a:ext cx="1755648" cy="292608"/>
          </a:xfrm>
          <a:prstGeom prst="roundRect">
            <a:avLst>
              <a:gd name="adj" fmla="val 6250"/>
            </a:avLst>
          </a:prstGeom>
          <a:solidFill>
            <a:srgbClr val="F4F6FB"/>
          </a:solidFill>
          <a:ln/>
        </p:spPr>
        <p:txBody>
          <a:bodyPr/>
          <a:lstStyle/>
          <a:p>
            <a:endParaRPr lang="en-US"/>
          </a:p>
        </p:txBody>
      </p:sp>
      <p:sp>
        <p:nvSpPr>
          <p:cNvPr id="139" name="Text 137"/>
          <p:cNvSpPr/>
          <p:nvPr/>
        </p:nvSpPr>
        <p:spPr>
          <a:xfrm>
            <a:off x="7154009" y="4594860"/>
            <a:ext cx="1755648" cy="292608"/>
          </a:xfrm>
          <a:prstGeom prst="rect">
            <a:avLst/>
          </a:prstGeom>
          <a:noFill/>
          <a:ln/>
        </p:spPr>
        <p:txBody>
          <a:bodyPr wrap="square" lIns="0" tIns="0" rIns="0" bIns="0" rtlCol="0" anchor="ctr"/>
          <a:lstStyle/>
          <a:p>
            <a:pPr marL="0" indent="0" algn="ctr">
              <a:buNone/>
            </a:pPr>
            <a:r>
              <a:rPr lang="en-US" sz="1050" dirty="0">
                <a:solidFill>
                  <a:srgbClr val="333333"/>
                </a:solidFill>
                <a:latin typeface="Calibri" pitchFamily="34" charset="0"/>
                <a:ea typeface="Calibri" pitchFamily="34" charset="-122"/>
                <a:cs typeface="Calibri" pitchFamily="34" charset="-120"/>
              </a:rPr>
              <a:t>SPY: 40.9%</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1 — CORE FINDING</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MixMCP Test: Does LM Add Anything Over Kalshi Prices?</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234448" y="1577340"/>
            <a:ext cx="4520432" cy="2872214"/>
          </a:xfrm>
          <a:prstGeom prst="rect">
            <a:avLst/>
          </a:prstGeom>
          <a:solidFill>
            <a:srgbClr val="EEF1F9"/>
          </a:solidFill>
          <a:ln w="15240">
            <a:solidFill>
              <a:srgbClr val="CADCFC"/>
            </a:solidFill>
            <a:prstDash val="dash"/>
          </a:ln>
        </p:spPr>
        <p:txBody>
          <a:bodyPr/>
          <a:lstStyle/>
          <a:p>
            <a:endParaRPr lang="en-US"/>
          </a:p>
        </p:txBody>
      </p:sp>
      <p:sp>
        <p:nvSpPr>
          <p:cNvPr id="8" name="Text 6"/>
          <p:cNvSpPr/>
          <p:nvPr/>
        </p:nvSpPr>
        <p:spPr>
          <a:xfrm>
            <a:off x="320040" y="1261872"/>
            <a:ext cx="4572000" cy="3749040"/>
          </a:xfrm>
          <a:prstGeom prst="rect">
            <a:avLst/>
          </a:prstGeom>
          <a:noFill/>
          <a:ln/>
        </p:spPr>
        <p:txBody>
          <a:bodyPr wrap="square" lIns="38100" tIns="38100" rIns="38100" bIns="38100" rtlCol="0" anchor="ctr"/>
          <a:lstStyle/>
          <a:p>
            <a:pPr marL="0" indent="0" algn="ctr">
              <a:buNone/>
            </a:pPr>
            <a:r>
              <a:rPr lang="en-US" sz="900" i="1" dirty="0">
                <a:solidFill>
                  <a:srgbClr val="8A9BC1"/>
                </a:solidFill>
                <a:latin typeface="Calibri" pitchFamily="34" charset="0"/>
                <a:ea typeface="Calibri" pitchFamily="34" charset="-122"/>
                <a:cs typeface="Calibri" pitchFamily="34" charset="-120"/>
              </a:rPr>
              <a:t>[ INSERT: fig5_alpha_sweep.png ]</a:t>
            </a:r>
            <a:endParaRPr lang="en-US" sz="900" dirty="0"/>
          </a:p>
        </p:txBody>
      </p:sp>
      <p:sp>
        <p:nvSpPr>
          <p:cNvPr id="9" name="Shape 7"/>
          <p:cNvSpPr/>
          <p:nvPr/>
        </p:nvSpPr>
        <p:spPr>
          <a:xfrm>
            <a:off x="5074920" y="1261872"/>
            <a:ext cx="3749040" cy="1143000"/>
          </a:xfrm>
          <a:prstGeom prst="roundRect">
            <a:avLst>
              <a:gd name="adj" fmla="val 5600"/>
            </a:avLst>
          </a:prstGeom>
          <a:solidFill>
            <a:srgbClr val="C0392B"/>
          </a:solidFill>
          <a:ln/>
        </p:spPr>
        <p:txBody>
          <a:bodyPr/>
          <a:lstStyle/>
          <a:p>
            <a:endParaRPr lang="en-US"/>
          </a:p>
        </p:txBody>
      </p:sp>
      <p:sp>
        <p:nvSpPr>
          <p:cNvPr id="10" name="Text 8"/>
          <p:cNvSpPr/>
          <p:nvPr/>
        </p:nvSpPr>
        <p:spPr>
          <a:xfrm>
            <a:off x="5230368" y="1371600"/>
            <a:ext cx="342900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Optimal blend: α* = 0.00</a:t>
            </a:r>
            <a:endParaRPr lang="en-US" sz="2200" dirty="0"/>
          </a:p>
        </p:txBody>
      </p:sp>
      <p:sp>
        <p:nvSpPr>
          <p:cNvPr id="11" name="Text 9"/>
          <p:cNvSpPr/>
          <p:nvPr/>
        </p:nvSpPr>
        <p:spPr>
          <a:xfrm>
            <a:off x="5230368" y="1801368"/>
            <a:ext cx="3429000" cy="384048"/>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Adding any LM weight makes Brier worse</a:t>
            </a:r>
            <a:endParaRPr lang="en-US" sz="1200" dirty="0"/>
          </a:p>
        </p:txBody>
      </p:sp>
      <p:sp>
        <p:nvSpPr>
          <p:cNvPr id="12" name="Shape 10"/>
          <p:cNvSpPr/>
          <p:nvPr/>
        </p:nvSpPr>
        <p:spPr>
          <a:xfrm>
            <a:off x="5074920" y="2514600"/>
            <a:ext cx="3749040" cy="1627632"/>
          </a:xfrm>
          <a:prstGeom prst="roundRect">
            <a:avLst>
              <a:gd name="adj" fmla="val 3933"/>
            </a:avLst>
          </a:prstGeom>
          <a:solidFill>
            <a:srgbClr val="F4F6FB"/>
          </a:solidFill>
          <a:ln/>
        </p:spPr>
        <p:txBody>
          <a:bodyPr/>
          <a:lstStyle/>
          <a:p>
            <a:endParaRPr lang="en-US"/>
          </a:p>
        </p:txBody>
      </p:sp>
      <p:sp>
        <p:nvSpPr>
          <p:cNvPr id="13" name="Text 11"/>
          <p:cNvSpPr/>
          <p:nvPr/>
        </p:nvSpPr>
        <p:spPr>
          <a:xfrm>
            <a:off x="5212080" y="2587752"/>
            <a:ext cx="3456432" cy="256032"/>
          </a:xfrm>
          <a:prstGeom prst="rect">
            <a:avLst/>
          </a:prstGeom>
          <a:noFill/>
          <a:ln/>
        </p:spPr>
        <p:txBody>
          <a:bodyPr wrap="square" lIns="38100" tIns="38100" rIns="38100" bIns="38100" rtlCol="0" anchor="t"/>
          <a:lstStyle/>
          <a:p>
            <a:pPr marL="0" indent="0" algn="l">
              <a:buNone/>
            </a:pPr>
            <a:r>
              <a:rPr lang="en-US" sz="1000" dirty="0">
                <a:solidFill>
                  <a:srgbClr val="8A9BC1"/>
                </a:solidFill>
                <a:latin typeface="Calibri" pitchFamily="34" charset="0"/>
                <a:ea typeface="Calibri" pitchFamily="34" charset="-122"/>
                <a:cs typeface="Calibri" pitchFamily="34" charset="-120"/>
              </a:rPr>
              <a:t>Brier scores (lower = better)</a:t>
            </a:r>
            <a:endParaRPr lang="en-US" sz="1000" dirty="0"/>
          </a:p>
        </p:txBody>
      </p:sp>
      <p:sp>
        <p:nvSpPr>
          <p:cNvPr id="14" name="Text 12"/>
          <p:cNvSpPr/>
          <p:nvPr/>
        </p:nvSpPr>
        <p:spPr>
          <a:xfrm>
            <a:off x="5212080" y="2907792"/>
            <a:ext cx="2331720" cy="320040"/>
          </a:xfrm>
          <a:prstGeom prst="rect">
            <a:avLst/>
          </a:prstGeom>
          <a:noFill/>
          <a:ln/>
        </p:spPr>
        <p:txBody>
          <a:bodyPr wrap="square" lIns="0" tIns="0" rIns="0" bIns="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Kalshi alone (α=0)</a:t>
            </a:r>
            <a:endParaRPr lang="en-US" sz="1100" dirty="0"/>
          </a:p>
        </p:txBody>
      </p:sp>
      <p:sp>
        <p:nvSpPr>
          <p:cNvPr id="15" name="Text 13"/>
          <p:cNvSpPr/>
          <p:nvPr/>
        </p:nvSpPr>
        <p:spPr>
          <a:xfrm>
            <a:off x="7543800" y="2907792"/>
            <a:ext cx="1143000" cy="320040"/>
          </a:xfrm>
          <a:prstGeom prst="rect">
            <a:avLst/>
          </a:prstGeom>
          <a:noFill/>
          <a:ln/>
        </p:spPr>
        <p:txBody>
          <a:bodyPr wrap="square" lIns="0" tIns="0" rIns="0" bIns="0" rtlCol="0" anchor="ctr"/>
          <a:lstStyle/>
          <a:p>
            <a:pPr marL="0" indent="0" algn="r">
              <a:buNone/>
            </a:pPr>
            <a:r>
              <a:rPr lang="en-US" sz="1300" b="1" dirty="0">
                <a:solidFill>
                  <a:srgbClr val="1A7A4A"/>
                </a:solidFill>
                <a:latin typeface="Calibri" pitchFamily="34" charset="0"/>
                <a:ea typeface="Calibri" pitchFamily="34" charset="-122"/>
                <a:cs typeface="Calibri" pitchFamily="34" charset="-120"/>
              </a:rPr>
              <a:t>0.114</a:t>
            </a:r>
            <a:endParaRPr lang="en-US" sz="1300" dirty="0"/>
          </a:p>
        </p:txBody>
      </p:sp>
      <p:sp>
        <p:nvSpPr>
          <p:cNvPr id="16" name="Text 14"/>
          <p:cNvSpPr/>
          <p:nvPr/>
        </p:nvSpPr>
        <p:spPr>
          <a:xfrm>
            <a:off x="5212080" y="3291840"/>
            <a:ext cx="2331720" cy="320040"/>
          </a:xfrm>
          <a:prstGeom prst="rect">
            <a:avLst/>
          </a:prstGeom>
          <a:noFill/>
          <a:ln/>
        </p:spPr>
        <p:txBody>
          <a:bodyPr wrap="square" lIns="0" tIns="0" rIns="0" bIns="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α=0.70 (pre-registered)</a:t>
            </a:r>
            <a:endParaRPr lang="en-US" sz="1100" dirty="0"/>
          </a:p>
        </p:txBody>
      </p:sp>
      <p:sp>
        <p:nvSpPr>
          <p:cNvPr id="17" name="Text 15"/>
          <p:cNvSpPr/>
          <p:nvPr/>
        </p:nvSpPr>
        <p:spPr>
          <a:xfrm>
            <a:off x="7543800" y="3291840"/>
            <a:ext cx="1143000" cy="320040"/>
          </a:xfrm>
          <a:prstGeom prst="rect">
            <a:avLst/>
          </a:prstGeom>
          <a:noFill/>
          <a:ln/>
        </p:spPr>
        <p:txBody>
          <a:bodyPr wrap="square" lIns="0" tIns="0" rIns="0" bIns="0" rtlCol="0" anchor="ctr"/>
          <a:lstStyle/>
          <a:p>
            <a:pPr marL="0" indent="0" algn="r">
              <a:buNone/>
            </a:pPr>
            <a:r>
              <a:rPr lang="en-US" sz="1300" b="1" dirty="0">
                <a:solidFill>
                  <a:srgbClr val="C8860A"/>
                </a:solidFill>
                <a:latin typeface="Calibri" pitchFamily="34" charset="0"/>
                <a:ea typeface="Calibri" pitchFamily="34" charset="-122"/>
                <a:cs typeface="Calibri" pitchFamily="34" charset="-120"/>
              </a:rPr>
              <a:t>0.277</a:t>
            </a:r>
            <a:endParaRPr lang="en-US" sz="1300" dirty="0"/>
          </a:p>
        </p:txBody>
      </p:sp>
      <p:sp>
        <p:nvSpPr>
          <p:cNvPr id="18" name="Text 16"/>
          <p:cNvSpPr/>
          <p:nvPr/>
        </p:nvSpPr>
        <p:spPr>
          <a:xfrm>
            <a:off x="5212080" y="3675888"/>
            <a:ext cx="2331720" cy="320040"/>
          </a:xfrm>
          <a:prstGeom prst="rect">
            <a:avLst/>
          </a:prstGeom>
          <a:noFill/>
          <a:ln/>
        </p:spPr>
        <p:txBody>
          <a:bodyPr wrap="square" lIns="0" tIns="0" rIns="0" bIns="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LM alone (α=1.0)</a:t>
            </a:r>
            <a:endParaRPr lang="en-US" sz="1100" dirty="0"/>
          </a:p>
        </p:txBody>
      </p:sp>
      <p:sp>
        <p:nvSpPr>
          <p:cNvPr id="19" name="Text 17"/>
          <p:cNvSpPr/>
          <p:nvPr/>
        </p:nvSpPr>
        <p:spPr>
          <a:xfrm>
            <a:off x="7543800" y="3675888"/>
            <a:ext cx="1143000" cy="320040"/>
          </a:xfrm>
          <a:prstGeom prst="rect">
            <a:avLst/>
          </a:prstGeom>
          <a:noFill/>
          <a:ln/>
        </p:spPr>
        <p:txBody>
          <a:bodyPr wrap="square" lIns="0" tIns="0" rIns="0" bIns="0" rtlCol="0" anchor="ctr"/>
          <a:lstStyle/>
          <a:p>
            <a:pPr marL="0" indent="0" algn="r">
              <a:buNone/>
            </a:pPr>
            <a:r>
              <a:rPr lang="en-US" sz="1300" b="1" dirty="0">
                <a:solidFill>
                  <a:srgbClr val="C0392B"/>
                </a:solidFill>
                <a:latin typeface="Calibri" pitchFamily="34" charset="0"/>
                <a:ea typeface="Calibri" pitchFamily="34" charset="-122"/>
                <a:cs typeface="Calibri" pitchFamily="34" charset="-120"/>
              </a:rPr>
              <a:t>0.422</a:t>
            </a:r>
            <a:endParaRPr lang="en-US" sz="1300" dirty="0"/>
          </a:p>
        </p:txBody>
      </p:sp>
      <p:sp>
        <p:nvSpPr>
          <p:cNvPr id="20" name="Shape 18"/>
          <p:cNvSpPr/>
          <p:nvPr/>
        </p:nvSpPr>
        <p:spPr>
          <a:xfrm>
            <a:off x="5074920" y="4251960"/>
            <a:ext cx="3749040" cy="758952"/>
          </a:xfrm>
          <a:prstGeom prst="roundRect">
            <a:avLst>
              <a:gd name="adj" fmla="val 8434"/>
            </a:avLst>
          </a:prstGeom>
          <a:solidFill>
            <a:srgbClr val="1E2761"/>
          </a:solidFill>
          <a:ln/>
        </p:spPr>
        <p:txBody>
          <a:bodyPr/>
          <a:lstStyle/>
          <a:p>
            <a:endParaRPr lang="en-US"/>
          </a:p>
        </p:txBody>
      </p:sp>
      <p:sp>
        <p:nvSpPr>
          <p:cNvPr id="21" name="Text 19"/>
          <p:cNvSpPr/>
          <p:nvPr/>
        </p:nvSpPr>
        <p:spPr>
          <a:xfrm>
            <a:off x="5212080" y="4315968"/>
            <a:ext cx="3456432" cy="640080"/>
          </a:xfrm>
          <a:prstGeom prst="rect">
            <a:avLst/>
          </a:prstGeom>
          <a:noFill/>
          <a:ln/>
        </p:spPr>
        <p:txBody>
          <a:bodyPr wrap="square" lIns="38100" tIns="38100" rIns="38100" bIns="381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Replicates Kim et al. (2026) on a new signal class: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LM dictionary, not LLM — same efficiency result. Cites Diercks-Katz-Wright (2026) as external validation of Kalshi as a legitimate benchmark.</a:t>
            </a:r>
            <a:endParaRPr lang="en-US" sz="1050" dirty="0"/>
          </a:p>
        </p:txBody>
      </p:sp>
      <p:pic>
        <p:nvPicPr>
          <p:cNvPr id="23" name="Picture 22">
            <a:extLst>
              <a:ext uri="{FF2B5EF4-FFF2-40B4-BE49-F238E27FC236}">
                <a16:creationId xmlns:a16="http://schemas.microsoft.com/office/drawing/2014/main" id="{F9CD621F-8696-B964-5B9C-8D871828F5C8}"/>
              </a:ext>
            </a:extLst>
          </p:cNvPr>
          <p:cNvPicPr>
            <a:picLocks noChangeAspect="1"/>
          </p:cNvPicPr>
          <p:nvPr/>
        </p:nvPicPr>
        <p:blipFill>
          <a:blip r:embed="rId3"/>
          <a:stretch>
            <a:fillRect/>
          </a:stretch>
        </p:blipFill>
        <p:spPr>
          <a:xfrm>
            <a:off x="234448" y="1577340"/>
            <a:ext cx="4520432" cy="287221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84502"/>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2 — TRANSFORMER MODELS</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Fine-Tuning FinBERT on FOMC Data: The Task IS Solvable.</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351238" y="1673351"/>
            <a:ext cx="5717052" cy="2726829"/>
          </a:xfrm>
          <a:prstGeom prst="rect">
            <a:avLst/>
          </a:prstGeom>
          <a:solidFill>
            <a:srgbClr val="EEF1F9"/>
          </a:solidFill>
          <a:ln w="15240">
            <a:solidFill>
              <a:srgbClr val="CADCFC"/>
            </a:solidFill>
            <a:prstDash val="dash"/>
          </a:ln>
        </p:spPr>
        <p:txBody>
          <a:bodyPr/>
          <a:lstStyle/>
          <a:p>
            <a:endParaRPr lang="en-US"/>
          </a:p>
        </p:txBody>
      </p:sp>
      <p:sp>
        <p:nvSpPr>
          <p:cNvPr id="8" name="Text 6"/>
          <p:cNvSpPr/>
          <p:nvPr/>
        </p:nvSpPr>
        <p:spPr>
          <a:xfrm>
            <a:off x="320040" y="1261872"/>
            <a:ext cx="4297680" cy="3749040"/>
          </a:xfrm>
          <a:prstGeom prst="rect">
            <a:avLst/>
          </a:prstGeom>
          <a:noFill/>
          <a:ln/>
        </p:spPr>
        <p:txBody>
          <a:bodyPr wrap="square" lIns="38100" tIns="38100" rIns="38100" bIns="38100" rtlCol="0" anchor="ctr"/>
          <a:lstStyle/>
          <a:p>
            <a:pPr marL="0" indent="0" algn="ctr">
              <a:buNone/>
            </a:pPr>
            <a:r>
              <a:rPr lang="en-US" sz="900" i="1" dirty="0">
                <a:solidFill>
                  <a:srgbClr val="8A9BC1"/>
                </a:solidFill>
                <a:latin typeface="Calibri" pitchFamily="34" charset="0"/>
                <a:ea typeface="Calibri" pitchFamily="34" charset="-122"/>
                <a:cs typeface="Calibri" pitchFamily="34" charset="-120"/>
              </a:rPr>
              <a:t>[ INSERT: fig10_transformer_comparison.png ]</a:t>
            </a:r>
            <a:endParaRPr lang="en-US" sz="900" dirty="0"/>
          </a:p>
        </p:txBody>
      </p:sp>
      <p:sp>
        <p:nvSpPr>
          <p:cNvPr id="9" name="Text 7"/>
          <p:cNvSpPr/>
          <p:nvPr/>
        </p:nvSpPr>
        <p:spPr>
          <a:xfrm>
            <a:off x="6419559" y="1220608"/>
            <a:ext cx="2404400" cy="274320"/>
          </a:xfrm>
          <a:prstGeom prst="rect">
            <a:avLst/>
          </a:prstGeom>
          <a:noFill/>
          <a:ln/>
        </p:spPr>
        <p:txBody>
          <a:bodyPr wrap="square" lIns="38100" tIns="38100" rIns="38100" bIns="38100" rtlCol="0" anchor="t"/>
          <a:lstStyle/>
          <a:p>
            <a:pPr marL="0" indent="0" algn="l">
              <a:buNone/>
            </a:pPr>
            <a:r>
              <a:rPr lang="en-US" sz="1000" dirty="0">
                <a:solidFill>
                  <a:srgbClr val="8A9BC1"/>
                </a:solidFill>
                <a:latin typeface="Calibri" pitchFamily="34" charset="0"/>
                <a:ea typeface="Calibri" pitchFamily="34" charset="-122"/>
                <a:cs typeface="Calibri" pitchFamily="34" charset="-120"/>
              </a:rPr>
              <a:t>Spearman r — Shah et al. held-out test (N=452 sentences)</a:t>
            </a:r>
            <a:endParaRPr lang="en-US" sz="1000" dirty="0"/>
          </a:p>
        </p:txBody>
      </p:sp>
      <p:sp>
        <p:nvSpPr>
          <p:cNvPr id="10" name="Shape 8"/>
          <p:cNvSpPr/>
          <p:nvPr/>
        </p:nvSpPr>
        <p:spPr>
          <a:xfrm>
            <a:off x="6332786" y="1609344"/>
            <a:ext cx="2491173" cy="841248"/>
          </a:xfrm>
          <a:prstGeom prst="roundRect">
            <a:avLst>
              <a:gd name="adj" fmla="val 7609"/>
            </a:avLst>
          </a:prstGeom>
          <a:solidFill>
            <a:srgbClr val="F4F6FB"/>
          </a:solidFill>
          <a:ln/>
        </p:spPr>
        <p:txBody>
          <a:bodyPr/>
          <a:lstStyle/>
          <a:p>
            <a:endParaRPr lang="en-US"/>
          </a:p>
        </p:txBody>
      </p:sp>
      <p:sp>
        <p:nvSpPr>
          <p:cNvPr id="11" name="Text 9"/>
          <p:cNvSpPr/>
          <p:nvPr/>
        </p:nvSpPr>
        <p:spPr>
          <a:xfrm>
            <a:off x="6355080" y="1618564"/>
            <a:ext cx="2286000" cy="292608"/>
          </a:xfrm>
          <a:prstGeom prst="rect">
            <a:avLst/>
          </a:prstGeom>
          <a:noFill/>
          <a:ln/>
        </p:spPr>
        <p:txBody>
          <a:bodyPr wrap="square" lIns="38100" tIns="38100" rIns="38100" bIns="38100" rtlCol="0" anchor="t"/>
          <a:lstStyle/>
          <a:p>
            <a:pPr marL="0" indent="0" algn="l">
              <a:buNone/>
            </a:pPr>
            <a:r>
              <a:rPr lang="en-US" sz="1100" dirty="0">
                <a:solidFill>
                  <a:srgbClr val="444444"/>
                </a:solidFill>
                <a:latin typeface="Calibri" pitchFamily="34" charset="0"/>
                <a:ea typeface="Calibri" pitchFamily="34" charset="-122"/>
                <a:cs typeface="Calibri" pitchFamily="34" charset="-120"/>
              </a:rPr>
              <a:t>LM dictionary</a:t>
            </a:r>
            <a:endParaRPr lang="en-US" sz="1100" dirty="0"/>
          </a:p>
        </p:txBody>
      </p:sp>
      <p:sp>
        <p:nvSpPr>
          <p:cNvPr id="12" name="Text 10"/>
          <p:cNvSpPr/>
          <p:nvPr/>
        </p:nvSpPr>
        <p:spPr>
          <a:xfrm>
            <a:off x="7360920" y="1673352"/>
            <a:ext cx="1371600" cy="256032"/>
          </a:xfrm>
          <a:prstGeom prst="rect">
            <a:avLst/>
          </a:prstGeom>
          <a:noFill/>
          <a:ln/>
        </p:spPr>
        <p:txBody>
          <a:bodyPr wrap="square" lIns="38100" tIns="38100" rIns="38100" bIns="38100" rtlCol="0" anchor="t"/>
          <a:lstStyle/>
          <a:p>
            <a:pPr marL="0" indent="0" algn="r">
              <a:buNone/>
            </a:pPr>
            <a:r>
              <a:rPr lang="en-US" sz="1300" b="1" dirty="0">
                <a:solidFill>
                  <a:srgbClr val="C0392B"/>
                </a:solidFill>
                <a:latin typeface="Calibri" pitchFamily="34" charset="0"/>
                <a:ea typeface="Calibri" pitchFamily="34" charset="-122"/>
                <a:cs typeface="Calibri" pitchFamily="34" charset="-120"/>
              </a:rPr>
              <a:t>r = 0.069</a:t>
            </a:r>
            <a:endParaRPr lang="en-US" sz="1300" dirty="0"/>
          </a:p>
        </p:txBody>
      </p:sp>
      <p:sp>
        <p:nvSpPr>
          <p:cNvPr id="13" name="Shape 11"/>
          <p:cNvSpPr/>
          <p:nvPr/>
        </p:nvSpPr>
        <p:spPr>
          <a:xfrm>
            <a:off x="6673478" y="2077916"/>
            <a:ext cx="2059042" cy="146304"/>
          </a:xfrm>
          <a:prstGeom prst="rect">
            <a:avLst/>
          </a:prstGeom>
          <a:solidFill>
            <a:srgbClr val="D8E0F0"/>
          </a:solidFill>
          <a:ln/>
        </p:spPr>
        <p:txBody>
          <a:bodyPr/>
          <a:lstStyle/>
          <a:p>
            <a:endParaRPr lang="en-US"/>
          </a:p>
        </p:txBody>
      </p:sp>
      <p:sp>
        <p:nvSpPr>
          <p:cNvPr id="14" name="Shape 12"/>
          <p:cNvSpPr/>
          <p:nvPr/>
        </p:nvSpPr>
        <p:spPr>
          <a:xfrm>
            <a:off x="6419561" y="2082980"/>
            <a:ext cx="264993" cy="146304"/>
          </a:xfrm>
          <a:prstGeom prst="rect">
            <a:avLst/>
          </a:prstGeom>
          <a:solidFill>
            <a:srgbClr val="C0392B"/>
          </a:solidFill>
          <a:ln/>
        </p:spPr>
        <p:txBody>
          <a:bodyPr/>
          <a:lstStyle/>
          <a:p>
            <a:endParaRPr lang="en-US"/>
          </a:p>
        </p:txBody>
      </p:sp>
      <p:sp>
        <p:nvSpPr>
          <p:cNvPr id="15" name="Text 13"/>
          <p:cNvSpPr/>
          <p:nvPr/>
        </p:nvSpPr>
        <p:spPr>
          <a:xfrm>
            <a:off x="6355080" y="2253804"/>
            <a:ext cx="3840480" cy="13716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Baseline from Phase 1</a:t>
            </a:r>
            <a:endParaRPr lang="en-US" sz="900" dirty="0"/>
          </a:p>
        </p:txBody>
      </p:sp>
      <p:sp>
        <p:nvSpPr>
          <p:cNvPr id="16" name="Shape 14"/>
          <p:cNvSpPr/>
          <p:nvPr/>
        </p:nvSpPr>
        <p:spPr>
          <a:xfrm>
            <a:off x="6332786" y="2596896"/>
            <a:ext cx="2491174" cy="841248"/>
          </a:xfrm>
          <a:prstGeom prst="roundRect">
            <a:avLst>
              <a:gd name="adj" fmla="val 7609"/>
            </a:avLst>
          </a:prstGeom>
          <a:solidFill>
            <a:srgbClr val="F4F6FB"/>
          </a:solidFill>
          <a:ln/>
        </p:spPr>
        <p:txBody>
          <a:bodyPr/>
          <a:lstStyle/>
          <a:p>
            <a:endParaRPr lang="en-US"/>
          </a:p>
        </p:txBody>
      </p:sp>
      <p:sp>
        <p:nvSpPr>
          <p:cNvPr id="17" name="Text 15"/>
          <p:cNvSpPr/>
          <p:nvPr/>
        </p:nvSpPr>
        <p:spPr>
          <a:xfrm>
            <a:off x="6355080" y="2606116"/>
            <a:ext cx="2286000" cy="292608"/>
          </a:xfrm>
          <a:prstGeom prst="rect">
            <a:avLst/>
          </a:prstGeom>
          <a:noFill/>
          <a:ln/>
        </p:spPr>
        <p:txBody>
          <a:bodyPr wrap="square" lIns="38100" tIns="38100" rIns="38100" bIns="38100" rtlCol="0" anchor="t"/>
          <a:lstStyle/>
          <a:p>
            <a:pPr marL="0" indent="0" algn="l">
              <a:buNone/>
            </a:pPr>
            <a:r>
              <a:rPr lang="en-US" sz="1100" dirty="0">
                <a:solidFill>
                  <a:srgbClr val="444444"/>
                </a:solidFill>
                <a:latin typeface="Calibri" pitchFamily="34" charset="0"/>
                <a:ea typeface="Calibri" pitchFamily="34" charset="-122"/>
                <a:cs typeface="Calibri" pitchFamily="34" charset="-120"/>
              </a:rPr>
              <a:t>FinBERT fine-tuned</a:t>
            </a:r>
            <a:endParaRPr lang="en-US" sz="1100" dirty="0"/>
          </a:p>
          <a:p>
            <a:pPr marL="0" indent="0" algn="l">
              <a:buNone/>
            </a:pPr>
            <a:r>
              <a:rPr lang="en-US" sz="1100" dirty="0">
                <a:solidFill>
                  <a:srgbClr val="444444"/>
                </a:solidFill>
                <a:latin typeface="Calibri" pitchFamily="34" charset="0"/>
                <a:ea typeface="Calibri" pitchFamily="34" charset="-122"/>
                <a:cs typeface="Calibri" pitchFamily="34" charset="-120"/>
              </a:rPr>
              <a:t>(Shah 2,329 + Powell 500)</a:t>
            </a:r>
            <a:endParaRPr lang="en-US" sz="1100" dirty="0"/>
          </a:p>
        </p:txBody>
      </p:sp>
      <p:sp>
        <p:nvSpPr>
          <p:cNvPr id="18" name="Text 16"/>
          <p:cNvSpPr/>
          <p:nvPr/>
        </p:nvSpPr>
        <p:spPr>
          <a:xfrm>
            <a:off x="7360920" y="2660904"/>
            <a:ext cx="1371600" cy="256032"/>
          </a:xfrm>
          <a:prstGeom prst="rect">
            <a:avLst/>
          </a:prstGeom>
          <a:noFill/>
          <a:ln/>
        </p:spPr>
        <p:txBody>
          <a:bodyPr wrap="square" lIns="38100" tIns="38100" rIns="38100" bIns="38100" rtlCol="0" anchor="t"/>
          <a:lstStyle/>
          <a:p>
            <a:pPr marL="0" indent="0" algn="r">
              <a:buNone/>
            </a:pPr>
            <a:r>
              <a:rPr lang="en-US" sz="1300" b="1" dirty="0">
                <a:solidFill>
                  <a:srgbClr val="C8860A"/>
                </a:solidFill>
                <a:latin typeface="Calibri" pitchFamily="34" charset="0"/>
                <a:ea typeface="Calibri" pitchFamily="34" charset="-122"/>
                <a:cs typeface="Calibri" pitchFamily="34" charset="-120"/>
              </a:rPr>
              <a:t>r = 0.348</a:t>
            </a:r>
            <a:endParaRPr lang="en-US" sz="1300" dirty="0"/>
          </a:p>
        </p:txBody>
      </p:sp>
      <p:sp>
        <p:nvSpPr>
          <p:cNvPr id="19" name="Shape 17"/>
          <p:cNvSpPr/>
          <p:nvPr/>
        </p:nvSpPr>
        <p:spPr>
          <a:xfrm>
            <a:off x="6531324" y="3118028"/>
            <a:ext cx="2201195" cy="151028"/>
          </a:xfrm>
          <a:prstGeom prst="rect">
            <a:avLst/>
          </a:prstGeom>
          <a:solidFill>
            <a:srgbClr val="D8E0F0"/>
          </a:solidFill>
          <a:ln/>
        </p:spPr>
        <p:txBody>
          <a:bodyPr/>
          <a:lstStyle/>
          <a:p>
            <a:endParaRPr lang="en-US"/>
          </a:p>
        </p:txBody>
      </p:sp>
      <p:sp>
        <p:nvSpPr>
          <p:cNvPr id="20" name="Shape 18"/>
          <p:cNvSpPr/>
          <p:nvPr/>
        </p:nvSpPr>
        <p:spPr>
          <a:xfrm>
            <a:off x="6419561" y="3118028"/>
            <a:ext cx="766016" cy="151028"/>
          </a:xfrm>
          <a:prstGeom prst="rect">
            <a:avLst/>
          </a:prstGeom>
          <a:solidFill>
            <a:srgbClr val="C8860A"/>
          </a:solidFill>
          <a:ln/>
        </p:spPr>
        <p:txBody>
          <a:bodyPr/>
          <a:lstStyle/>
          <a:p>
            <a:endParaRPr lang="en-US"/>
          </a:p>
        </p:txBody>
      </p:sp>
      <p:sp>
        <p:nvSpPr>
          <p:cNvPr id="21" name="Text 19"/>
          <p:cNvSpPr/>
          <p:nvPr/>
        </p:nvSpPr>
        <p:spPr>
          <a:xfrm>
            <a:off x="6355080" y="3241356"/>
            <a:ext cx="3840480" cy="13716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5× improvement, wrong text type</a:t>
            </a:r>
            <a:endParaRPr lang="en-US" sz="900" dirty="0"/>
          </a:p>
        </p:txBody>
      </p:sp>
      <p:sp>
        <p:nvSpPr>
          <p:cNvPr id="22" name="Shape 20"/>
          <p:cNvSpPr/>
          <p:nvPr/>
        </p:nvSpPr>
        <p:spPr>
          <a:xfrm>
            <a:off x="6332784" y="3584448"/>
            <a:ext cx="2491175" cy="841248"/>
          </a:xfrm>
          <a:prstGeom prst="roundRect">
            <a:avLst>
              <a:gd name="adj" fmla="val 7609"/>
            </a:avLst>
          </a:prstGeom>
          <a:solidFill>
            <a:srgbClr val="F4F6FB"/>
          </a:solidFill>
          <a:ln/>
        </p:spPr>
        <p:txBody>
          <a:bodyPr/>
          <a:lstStyle/>
          <a:p>
            <a:endParaRPr lang="en-US"/>
          </a:p>
        </p:txBody>
      </p:sp>
      <p:sp>
        <p:nvSpPr>
          <p:cNvPr id="23" name="Text 21"/>
          <p:cNvSpPr/>
          <p:nvPr/>
        </p:nvSpPr>
        <p:spPr>
          <a:xfrm>
            <a:off x="6355080" y="3593668"/>
            <a:ext cx="2286000" cy="292608"/>
          </a:xfrm>
          <a:prstGeom prst="rect">
            <a:avLst/>
          </a:prstGeom>
          <a:noFill/>
          <a:ln/>
        </p:spPr>
        <p:txBody>
          <a:bodyPr wrap="square" lIns="38100" tIns="38100" rIns="38100" bIns="38100" rtlCol="0" anchor="t"/>
          <a:lstStyle/>
          <a:p>
            <a:pPr marL="0" indent="0" algn="l">
              <a:buNone/>
            </a:pPr>
            <a:r>
              <a:rPr lang="en-US" sz="1100" dirty="0">
                <a:solidFill>
                  <a:srgbClr val="444444"/>
                </a:solidFill>
                <a:latin typeface="Calibri" pitchFamily="34" charset="0"/>
                <a:ea typeface="Calibri" pitchFamily="34" charset="-122"/>
                <a:cs typeface="Calibri" pitchFamily="34" charset="-120"/>
              </a:rPr>
              <a:t>DistilBERT (zero-shot)</a:t>
            </a:r>
            <a:endParaRPr lang="en-US" sz="1100" dirty="0"/>
          </a:p>
        </p:txBody>
      </p:sp>
      <p:sp>
        <p:nvSpPr>
          <p:cNvPr id="24" name="Text 22"/>
          <p:cNvSpPr/>
          <p:nvPr/>
        </p:nvSpPr>
        <p:spPr>
          <a:xfrm>
            <a:off x="7360920" y="3648456"/>
            <a:ext cx="1371600" cy="256032"/>
          </a:xfrm>
          <a:prstGeom prst="rect">
            <a:avLst/>
          </a:prstGeom>
          <a:noFill/>
          <a:ln/>
        </p:spPr>
        <p:txBody>
          <a:bodyPr wrap="square" lIns="38100" tIns="38100" rIns="38100" bIns="38100" rtlCol="0" anchor="t"/>
          <a:lstStyle/>
          <a:p>
            <a:pPr marL="0" indent="0" algn="r">
              <a:buNone/>
            </a:pPr>
            <a:r>
              <a:rPr lang="en-US" sz="1300" b="1" dirty="0">
                <a:solidFill>
                  <a:srgbClr val="1A7A4A"/>
                </a:solidFill>
                <a:latin typeface="Calibri" pitchFamily="34" charset="0"/>
                <a:ea typeface="Calibri" pitchFamily="34" charset="-122"/>
                <a:cs typeface="Calibri" pitchFamily="34" charset="-120"/>
              </a:rPr>
              <a:t>r = 0.866***</a:t>
            </a:r>
            <a:endParaRPr lang="en-US" sz="1300" dirty="0"/>
          </a:p>
        </p:txBody>
      </p:sp>
      <p:sp>
        <p:nvSpPr>
          <p:cNvPr id="25" name="Shape 23"/>
          <p:cNvSpPr/>
          <p:nvPr/>
        </p:nvSpPr>
        <p:spPr>
          <a:xfrm>
            <a:off x="6655920" y="4050792"/>
            <a:ext cx="2076599" cy="182880"/>
          </a:xfrm>
          <a:prstGeom prst="rect">
            <a:avLst/>
          </a:prstGeom>
          <a:solidFill>
            <a:srgbClr val="D8E0F0"/>
          </a:solidFill>
          <a:ln/>
        </p:spPr>
        <p:txBody>
          <a:bodyPr/>
          <a:lstStyle/>
          <a:p>
            <a:endParaRPr lang="en-US"/>
          </a:p>
        </p:txBody>
      </p:sp>
      <p:sp>
        <p:nvSpPr>
          <p:cNvPr id="26" name="Shape 24"/>
          <p:cNvSpPr/>
          <p:nvPr/>
        </p:nvSpPr>
        <p:spPr>
          <a:xfrm>
            <a:off x="6419560" y="4050792"/>
            <a:ext cx="1798335" cy="182880"/>
          </a:xfrm>
          <a:prstGeom prst="rect">
            <a:avLst/>
          </a:prstGeom>
          <a:solidFill>
            <a:srgbClr val="1A7A4A"/>
          </a:solidFill>
          <a:ln/>
        </p:spPr>
        <p:txBody>
          <a:bodyPr/>
          <a:lstStyle/>
          <a:p>
            <a:endParaRPr lang="en-US"/>
          </a:p>
        </p:txBody>
      </p:sp>
      <p:sp>
        <p:nvSpPr>
          <p:cNvPr id="27" name="Text 25"/>
          <p:cNvSpPr/>
          <p:nvPr/>
        </p:nvSpPr>
        <p:spPr>
          <a:xfrm>
            <a:off x="6355080" y="4228908"/>
            <a:ext cx="3840480" cy="137160"/>
          </a:xfrm>
          <a:prstGeom prst="rect">
            <a:avLst/>
          </a:prstGeom>
          <a:noFill/>
          <a:ln/>
        </p:spPr>
        <p:txBody>
          <a:bodyPr wrap="square" lIns="38100" tIns="38100" rIns="38100" bIns="38100" rtlCol="0" anchor="t"/>
          <a:lstStyle/>
          <a:p>
            <a:pPr marL="0" indent="0" algn="l">
              <a:buNone/>
            </a:pPr>
            <a:r>
              <a:rPr lang="en-US" sz="900" i="1" dirty="0">
                <a:solidFill>
                  <a:srgbClr val="8A9BC1"/>
                </a:solidFill>
                <a:latin typeface="Calibri" pitchFamily="34" charset="0"/>
                <a:ea typeface="Calibri" pitchFamily="34" charset="-122"/>
                <a:cs typeface="Calibri" pitchFamily="34" charset="-120"/>
              </a:rPr>
              <a:t>Task IS solvable — LM is wrong tool</a:t>
            </a:r>
            <a:endParaRPr lang="en-US" sz="900" dirty="0"/>
          </a:p>
        </p:txBody>
      </p:sp>
      <p:sp>
        <p:nvSpPr>
          <p:cNvPr id="28" name="Shape 26"/>
          <p:cNvSpPr/>
          <p:nvPr/>
        </p:nvSpPr>
        <p:spPr>
          <a:xfrm>
            <a:off x="4754880" y="4572000"/>
            <a:ext cx="4069080" cy="457200"/>
          </a:xfrm>
          <a:prstGeom prst="roundRect">
            <a:avLst>
              <a:gd name="adj" fmla="val 14000"/>
            </a:avLst>
          </a:prstGeom>
          <a:solidFill>
            <a:srgbClr val="1E2761"/>
          </a:solidFill>
          <a:ln/>
        </p:spPr>
        <p:txBody>
          <a:bodyPr/>
          <a:lstStyle/>
          <a:p>
            <a:endParaRPr lang="en-US"/>
          </a:p>
        </p:txBody>
      </p:sp>
      <p:sp>
        <p:nvSpPr>
          <p:cNvPr id="29" name="Text 27"/>
          <p:cNvSpPr/>
          <p:nvPr/>
        </p:nvSpPr>
        <p:spPr>
          <a:xfrm>
            <a:off x="4892040" y="4636008"/>
            <a:ext cx="3749040" cy="329184"/>
          </a:xfrm>
          <a:prstGeom prst="rect">
            <a:avLst/>
          </a:prstGeom>
          <a:noFill/>
          <a:ln/>
        </p:spPr>
        <p:txBody>
          <a:bodyPr wrap="square" lIns="38100" tIns="38100" rIns="38100" bIns="3810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LM fails due to construct mismatch (hedging ≠ direction). DistilBERT r=0.866 proves the ceiling is 0.87+, not 0.07.</a:t>
            </a:r>
            <a:endParaRPr lang="en-US" sz="1050" dirty="0"/>
          </a:p>
        </p:txBody>
      </p:sp>
      <p:pic>
        <p:nvPicPr>
          <p:cNvPr id="31" name="Picture 30">
            <a:extLst>
              <a:ext uri="{FF2B5EF4-FFF2-40B4-BE49-F238E27FC236}">
                <a16:creationId xmlns:a16="http://schemas.microsoft.com/office/drawing/2014/main" id="{04AEFA39-122B-C5C0-7222-5789E76B54D1}"/>
              </a:ext>
            </a:extLst>
          </p:cNvPr>
          <p:cNvPicPr>
            <a:picLocks noChangeAspect="1"/>
          </p:cNvPicPr>
          <p:nvPr/>
        </p:nvPicPr>
        <p:blipFill>
          <a:blip r:embed="rId3"/>
          <a:stretch>
            <a:fillRect/>
          </a:stretch>
        </p:blipFill>
        <p:spPr>
          <a:xfrm>
            <a:off x="340091" y="1626712"/>
            <a:ext cx="5739346" cy="2781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7811" y="0"/>
            <a:ext cx="9086189" cy="5143500"/>
          </a:xfrm>
          <a:prstGeom prst="rect">
            <a:avLst/>
          </a:prstGeom>
          <a:solidFill>
            <a:srgbClr val="FFFFFF"/>
          </a:solidFill>
          <a:ln/>
        </p:spPr>
        <p:txBody>
          <a:bodyPr/>
          <a:lstStyle/>
          <a:p>
            <a:endParaRPr lang="en-US"/>
          </a:p>
        </p:txBody>
      </p:sp>
      <p:sp>
        <p:nvSpPr>
          <p:cNvPr id="3" name="Shape 1"/>
          <p:cNvSpPr/>
          <p:nvPr/>
        </p:nvSpPr>
        <p:spPr>
          <a:xfrm>
            <a:off x="78215" y="256032"/>
            <a:ext cx="190810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78215" y="256032"/>
            <a:ext cx="19081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2 — EFFICIENCY TEST</a:t>
            </a:r>
            <a:endParaRPr lang="en-US" sz="800" dirty="0"/>
          </a:p>
        </p:txBody>
      </p:sp>
      <p:sp>
        <p:nvSpPr>
          <p:cNvPr id="5" name="Text 3"/>
          <p:cNvSpPr/>
          <p:nvPr/>
        </p:nvSpPr>
        <p:spPr>
          <a:xfrm>
            <a:off x="78215" y="621792"/>
            <a:ext cx="8450156" cy="475488"/>
          </a:xfrm>
          <a:prstGeom prst="rect">
            <a:avLst/>
          </a:prstGeom>
          <a:noFill/>
          <a:ln/>
        </p:spPr>
        <p:txBody>
          <a:bodyPr wrap="square" lIns="0" tIns="0" rIns="0" bIns="0" rtlCol="0" anchor="t"/>
          <a:lstStyle/>
          <a:p>
            <a:pPr marL="0" indent="0" algn="ctr">
              <a:buNone/>
            </a:pPr>
            <a:r>
              <a:rPr lang="en-US" sz="2100" b="1" dirty="0">
                <a:solidFill>
                  <a:srgbClr val="1E2761"/>
                </a:solidFill>
                <a:latin typeface="Calibri" pitchFamily="34" charset="0"/>
                <a:ea typeface="Calibri" pitchFamily="34" charset="-122"/>
                <a:cs typeface="Calibri" pitchFamily="34" charset="-120"/>
              </a:rPr>
              <a:t>Better Models Improve Standalone Error. Kalshi Still Dominates.</a:t>
            </a:r>
            <a:endParaRPr lang="en-US" sz="2100" dirty="0"/>
          </a:p>
        </p:txBody>
      </p:sp>
      <p:sp>
        <p:nvSpPr>
          <p:cNvPr id="6" name="Shape 4"/>
          <p:cNvSpPr/>
          <p:nvPr/>
        </p:nvSpPr>
        <p:spPr>
          <a:xfrm>
            <a:off x="78215" y="1170432"/>
            <a:ext cx="8450156" cy="0"/>
          </a:xfrm>
          <a:prstGeom prst="line">
            <a:avLst/>
          </a:prstGeom>
          <a:noFill/>
          <a:ln w="12700">
            <a:solidFill>
              <a:srgbClr val="CADCFC"/>
            </a:solidFill>
            <a:prstDash val="solid"/>
          </a:ln>
        </p:spPr>
        <p:txBody>
          <a:bodyPr/>
          <a:lstStyle/>
          <a:p>
            <a:endParaRPr lang="en-US"/>
          </a:p>
        </p:txBody>
      </p:sp>
      <p:sp>
        <p:nvSpPr>
          <p:cNvPr id="7" name="Shape 5"/>
          <p:cNvSpPr/>
          <p:nvPr/>
        </p:nvSpPr>
        <p:spPr>
          <a:xfrm>
            <a:off x="78215" y="1261872"/>
            <a:ext cx="2953011" cy="329184"/>
          </a:xfrm>
          <a:prstGeom prst="roundRect">
            <a:avLst>
              <a:gd name="adj" fmla="val 11111"/>
            </a:avLst>
          </a:prstGeom>
          <a:solidFill>
            <a:srgbClr val="1E2761"/>
          </a:solidFill>
          <a:ln/>
        </p:spPr>
        <p:txBody>
          <a:bodyPr/>
          <a:lstStyle/>
          <a:p>
            <a:endParaRPr lang="en-US"/>
          </a:p>
        </p:txBody>
      </p:sp>
      <p:sp>
        <p:nvSpPr>
          <p:cNvPr id="8" name="Text 6"/>
          <p:cNvSpPr/>
          <p:nvPr/>
        </p:nvSpPr>
        <p:spPr>
          <a:xfrm>
            <a:off x="151367" y="1261872"/>
            <a:ext cx="2834891" cy="329184"/>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Signal</a:t>
            </a:r>
            <a:endParaRPr lang="en-US" sz="1000" dirty="0"/>
          </a:p>
        </p:txBody>
      </p:sp>
      <p:sp>
        <p:nvSpPr>
          <p:cNvPr id="9" name="Shape 7"/>
          <p:cNvSpPr/>
          <p:nvPr/>
        </p:nvSpPr>
        <p:spPr>
          <a:xfrm>
            <a:off x="3141455" y="1261872"/>
            <a:ext cx="1680945" cy="329184"/>
          </a:xfrm>
          <a:prstGeom prst="roundRect">
            <a:avLst>
              <a:gd name="adj" fmla="val 11111"/>
            </a:avLst>
          </a:prstGeom>
          <a:solidFill>
            <a:srgbClr val="1E2761"/>
          </a:solidFill>
          <a:ln/>
        </p:spPr>
        <p:txBody>
          <a:bodyPr/>
          <a:lstStyle/>
          <a:p>
            <a:endParaRPr lang="en-US"/>
          </a:p>
        </p:txBody>
      </p:sp>
      <p:sp>
        <p:nvSpPr>
          <p:cNvPr id="10" name="Text 8"/>
          <p:cNvSpPr/>
          <p:nvPr/>
        </p:nvSpPr>
        <p:spPr>
          <a:xfrm>
            <a:off x="3214607" y="1261872"/>
            <a:ext cx="1562825" cy="329184"/>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Standalone Brier</a:t>
            </a:r>
            <a:endParaRPr lang="en-US" sz="1000" dirty="0"/>
          </a:p>
        </p:txBody>
      </p:sp>
      <p:sp>
        <p:nvSpPr>
          <p:cNvPr id="11" name="Shape 9"/>
          <p:cNvSpPr/>
          <p:nvPr/>
        </p:nvSpPr>
        <p:spPr>
          <a:xfrm>
            <a:off x="4924535" y="1261872"/>
            <a:ext cx="1453790" cy="329184"/>
          </a:xfrm>
          <a:prstGeom prst="roundRect">
            <a:avLst>
              <a:gd name="adj" fmla="val 11111"/>
            </a:avLst>
          </a:prstGeom>
          <a:solidFill>
            <a:srgbClr val="1E2761"/>
          </a:solidFill>
          <a:ln/>
        </p:spPr>
        <p:txBody>
          <a:bodyPr/>
          <a:lstStyle/>
          <a:p>
            <a:endParaRPr lang="en-US"/>
          </a:p>
        </p:txBody>
      </p:sp>
      <p:sp>
        <p:nvSpPr>
          <p:cNvPr id="12" name="Text 10"/>
          <p:cNvSpPr/>
          <p:nvPr/>
        </p:nvSpPr>
        <p:spPr>
          <a:xfrm>
            <a:off x="4997687" y="1261872"/>
            <a:ext cx="1335670" cy="329184"/>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α* vs Kalshi</a:t>
            </a:r>
            <a:endParaRPr lang="en-US" sz="1000" dirty="0"/>
          </a:p>
        </p:txBody>
      </p:sp>
      <p:sp>
        <p:nvSpPr>
          <p:cNvPr id="13" name="Shape 11"/>
          <p:cNvSpPr/>
          <p:nvPr/>
        </p:nvSpPr>
        <p:spPr>
          <a:xfrm>
            <a:off x="6479015" y="1261872"/>
            <a:ext cx="2544133" cy="329184"/>
          </a:xfrm>
          <a:prstGeom prst="roundRect">
            <a:avLst>
              <a:gd name="adj" fmla="val 11111"/>
            </a:avLst>
          </a:prstGeom>
          <a:solidFill>
            <a:srgbClr val="1E2761"/>
          </a:solidFill>
          <a:ln/>
        </p:spPr>
        <p:txBody>
          <a:bodyPr/>
          <a:lstStyle/>
          <a:p>
            <a:endParaRPr lang="en-US"/>
          </a:p>
        </p:txBody>
      </p:sp>
      <p:sp>
        <p:nvSpPr>
          <p:cNvPr id="14" name="Text 12"/>
          <p:cNvSpPr/>
          <p:nvPr/>
        </p:nvSpPr>
        <p:spPr>
          <a:xfrm>
            <a:off x="6552167" y="1261872"/>
            <a:ext cx="2426012" cy="329184"/>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Notes</a:t>
            </a:r>
            <a:endParaRPr lang="en-US" sz="1000" dirty="0"/>
          </a:p>
        </p:txBody>
      </p:sp>
      <p:sp>
        <p:nvSpPr>
          <p:cNvPr id="15" name="Shape 13"/>
          <p:cNvSpPr/>
          <p:nvPr/>
        </p:nvSpPr>
        <p:spPr>
          <a:xfrm>
            <a:off x="78215" y="1664208"/>
            <a:ext cx="2953011" cy="475488"/>
          </a:xfrm>
          <a:prstGeom prst="roundRect">
            <a:avLst>
              <a:gd name="adj" fmla="val 5769"/>
            </a:avLst>
          </a:prstGeom>
          <a:solidFill>
            <a:srgbClr val="F4F6FB"/>
          </a:solidFill>
          <a:ln/>
        </p:spPr>
        <p:txBody>
          <a:bodyPr/>
          <a:lstStyle/>
          <a:p>
            <a:endParaRPr lang="en-US"/>
          </a:p>
        </p:txBody>
      </p:sp>
      <p:sp>
        <p:nvSpPr>
          <p:cNvPr id="16" name="Text 14"/>
          <p:cNvSpPr/>
          <p:nvPr/>
        </p:nvSpPr>
        <p:spPr>
          <a:xfrm>
            <a:off x="151367" y="1664208"/>
            <a:ext cx="2834891"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LM composite</a:t>
            </a:r>
            <a:endParaRPr lang="en-US" sz="1300" dirty="0"/>
          </a:p>
        </p:txBody>
      </p:sp>
      <p:sp>
        <p:nvSpPr>
          <p:cNvPr id="17" name="Shape 15"/>
          <p:cNvSpPr/>
          <p:nvPr/>
        </p:nvSpPr>
        <p:spPr>
          <a:xfrm>
            <a:off x="3141455" y="1664208"/>
            <a:ext cx="1680945" cy="475488"/>
          </a:xfrm>
          <a:prstGeom prst="roundRect">
            <a:avLst>
              <a:gd name="adj" fmla="val 5769"/>
            </a:avLst>
          </a:prstGeom>
          <a:solidFill>
            <a:srgbClr val="F4F6FB"/>
          </a:solidFill>
          <a:ln/>
        </p:spPr>
        <p:txBody>
          <a:bodyPr/>
          <a:lstStyle/>
          <a:p>
            <a:endParaRPr lang="en-US"/>
          </a:p>
        </p:txBody>
      </p:sp>
      <p:sp>
        <p:nvSpPr>
          <p:cNvPr id="18" name="Text 16"/>
          <p:cNvSpPr/>
          <p:nvPr/>
        </p:nvSpPr>
        <p:spPr>
          <a:xfrm>
            <a:off x="3214607" y="1664208"/>
            <a:ext cx="1562825"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0.422</a:t>
            </a:r>
            <a:endParaRPr lang="en-US" sz="1300" dirty="0"/>
          </a:p>
        </p:txBody>
      </p:sp>
      <p:sp>
        <p:nvSpPr>
          <p:cNvPr id="19" name="Shape 17"/>
          <p:cNvSpPr/>
          <p:nvPr/>
        </p:nvSpPr>
        <p:spPr>
          <a:xfrm>
            <a:off x="4924535" y="1664208"/>
            <a:ext cx="1453790" cy="475488"/>
          </a:xfrm>
          <a:prstGeom prst="roundRect">
            <a:avLst>
              <a:gd name="adj" fmla="val 5769"/>
            </a:avLst>
          </a:prstGeom>
          <a:solidFill>
            <a:srgbClr val="F4F6FB"/>
          </a:solidFill>
          <a:ln/>
        </p:spPr>
        <p:txBody>
          <a:bodyPr/>
          <a:lstStyle/>
          <a:p>
            <a:endParaRPr lang="en-US"/>
          </a:p>
        </p:txBody>
      </p:sp>
      <p:sp>
        <p:nvSpPr>
          <p:cNvPr id="20" name="Text 18"/>
          <p:cNvSpPr/>
          <p:nvPr/>
        </p:nvSpPr>
        <p:spPr>
          <a:xfrm>
            <a:off x="4997687" y="1664208"/>
            <a:ext cx="1335670"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0.00</a:t>
            </a:r>
            <a:endParaRPr lang="en-US" sz="1300" dirty="0"/>
          </a:p>
        </p:txBody>
      </p:sp>
      <p:sp>
        <p:nvSpPr>
          <p:cNvPr id="21" name="Shape 19"/>
          <p:cNvSpPr/>
          <p:nvPr/>
        </p:nvSpPr>
        <p:spPr>
          <a:xfrm>
            <a:off x="6479015" y="1664208"/>
            <a:ext cx="2544133" cy="475488"/>
          </a:xfrm>
          <a:prstGeom prst="roundRect">
            <a:avLst>
              <a:gd name="adj" fmla="val 5769"/>
            </a:avLst>
          </a:prstGeom>
          <a:solidFill>
            <a:srgbClr val="F4F6FB"/>
          </a:solidFill>
          <a:ln/>
        </p:spPr>
        <p:txBody>
          <a:bodyPr/>
          <a:lstStyle/>
          <a:p>
            <a:endParaRPr lang="en-US"/>
          </a:p>
        </p:txBody>
      </p:sp>
      <p:sp>
        <p:nvSpPr>
          <p:cNvPr id="22" name="Text 20"/>
          <p:cNvSpPr/>
          <p:nvPr/>
        </p:nvSpPr>
        <p:spPr>
          <a:xfrm>
            <a:off x="6552167" y="1664208"/>
            <a:ext cx="2426012" cy="475488"/>
          </a:xfrm>
          <a:prstGeom prst="rect">
            <a:avLst/>
          </a:prstGeom>
          <a:noFill/>
          <a:ln/>
        </p:spPr>
        <p:txBody>
          <a:bodyPr wrap="square" lIns="0" tIns="0" rIns="0" bIns="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Word count, no domain learning</a:t>
            </a:r>
            <a:endParaRPr lang="en-US" sz="1100" dirty="0"/>
          </a:p>
        </p:txBody>
      </p:sp>
      <p:sp>
        <p:nvSpPr>
          <p:cNvPr id="23" name="Shape 21"/>
          <p:cNvSpPr/>
          <p:nvPr/>
        </p:nvSpPr>
        <p:spPr>
          <a:xfrm>
            <a:off x="78215" y="2194560"/>
            <a:ext cx="2953011" cy="475488"/>
          </a:xfrm>
          <a:prstGeom prst="roundRect">
            <a:avLst>
              <a:gd name="adj" fmla="val 5769"/>
            </a:avLst>
          </a:prstGeom>
          <a:solidFill>
            <a:srgbClr val="FFFFFF"/>
          </a:solidFill>
          <a:ln/>
        </p:spPr>
        <p:txBody>
          <a:bodyPr/>
          <a:lstStyle/>
          <a:p>
            <a:endParaRPr lang="en-US"/>
          </a:p>
        </p:txBody>
      </p:sp>
      <p:sp>
        <p:nvSpPr>
          <p:cNvPr id="24" name="Text 22"/>
          <p:cNvSpPr/>
          <p:nvPr/>
        </p:nvSpPr>
        <p:spPr>
          <a:xfrm>
            <a:off x="151367" y="2194560"/>
            <a:ext cx="2834891"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FinBERT fine-tuned</a:t>
            </a:r>
            <a:endParaRPr lang="en-US" sz="1300" dirty="0"/>
          </a:p>
        </p:txBody>
      </p:sp>
      <p:sp>
        <p:nvSpPr>
          <p:cNvPr id="25" name="Shape 23"/>
          <p:cNvSpPr/>
          <p:nvPr/>
        </p:nvSpPr>
        <p:spPr>
          <a:xfrm>
            <a:off x="3141455" y="2194560"/>
            <a:ext cx="1680945" cy="475488"/>
          </a:xfrm>
          <a:prstGeom prst="roundRect">
            <a:avLst>
              <a:gd name="adj" fmla="val 5769"/>
            </a:avLst>
          </a:prstGeom>
          <a:solidFill>
            <a:srgbClr val="FFFFFF"/>
          </a:solidFill>
          <a:ln/>
        </p:spPr>
        <p:txBody>
          <a:bodyPr/>
          <a:lstStyle/>
          <a:p>
            <a:endParaRPr lang="en-US"/>
          </a:p>
        </p:txBody>
      </p:sp>
      <p:sp>
        <p:nvSpPr>
          <p:cNvPr id="26" name="Text 24"/>
          <p:cNvSpPr/>
          <p:nvPr/>
        </p:nvSpPr>
        <p:spPr>
          <a:xfrm>
            <a:off x="3214607" y="2194560"/>
            <a:ext cx="1562825"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0.383</a:t>
            </a:r>
            <a:endParaRPr lang="en-US" sz="1300" dirty="0"/>
          </a:p>
        </p:txBody>
      </p:sp>
      <p:sp>
        <p:nvSpPr>
          <p:cNvPr id="27" name="Shape 25"/>
          <p:cNvSpPr/>
          <p:nvPr/>
        </p:nvSpPr>
        <p:spPr>
          <a:xfrm>
            <a:off x="4924535" y="2194560"/>
            <a:ext cx="1453790" cy="475488"/>
          </a:xfrm>
          <a:prstGeom prst="roundRect">
            <a:avLst>
              <a:gd name="adj" fmla="val 5769"/>
            </a:avLst>
          </a:prstGeom>
          <a:solidFill>
            <a:srgbClr val="FFFFFF"/>
          </a:solidFill>
          <a:ln/>
        </p:spPr>
        <p:txBody>
          <a:bodyPr/>
          <a:lstStyle/>
          <a:p>
            <a:endParaRPr lang="en-US"/>
          </a:p>
        </p:txBody>
      </p:sp>
      <p:sp>
        <p:nvSpPr>
          <p:cNvPr id="28" name="Text 26"/>
          <p:cNvSpPr/>
          <p:nvPr/>
        </p:nvSpPr>
        <p:spPr>
          <a:xfrm>
            <a:off x="4997687" y="2194560"/>
            <a:ext cx="1335670" cy="475488"/>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0.00</a:t>
            </a:r>
            <a:endParaRPr lang="en-US" sz="1300" dirty="0"/>
          </a:p>
        </p:txBody>
      </p:sp>
      <p:sp>
        <p:nvSpPr>
          <p:cNvPr id="29" name="Shape 27"/>
          <p:cNvSpPr/>
          <p:nvPr/>
        </p:nvSpPr>
        <p:spPr>
          <a:xfrm>
            <a:off x="6479015" y="2194560"/>
            <a:ext cx="2544133" cy="475488"/>
          </a:xfrm>
          <a:prstGeom prst="roundRect">
            <a:avLst>
              <a:gd name="adj" fmla="val 5769"/>
            </a:avLst>
          </a:prstGeom>
          <a:solidFill>
            <a:srgbClr val="FFFFFF"/>
          </a:solidFill>
          <a:ln/>
        </p:spPr>
        <p:txBody>
          <a:bodyPr/>
          <a:lstStyle/>
          <a:p>
            <a:endParaRPr lang="en-US"/>
          </a:p>
        </p:txBody>
      </p:sp>
      <p:sp>
        <p:nvSpPr>
          <p:cNvPr id="30" name="Text 28"/>
          <p:cNvSpPr/>
          <p:nvPr/>
        </p:nvSpPr>
        <p:spPr>
          <a:xfrm>
            <a:off x="6552167" y="2194560"/>
            <a:ext cx="2426012" cy="475488"/>
          </a:xfrm>
          <a:prstGeom prst="rect">
            <a:avLst/>
          </a:prstGeom>
          <a:noFill/>
          <a:ln/>
        </p:spPr>
        <p:txBody>
          <a:bodyPr wrap="square" lIns="0" tIns="0" rIns="0" bIns="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9.2% better standalone Brier</a:t>
            </a:r>
            <a:endParaRPr lang="en-US" sz="1100" dirty="0"/>
          </a:p>
        </p:txBody>
      </p:sp>
      <p:sp>
        <p:nvSpPr>
          <p:cNvPr id="31" name="Shape 29"/>
          <p:cNvSpPr/>
          <p:nvPr/>
        </p:nvSpPr>
        <p:spPr>
          <a:xfrm>
            <a:off x="78215" y="2724912"/>
            <a:ext cx="2953011" cy="475488"/>
          </a:xfrm>
          <a:prstGeom prst="roundRect">
            <a:avLst>
              <a:gd name="adj" fmla="val 5769"/>
            </a:avLst>
          </a:prstGeom>
          <a:solidFill>
            <a:srgbClr val="1E2761"/>
          </a:solidFill>
          <a:ln/>
        </p:spPr>
        <p:txBody>
          <a:bodyPr/>
          <a:lstStyle/>
          <a:p>
            <a:endParaRPr lang="en-US"/>
          </a:p>
        </p:txBody>
      </p:sp>
      <p:sp>
        <p:nvSpPr>
          <p:cNvPr id="32" name="Text 30"/>
          <p:cNvSpPr/>
          <p:nvPr/>
        </p:nvSpPr>
        <p:spPr>
          <a:xfrm>
            <a:off x="151367" y="2724912"/>
            <a:ext cx="2834891" cy="47548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Kalshi alone</a:t>
            </a:r>
            <a:endParaRPr lang="en-US" sz="1300" dirty="0"/>
          </a:p>
        </p:txBody>
      </p:sp>
      <p:sp>
        <p:nvSpPr>
          <p:cNvPr id="33" name="Shape 31"/>
          <p:cNvSpPr/>
          <p:nvPr/>
        </p:nvSpPr>
        <p:spPr>
          <a:xfrm>
            <a:off x="3141455" y="2724912"/>
            <a:ext cx="1680945" cy="475488"/>
          </a:xfrm>
          <a:prstGeom prst="roundRect">
            <a:avLst>
              <a:gd name="adj" fmla="val 5769"/>
            </a:avLst>
          </a:prstGeom>
          <a:solidFill>
            <a:srgbClr val="1E2761"/>
          </a:solidFill>
          <a:ln/>
        </p:spPr>
        <p:txBody>
          <a:bodyPr/>
          <a:lstStyle/>
          <a:p>
            <a:endParaRPr lang="en-US"/>
          </a:p>
        </p:txBody>
      </p:sp>
      <p:sp>
        <p:nvSpPr>
          <p:cNvPr id="34" name="Text 32"/>
          <p:cNvSpPr/>
          <p:nvPr/>
        </p:nvSpPr>
        <p:spPr>
          <a:xfrm>
            <a:off x="3214607" y="2724912"/>
            <a:ext cx="1562825" cy="47548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0.112</a:t>
            </a:r>
            <a:endParaRPr lang="en-US" sz="1300" dirty="0"/>
          </a:p>
        </p:txBody>
      </p:sp>
      <p:sp>
        <p:nvSpPr>
          <p:cNvPr id="35" name="Shape 33"/>
          <p:cNvSpPr/>
          <p:nvPr/>
        </p:nvSpPr>
        <p:spPr>
          <a:xfrm>
            <a:off x="4924535" y="2724912"/>
            <a:ext cx="1453790" cy="475488"/>
          </a:xfrm>
          <a:prstGeom prst="roundRect">
            <a:avLst>
              <a:gd name="adj" fmla="val 5769"/>
            </a:avLst>
          </a:prstGeom>
          <a:solidFill>
            <a:srgbClr val="1E2761"/>
          </a:solidFill>
          <a:ln/>
        </p:spPr>
        <p:txBody>
          <a:bodyPr/>
          <a:lstStyle/>
          <a:p>
            <a:endParaRPr lang="en-US"/>
          </a:p>
        </p:txBody>
      </p:sp>
      <p:sp>
        <p:nvSpPr>
          <p:cNvPr id="36" name="Text 34"/>
          <p:cNvSpPr/>
          <p:nvPr/>
        </p:nvSpPr>
        <p:spPr>
          <a:xfrm>
            <a:off x="4997687" y="2724912"/>
            <a:ext cx="1335670" cy="475488"/>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7" name="Shape 35"/>
          <p:cNvSpPr/>
          <p:nvPr/>
        </p:nvSpPr>
        <p:spPr>
          <a:xfrm>
            <a:off x="6479015" y="2724912"/>
            <a:ext cx="2544133" cy="475488"/>
          </a:xfrm>
          <a:prstGeom prst="roundRect">
            <a:avLst>
              <a:gd name="adj" fmla="val 5769"/>
            </a:avLst>
          </a:prstGeom>
          <a:solidFill>
            <a:srgbClr val="1E2761"/>
          </a:solidFill>
          <a:ln/>
        </p:spPr>
        <p:txBody>
          <a:bodyPr/>
          <a:lstStyle/>
          <a:p>
            <a:endParaRPr lang="en-US"/>
          </a:p>
        </p:txBody>
      </p:sp>
      <p:sp>
        <p:nvSpPr>
          <p:cNvPr id="38" name="Text 36"/>
          <p:cNvSpPr/>
          <p:nvPr/>
        </p:nvSpPr>
        <p:spPr>
          <a:xfrm>
            <a:off x="6552167" y="2724912"/>
            <a:ext cx="2426012" cy="475488"/>
          </a:xfrm>
          <a:prstGeom prst="rect">
            <a:avLst/>
          </a:prstGeom>
          <a:noFill/>
          <a:ln/>
        </p:spPr>
        <p:txBody>
          <a:bodyPr wrap="square" lIns="0" tIns="0" rIns="0" bIns="0" rtlCol="0" anchor="ctr"/>
          <a:lstStyle/>
          <a:p>
            <a:pPr marL="0" indent="0" algn="l">
              <a:buNone/>
            </a:pPr>
            <a:r>
              <a:rPr lang="en-US" sz="1100" dirty="0">
                <a:solidFill>
                  <a:srgbClr val="FFFFFF"/>
                </a:solidFill>
                <a:latin typeface="Calibri" pitchFamily="34" charset="0"/>
                <a:ea typeface="Calibri" pitchFamily="34" charset="-122"/>
                <a:cs typeface="Calibri" pitchFamily="34" charset="-120"/>
              </a:rPr>
              <a:t>Efficient frontier</a:t>
            </a:r>
            <a:endParaRPr lang="en-US" sz="1100" dirty="0"/>
          </a:p>
        </p:txBody>
      </p:sp>
      <p:sp>
        <p:nvSpPr>
          <p:cNvPr id="39" name="Shape 37"/>
          <p:cNvSpPr/>
          <p:nvPr/>
        </p:nvSpPr>
        <p:spPr>
          <a:xfrm>
            <a:off x="78215" y="3364992"/>
            <a:ext cx="4179647" cy="1600200"/>
          </a:xfrm>
          <a:prstGeom prst="roundRect">
            <a:avLst>
              <a:gd name="adj" fmla="val 4000"/>
            </a:avLst>
          </a:prstGeom>
          <a:solidFill>
            <a:srgbClr val="F4F6FB"/>
          </a:solidFill>
          <a:ln/>
        </p:spPr>
        <p:txBody>
          <a:bodyPr/>
          <a:lstStyle/>
          <a:p>
            <a:endParaRPr lang="en-US"/>
          </a:p>
        </p:txBody>
      </p:sp>
      <p:sp>
        <p:nvSpPr>
          <p:cNvPr id="40" name="Text 38"/>
          <p:cNvSpPr/>
          <p:nvPr/>
        </p:nvSpPr>
        <p:spPr>
          <a:xfrm>
            <a:off x="215375" y="3438144"/>
            <a:ext cx="3907061" cy="274320"/>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What FinBERT improvement tells us</a:t>
            </a:r>
            <a:endParaRPr lang="en-US" sz="1100" dirty="0"/>
          </a:p>
        </p:txBody>
      </p:sp>
      <p:sp>
        <p:nvSpPr>
          <p:cNvPr id="41" name="Text 39"/>
          <p:cNvSpPr/>
          <p:nvPr/>
        </p:nvSpPr>
        <p:spPr>
          <a:xfrm>
            <a:off x="215375" y="3749040"/>
            <a:ext cx="3907061" cy="1097280"/>
          </a:xfrm>
          <a:prstGeom prst="rect">
            <a:avLst/>
          </a:prstGeom>
          <a:noFill/>
          <a:ln/>
        </p:spPr>
        <p:txBody>
          <a:bodyPr wrap="square" lIns="38100" tIns="38100" rIns="38100" bIns="38100" rtlCol="0" anchor="t"/>
          <a:lstStyle/>
          <a:p>
            <a:pPr marL="0" indent="0" algn="l">
              <a:buNone/>
            </a:pPr>
            <a:r>
              <a:rPr lang="en-US" sz="1150" dirty="0">
                <a:solidFill>
                  <a:srgbClr val="444444"/>
                </a:solidFill>
                <a:latin typeface="Calibri" pitchFamily="34" charset="0"/>
                <a:ea typeface="Calibri" pitchFamily="34" charset="-122"/>
                <a:cs typeface="Calibri" pitchFamily="34" charset="-120"/>
              </a:rPr>
              <a:t>FinBERT reduces standalone Brier 9.2% vs LM (0.383 vs 0.422). The two signals are nearly uncorrelated (r=−0.078) — they capture different aspects of Fed language. Combination may help in larger samples or less-efficient regimes.</a:t>
            </a:r>
            <a:endParaRPr lang="en-US" sz="1150" dirty="0"/>
          </a:p>
        </p:txBody>
      </p:sp>
      <p:sp>
        <p:nvSpPr>
          <p:cNvPr id="42" name="Shape 40"/>
          <p:cNvSpPr/>
          <p:nvPr/>
        </p:nvSpPr>
        <p:spPr>
          <a:xfrm>
            <a:off x="4421615" y="3364992"/>
            <a:ext cx="4179647" cy="1600200"/>
          </a:xfrm>
          <a:prstGeom prst="roundRect">
            <a:avLst>
              <a:gd name="adj" fmla="val 4000"/>
            </a:avLst>
          </a:prstGeom>
          <a:solidFill>
            <a:srgbClr val="1E2761"/>
          </a:solidFill>
          <a:ln/>
        </p:spPr>
        <p:txBody>
          <a:bodyPr/>
          <a:lstStyle/>
          <a:p>
            <a:endParaRPr lang="en-US"/>
          </a:p>
        </p:txBody>
      </p:sp>
      <p:sp>
        <p:nvSpPr>
          <p:cNvPr id="43" name="Text 41"/>
          <p:cNvSpPr/>
          <p:nvPr/>
        </p:nvSpPr>
        <p:spPr>
          <a:xfrm>
            <a:off x="4558775" y="3438144"/>
            <a:ext cx="3907061"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Why Kalshi blocks both signals</a:t>
            </a:r>
            <a:endParaRPr lang="en-US" sz="1100" dirty="0"/>
          </a:p>
        </p:txBody>
      </p:sp>
      <p:sp>
        <p:nvSpPr>
          <p:cNvPr id="44" name="Text 42"/>
          <p:cNvSpPr/>
          <p:nvPr/>
        </p:nvSpPr>
        <p:spPr>
          <a:xfrm>
            <a:off x="4558775" y="3749040"/>
            <a:ext cx="3907061" cy="1097280"/>
          </a:xfrm>
          <a:prstGeom prst="rect">
            <a:avLst/>
          </a:prstGeom>
          <a:noFill/>
          <a:ln/>
        </p:spPr>
        <p:txBody>
          <a:bodyPr wrap="square" lIns="38100" tIns="38100" rIns="38100" bIns="38100" rtlCol="0" anchor="t"/>
          <a:lstStyle/>
          <a:p>
            <a:pPr marL="0" indent="0" algn="l">
              <a:buNone/>
            </a:pPr>
            <a:r>
              <a:rPr lang="en-US" sz="1150" dirty="0">
                <a:solidFill>
                  <a:srgbClr val="FFFFFF"/>
                </a:solidFill>
                <a:latin typeface="Calibri" pitchFamily="34" charset="0"/>
                <a:ea typeface="Calibri" pitchFamily="34" charset="-122"/>
                <a:cs typeface="Calibri" pitchFamily="34" charset="-120"/>
              </a:rPr>
              <a:t>Market participants read the same documents. Their collective assessment is aggregated into the price. By the time we score the text, that information is already traded. This is Grossman-Stiglitz (1980) in practice.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3 — PORTFOLIO CONSTRUCTION</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100" b="1" dirty="0" err="1">
                <a:solidFill>
                  <a:srgbClr val="1E2761"/>
                </a:solidFill>
                <a:latin typeface="Calibri" pitchFamily="34" charset="0"/>
                <a:ea typeface="Calibri" pitchFamily="34" charset="-122"/>
                <a:cs typeface="Calibri" pitchFamily="34" charset="-120"/>
              </a:rPr>
              <a:t>Fractile</a:t>
            </a:r>
            <a:r>
              <a:rPr lang="en-US" sz="2100" b="1" dirty="0">
                <a:solidFill>
                  <a:srgbClr val="1E2761"/>
                </a:solidFill>
                <a:latin typeface="Calibri" pitchFamily="34" charset="0"/>
                <a:ea typeface="Calibri" pitchFamily="34" charset="-122"/>
                <a:cs typeface="Calibri" pitchFamily="34" charset="-120"/>
              </a:rPr>
              <a:t> Long-Short on Kalshi Expectation Signal (N=22 Meetings)</a:t>
            </a:r>
            <a:endParaRPr lang="en-US" sz="21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8" name="Text 6"/>
          <p:cNvSpPr/>
          <p:nvPr/>
        </p:nvSpPr>
        <p:spPr>
          <a:xfrm>
            <a:off x="320040" y="1261872"/>
            <a:ext cx="8503920" cy="2816352"/>
          </a:xfrm>
          <a:prstGeom prst="rect">
            <a:avLst/>
          </a:prstGeom>
          <a:noFill/>
          <a:ln/>
        </p:spPr>
        <p:txBody>
          <a:bodyPr wrap="square" lIns="38100" tIns="38100" rIns="38100" bIns="38100" rtlCol="0" anchor="ctr"/>
          <a:lstStyle/>
          <a:p>
            <a:pPr marL="0" indent="0" algn="ctr">
              <a:buNone/>
            </a:pPr>
            <a:r>
              <a:rPr lang="en-US" sz="900" i="1" dirty="0">
                <a:solidFill>
                  <a:srgbClr val="8A9BC1"/>
                </a:solidFill>
                <a:latin typeface="Calibri" pitchFamily="34" charset="0"/>
                <a:ea typeface="Calibri" pitchFamily="34" charset="-122"/>
                <a:cs typeface="Calibri" pitchFamily="34" charset="-120"/>
              </a:rPr>
              <a:t>[ INSERT: fig11_fractile_returns.png  —  2×4 grid: rows = 5d/20d horizons, cols = TLT/IEF/XLF/SPY ]</a:t>
            </a:r>
            <a:endParaRPr lang="en-US" sz="900" dirty="0"/>
          </a:p>
        </p:txBody>
      </p:sp>
      <p:sp>
        <p:nvSpPr>
          <p:cNvPr id="9" name="Shape 7"/>
          <p:cNvSpPr/>
          <p:nvPr/>
        </p:nvSpPr>
        <p:spPr>
          <a:xfrm>
            <a:off x="320040" y="4206240"/>
            <a:ext cx="2057400" cy="804672"/>
          </a:xfrm>
          <a:prstGeom prst="roundRect">
            <a:avLst>
              <a:gd name="adj" fmla="val 7955"/>
            </a:avLst>
          </a:prstGeom>
          <a:solidFill>
            <a:srgbClr val="F4F6FB"/>
          </a:solidFill>
          <a:ln/>
        </p:spPr>
        <p:txBody>
          <a:bodyPr/>
          <a:lstStyle/>
          <a:p>
            <a:endParaRPr lang="en-US"/>
          </a:p>
        </p:txBody>
      </p:sp>
      <p:sp>
        <p:nvSpPr>
          <p:cNvPr id="10" name="Text 8"/>
          <p:cNvSpPr/>
          <p:nvPr/>
        </p:nvSpPr>
        <p:spPr>
          <a:xfrm>
            <a:off x="457200" y="4270248"/>
            <a:ext cx="1828800" cy="256032"/>
          </a:xfrm>
          <a:prstGeom prst="rect">
            <a:avLst/>
          </a:prstGeom>
          <a:noFill/>
          <a:ln/>
        </p:spPr>
        <p:txBody>
          <a:bodyPr wrap="square" lIns="38100" tIns="38100" rIns="38100" bIns="38100" rtlCol="0" anchor="t"/>
          <a:lstStyle/>
          <a:p>
            <a:pPr marL="0" indent="0" algn="l">
              <a:buNone/>
            </a:pPr>
            <a:r>
              <a:rPr lang="en-US" sz="1000" b="1" dirty="0">
                <a:solidFill>
                  <a:srgbClr val="2E7DD1"/>
                </a:solidFill>
                <a:latin typeface="Calibri" pitchFamily="34" charset="0"/>
                <a:ea typeface="Calibri" pitchFamily="34" charset="-122"/>
                <a:cs typeface="Calibri" pitchFamily="34" charset="-120"/>
              </a:rPr>
              <a:t>Strategy</a:t>
            </a:r>
            <a:endParaRPr lang="en-US" sz="1000" dirty="0"/>
          </a:p>
        </p:txBody>
      </p:sp>
      <p:sp>
        <p:nvSpPr>
          <p:cNvPr id="11" name="Text 9"/>
          <p:cNvSpPr/>
          <p:nvPr/>
        </p:nvSpPr>
        <p:spPr>
          <a:xfrm>
            <a:off x="457200" y="4475988"/>
            <a:ext cx="1828800" cy="411480"/>
          </a:xfrm>
          <a:prstGeom prst="rect">
            <a:avLst/>
          </a:prstGeom>
          <a:noFill/>
          <a:ln/>
        </p:spPr>
        <p:txBody>
          <a:bodyPr wrap="square" lIns="38100" tIns="38100" rIns="38100" bIns="38100" rtlCol="0" anchor="t"/>
          <a:lstStyle/>
          <a:p>
            <a:pPr marL="0" indent="0" algn="l">
              <a:buNone/>
            </a:pPr>
            <a:r>
              <a:rPr lang="en-US" sz="950" dirty="0">
                <a:solidFill>
                  <a:srgbClr val="444444"/>
                </a:solidFill>
                <a:latin typeface="Calibri" pitchFamily="34" charset="0"/>
                <a:ea typeface="Calibri" pitchFamily="34" charset="-122"/>
                <a:cs typeface="Calibri" pitchFamily="34" charset="-120"/>
              </a:rPr>
              <a:t>Kalshi T-7 implied expected bps</a:t>
            </a:r>
            <a:endParaRPr lang="en-US" sz="950" dirty="0"/>
          </a:p>
          <a:p>
            <a:pPr marL="0" indent="0" algn="l">
              <a:buNone/>
            </a:pPr>
            <a:r>
              <a:rPr lang="en-US" sz="950" dirty="0">
                <a:solidFill>
                  <a:srgbClr val="444444"/>
                </a:solidFill>
                <a:latin typeface="Calibri" pitchFamily="34" charset="0"/>
                <a:ea typeface="Calibri" pitchFamily="34" charset="-122"/>
                <a:cs typeface="Calibri" pitchFamily="34" charset="-120"/>
              </a:rPr>
              <a:t>→ quintile L/S on 4 ETFs</a:t>
            </a:r>
            <a:endParaRPr lang="en-US" sz="950" dirty="0"/>
          </a:p>
          <a:p>
            <a:pPr marL="0" indent="0" algn="l">
              <a:buNone/>
            </a:pPr>
            <a:r>
              <a:rPr lang="en-US" sz="950" dirty="0">
                <a:solidFill>
                  <a:srgbClr val="444444"/>
                </a:solidFill>
                <a:latin typeface="Calibri" pitchFamily="34" charset="0"/>
                <a:ea typeface="Calibri" pitchFamily="34" charset="-122"/>
                <a:cs typeface="Calibri" pitchFamily="34" charset="-120"/>
              </a:rPr>
              <a:t>F1=dovish long, F5=hawkish short</a:t>
            </a:r>
            <a:endParaRPr lang="en-US" sz="950" dirty="0"/>
          </a:p>
        </p:txBody>
      </p:sp>
      <p:sp>
        <p:nvSpPr>
          <p:cNvPr id="12" name="Shape 10"/>
          <p:cNvSpPr/>
          <p:nvPr/>
        </p:nvSpPr>
        <p:spPr>
          <a:xfrm>
            <a:off x="2514600" y="4206240"/>
            <a:ext cx="1920240" cy="804672"/>
          </a:xfrm>
          <a:prstGeom prst="roundRect">
            <a:avLst>
              <a:gd name="adj" fmla="val 7955"/>
            </a:avLst>
          </a:prstGeom>
          <a:solidFill>
            <a:srgbClr val="F4F6FB"/>
          </a:solidFill>
          <a:ln/>
        </p:spPr>
        <p:txBody>
          <a:bodyPr/>
          <a:lstStyle/>
          <a:p>
            <a:endParaRPr lang="en-US"/>
          </a:p>
        </p:txBody>
      </p:sp>
      <p:sp>
        <p:nvSpPr>
          <p:cNvPr id="13" name="Text 11"/>
          <p:cNvSpPr/>
          <p:nvPr/>
        </p:nvSpPr>
        <p:spPr>
          <a:xfrm>
            <a:off x="2606040" y="4270248"/>
            <a:ext cx="1737360" cy="256032"/>
          </a:xfrm>
          <a:prstGeom prst="rect">
            <a:avLst/>
          </a:prstGeom>
          <a:noFill/>
          <a:ln/>
        </p:spPr>
        <p:txBody>
          <a:bodyPr wrap="square" lIns="38100" tIns="38100" rIns="38100" bIns="38100" rtlCol="0" anchor="t"/>
          <a:lstStyle/>
          <a:p>
            <a:pPr marL="0" indent="0" algn="l">
              <a:buNone/>
            </a:pPr>
            <a:r>
              <a:rPr lang="en-US" sz="950" dirty="0">
                <a:solidFill>
                  <a:srgbClr val="8A9BC1"/>
                </a:solidFill>
                <a:latin typeface="Calibri" pitchFamily="34" charset="0"/>
                <a:ea typeface="Calibri" pitchFamily="34" charset="-122"/>
                <a:cs typeface="Calibri" pitchFamily="34" charset="-120"/>
              </a:rPr>
              <a:t>TLT IR (20d)</a:t>
            </a:r>
            <a:endParaRPr lang="en-US" sz="950" dirty="0"/>
          </a:p>
        </p:txBody>
      </p:sp>
      <p:sp>
        <p:nvSpPr>
          <p:cNvPr id="14" name="Text 12"/>
          <p:cNvSpPr/>
          <p:nvPr/>
        </p:nvSpPr>
        <p:spPr>
          <a:xfrm>
            <a:off x="2606040" y="4544568"/>
            <a:ext cx="1737360" cy="347472"/>
          </a:xfrm>
          <a:prstGeom prst="rect">
            <a:avLst/>
          </a:prstGeom>
          <a:noFill/>
          <a:ln/>
        </p:spPr>
        <p:txBody>
          <a:bodyPr wrap="square" lIns="0" tIns="0" rIns="0" bIns="0" rtlCol="0" anchor="ctr"/>
          <a:lstStyle/>
          <a:p>
            <a:pPr marL="0" indent="0" algn="ctr">
              <a:buNone/>
            </a:pPr>
            <a:r>
              <a:rPr lang="en-US" sz="1800" b="1" dirty="0">
                <a:solidFill>
                  <a:srgbClr val="C8860A"/>
                </a:solidFill>
                <a:latin typeface="Calibri" pitchFamily="34" charset="0"/>
                <a:ea typeface="Calibri" pitchFamily="34" charset="-122"/>
                <a:cs typeface="Calibri" pitchFamily="34" charset="-120"/>
              </a:rPr>
              <a:t>0.573</a:t>
            </a:r>
            <a:endParaRPr lang="en-US" sz="1800" dirty="0"/>
          </a:p>
        </p:txBody>
      </p:sp>
      <p:sp>
        <p:nvSpPr>
          <p:cNvPr id="15" name="Shape 13"/>
          <p:cNvSpPr/>
          <p:nvPr/>
        </p:nvSpPr>
        <p:spPr>
          <a:xfrm>
            <a:off x="4526280" y="4206240"/>
            <a:ext cx="1920240" cy="804672"/>
          </a:xfrm>
          <a:prstGeom prst="roundRect">
            <a:avLst>
              <a:gd name="adj" fmla="val 7955"/>
            </a:avLst>
          </a:prstGeom>
          <a:solidFill>
            <a:srgbClr val="F4F6FB"/>
          </a:solidFill>
          <a:ln/>
        </p:spPr>
        <p:txBody>
          <a:bodyPr/>
          <a:lstStyle/>
          <a:p>
            <a:endParaRPr lang="en-US"/>
          </a:p>
        </p:txBody>
      </p:sp>
      <p:sp>
        <p:nvSpPr>
          <p:cNvPr id="16" name="Text 14"/>
          <p:cNvSpPr/>
          <p:nvPr/>
        </p:nvSpPr>
        <p:spPr>
          <a:xfrm>
            <a:off x="4617720" y="4270248"/>
            <a:ext cx="1737360" cy="256032"/>
          </a:xfrm>
          <a:prstGeom prst="rect">
            <a:avLst/>
          </a:prstGeom>
          <a:noFill/>
          <a:ln/>
        </p:spPr>
        <p:txBody>
          <a:bodyPr wrap="square" lIns="38100" tIns="38100" rIns="38100" bIns="38100" rtlCol="0" anchor="t"/>
          <a:lstStyle/>
          <a:p>
            <a:pPr marL="0" indent="0" algn="l">
              <a:buNone/>
            </a:pPr>
            <a:r>
              <a:rPr lang="en-US" sz="950" dirty="0">
                <a:solidFill>
                  <a:srgbClr val="8A9BC1"/>
                </a:solidFill>
                <a:latin typeface="Calibri" pitchFamily="34" charset="0"/>
                <a:ea typeface="Calibri" pitchFamily="34" charset="-122"/>
                <a:cs typeface="Calibri" pitchFamily="34" charset="-120"/>
              </a:rPr>
              <a:t>XLF IC (20d)</a:t>
            </a:r>
            <a:endParaRPr lang="en-US" sz="950" dirty="0"/>
          </a:p>
        </p:txBody>
      </p:sp>
      <p:sp>
        <p:nvSpPr>
          <p:cNvPr id="17" name="Text 15"/>
          <p:cNvSpPr/>
          <p:nvPr/>
        </p:nvSpPr>
        <p:spPr>
          <a:xfrm>
            <a:off x="4617720" y="4544568"/>
            <a:ext cx="1737360" cy="347472"/>
          </a:xfrm>
          <a:prstGeom prst="rect">
            <a:avLst/>
          </a:prstGeom>
          <a:noFill/>
          <a:ln/>
        </p:spPr>
        <p:txBody>
          <a:bodyPr wrap="square" lIns="0" tIns="0" rIns="0" bIns="0" rtlCol="0" anchor="ctr"/>
          <a:lstStyle/>
          <a:p>
            <a:pPr marL="0" indent="0" algn="ctr">
              <a:buNone/>
            </a:pPr>
            <a:r>
              <a:rPr lang="en-US" sz="1800" b="1" dirty="0">
                <a:solidFill>
                  <a:srgbClr val="C8860A"/>
                </a:solidFill>
                <a:latin typeface="Calibri" pitchFamily="34" charset="0"/>
                <a:ea typeface="Calibri" pitchFamily="34" charset="-122"/>
                <a:cs typeface="Calibri" pitchFamily="34" charset="-120"/>
              </a:rPr>
              <a:t>−0.344</a:t>
            </a:r>
            <a:endParaRPr lang="en-US" sz="1800" dirty="0"/>
          </a:p>
        </p:txBody>
      </p:sp>
      <p:sp>
        <p:nvSpPr>
          <p:cNvPr id="18" name="Shape 16"/>
          <p:cNvSpPr/>
          <p:nvPr/>
        </p:nvSpPr>
        <p:spPr>
          <a:xfrm>
            <a:off x="6537960" y="4206240"/>
            <a:ext cx="1920240" cy="804672"/>
          </a:xfrm>
          <a:prstGeom prst="roundRect">
            <a:avLst>
              <a:gd name="adj" fmla="val 7955"/>
            </a:avLst>
          </a:prstGeom>
          <a:solidFill>
            <a:srgbClr val="FFF0EE"/>
          </a:solidFill>
          <a:ln/>
        </p:spPr>
        <p:txBody>
          <a:bodyPr/>
          <a:lstStyle/>
          <a:p>
            <a:endParaRPr lang="en-US"/>
          </a:p>
        </p:txBody>
      </p:sp>
      <p:sp>
        <p:nvSpPr>
          <p:cNvPr id="19" name="Text 17"/>
          <p:cNvSpPr/>
          <p:nvPr/>
        </p:nvSpPr>
        <p:spPr>
          <a:xfrm>
            <a:off x="6629400" y="4270248"/>
            <a:ext cx="1737360" cy="256032"/>
          </a:xfrm>
          <a:prstGeom prst="rect">
            <a:avLst/>
          </a:prstGeom>
          <a:noFill/>
          <a:ln/>
        </p:spPr>
        <p:txBody>
          <a:bodyPr wrap="square" lIns="38100" tIns="38100" rIns="38100" bIns="38100" rtlCol="0" anchor="t"/>
          <a:lstStyle/>
          <a:p>
            <a:pPr marL="0" indent="0" algn="l">
              <a:buNone/>
            </a:pPr>
            <a:r>
              <a:rPr lang="en-US" sz="950" dirty="0">
                <a:solidFill>
                  <a:srgbClr val="8A9BC1"/>
                </a:solidFill>
                <a:latin typeface="Calibri" pitchFamily="34" charset="0"/>
                <a:ea typeface="Calibri" pitchFamily="34" charset="-122"/>
                <a:cs typeface="Calibri" pitchFamily="34" charset="-120"/>
              </a:rPr>
              <a:t>TLT hit rate (5d)</a:t>
            </a:r>
            <a:endParaRPr lang="en-US" sz="950" dirty="0"/>
          </a:p>
        </p:txBody>
      </p:sp>
      <p:sp>
        <p:nvSpPr>
          <p:cNvPr id="20" name="Text 18"/>
          <p:cNvSpPr/>
          <p:nvPr/>
        </p:nvSpPr>
        <p:spPr>
          <a:xfrm>
            <a:off x="6629400" y="4544568"/>
            <a:ext cx="1737360" cy="347472"/>
          </a:xfrm>
          <a:prstGeom prst="rect">
            <a:avLst/>
          </a:prstGeom>
          <a:noFill/>
          <a:ln/>
        </p:spPr>
        <p:txBody>
          <a:bodyPr wrap="square" lIns="0" tIns="0" rIns="0" bIns="0" rtlCol="0" anchor="ctr"/>
          <a:lstStyle/>
          <a:p>
            <a:pPr marL="0" indent="0" algn="ctr">
              <a:buNone/>
            </a:pPr>
            <a:r>
              <a:rPr lang="en-US" sz="1800" b="1" dirty="0">
                <a:solidFill>
                  <a:srgbClr val="C0392B"/>
                </a:solidFill>
                <a:latin typeface="Calibri" pitchFamily="34" charset="0"/>
                <a:ea typeface="Calibri" pitchFamily="34" charset="-122"/>
                <a:cs typeface="Calibri" pitchFamily="34" charset="-120"/>
              </a:rPr>
              <a:t>31.8%</a:t>
            </a:r>
            <a:endParaRPr lang="en-US" sz="1800" dirty="0"/>
          </a:p>
        </p:txBody>
      </p:sp>
      <p:sp>
        <p:nvSpPr>
          <p:cNvPr id="21" name="Shape 19"/>
          <p:cNvSpPr/>
          <p:nvPr/>
        </p:nvSpPr>
        <p:spPr>
          <a:xfrm>
            <a:off x="8321040" y="4206240"/>
            <a:ext cx="502920" cy="804672"/>
          </a:xfrm>
          <a:prstGeom prst="roundRect">
            <a:avLst>
              <a:gd name="adj" fmla="val 12727"/>
            </a:avLst>
          </a:prstGeom>
          <a:solidFill>
            <a:srgbClr val="FFF0EE"/>
          </a:solidFill>
          <a:ln/>
        </p:spPr>
        <p:txBody>
          <a:bodyPr/>
          <a:lstStyle/>
          <a:p>
            <a:endParaRPr lang="en-US"/>
          </a:p>
        </p:txBody>
      </p:sp>
      <p:sp>
        <p:nvSpPr>
          <p:cNvPr id="22" name="Text 20"/>
          <p:cNvSpPr/>
          <p:nvPr/>
        </p:nvSpPr>
        <p:spPr>
          <a:xfrm>
            <a:off x="8339328" y="4224528"/>
            <a:ext cx="457200" cy="768096"/>
          </a:xfrm>
          <a:prstGeom prst="rect">
            <a:avLst/>
          </a:prstGeom>
          <a:noFill/>
          <a:ln/>
        </p:spPr>
        <p:txBody>
          <a:bodyPr wrap="square" lIns="0" tIns="0" rIns="0" bIns="0" rtlCol="0" anchor="ctr"/>
          <a:lstStyle/>
          <a:p>
            <a:pPr marL="0" indent="0" algn="ctr">
              <a:buNone/>
            </a:pPr>
            <a:r>
              <a:rPr lang="en-US" sz="800" dirty="0">
                <a:solidFill>
                  <a:srgbClr val="C0392B"/>
                </a:solidFill>
                <a:latin typeface="Calibri" pitchFamily="34" charset="0"/>
                <a:ea typeface="Calibri" pitchFamily="34" charset="-122"/>
                <a:cs typeface="Calibri" pitchFamily="34" charset="-120"/>
              </a:rPr>
              <a:t>→</a:t>
            </a:r>
            <a:endParaRPr lang="en-US" sz="800" dirty="0"/>
          </a:p>
          <a:p>
            <a:pPr marL="0" indent="0" algn="ctr">
              <a:buNone/>
            </a:pPr>
            <a:r>
              <a:rPr lang="en-US" sz="800" dirty="0">
                <a:solidFill>
                  <a:srgbClr val="C0392B"/>
                </a:solidFill>
                <a:latin typeface="Calibri" pitchFamily="34" charset="0"/>
                <a:ea typeface="Calibri" pitchFamily="34" charset="-122"/>
                <a:cs typeface="Calibri" pitchFamily="34" charset="-120"/>
              </a:rPr>
              <a:t>Design</a:t>
            </a:r>
            <a:endParaRPr lang="en-US" sz="800" dirty="0"/>
          </a:p>
          <a:p>
            <a:pPr marL="0" indent="0" algn="ctr">
              <a:buNone/>
            </a:pPr>
            <a:r>
              <a:rPr lang="en-US" sz="800" dirty="0">
                <a:solidFill>
                  <a:srgbClr val="C0392B"/>
                </a:solidFill>
                <a:latin typeface="Calibri" pitchFamily="34" charset="0"/>
                <a:ea typeface="Calibri" pitchFamily="34" charset="-122"/>
                <a:cs typeface="Calibri" pitchFamily="34" charset="-120"/>
              </a:rPr>
              <a:t>problem</a:t>
            </a:r>
            <a:endParaRPr lang="en-US" sz="800" dirty="0"/>
          </a:p>
        </p:txBody>
      </p:sp>
      <p:pic>
        <p:nvPicPr>
          <p:cNvPr id="23" name="Picture 22">
            <a:extLst>
              <a:ext uri="{FF2B5EF4-FFF2-40B4-BE49-F238E27FC236}">
                <a16:creationId xmlns:a16="http://schemas.microsoft.com/office/drawing/2014/main" id="{2D242D53-DE2A-2BB4-8038-F79F8477DBD4}"/>
              </a:ext>
            </a:extLst>
          </p:cNvPr>
          <p:cNvPicPr>
            <a:picLocks noChangeAspect="1"/>
          </p:cNvPicPr>
          <p:nvPr/>
        </p:nvPicPr>
        <p:blipFill>
          <a:blip r:embed="rId3"/>
          <a:stretch>
            <a:fillRect/>
          </a:stretch>
        </p:blipFill>
        <p:spPr>
          <a:xfrm>
            <a:off x="980335" y="1295856"/>
            <a:ext cx="7274770" cy="27483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3 REDESIGN — BERNANKE-KUTTNER</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200" b="1" dirty="0">
                <a:solidFill>
                  <a:srgbClr val="1E2761"/>
                </a:solidFill>
                <a:latin typeface="Calibri" pitchFamily="34" charset="0"/>
                <a:ea typeface="Calibri" pitchFamily="34" charset="-122"/>
                <a:cs typeface="Calibri" pitchFamily="34" charset="-120"/>
              </a:rPr>
              <a:t>Why the Surprise Distribution Is Near-Degenerate.</a:t>
            </a:r>
            <a:endParaRPr lang="en-US" sz="22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320040" y="1298448"/>
            <a:ext cx="5029200" cy="868680"/>
          </a:xfrm>
          <a:prstGeom prst="roundRect">
            <a:avLst>
              <a:gd name="adj" fmla="val 7368"/>
            </a:avLst>
          </a:prstGeom>
          <a:solidFill>
            <a:srgbClr val="F4F6FB"/>
          </a:solidFill>
          <a:ln/>
        </p:spPr>
        <p:txBody>
          <a:bodyPr/>
          <a:lstStyle/>
          <a:p>
            <a:endParaRPr lang="en-US"/>
          </a:p>
        </p:txBody>
      </p:sp>
      <p:sp>
        <p:nvSpPr>
          <p:cNvPr id="8" name="Text 6"/>
          <p:cNvSpPr/>
          <p:nvPr/>
        </p:nvSpPr>
        <p:spPr>
          <a:xfrm>
            <a:off x="457200" y="1362456"/>
            <a:ext cx="2011680" cy="256032"/>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~14 hold meetings</a:t>
            </a:r>
            <a:endParaRPr lang="en-US" sz="1100" dirty="0"/>
          </a:p>
        </p:txBody>
      </p:sp>
      <p:sp>
        <p:nvSpPr>
          <p:cNvPr id="9" name="Text 7"/>
          <p:cNvSpPr/>
          <p:nvPr/>
        </p:nvSpPr>
        <p:spPr>
          <a:xfrm>
            <a:off x="457200" y="1636776"/>
            <a:ext cx="4754880" cy="457200"/>
          </a:xfrm>
          <a:prstGeom prst="rect">
            <a:avLst/>
          </a:prstGeom>
          <a:noFill/>
          <a:ln/>
        </p:spPr>
        <p:txBody>
          <a:bodyPr wrap="square" lIns="38100" tIns="38100" rIns="38100" bIns="38100"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realized = 0  ·  Kalshi T-7 ≈ 0  ·  surprise ≈ 0</a:t>
            </a:r>
            <a:endParaRPr lang="en-US" sz="1200" dirty="0"/>
          </a:p>
        </p:txBody>
      </p:sp>
      <p:sp>
        <p:nvSpPr>
          <p:cNvPr id="10" name="Shape 8"/>
          <p:cNvSpPr/>
          <p:nvPr/>
        </p:nvSpPr>
        <p:spPr>
          <a:xfrm>
            <a:off x="320040" y="2286000"/>
            <a:ext cx="5029200" cy="868680"/>
          </a:xfrm>
          <a:prstGeom prst="roundRect">
            <a:avLst>
              <a:gd name="adj" fmla="val 7368"/>
            </a:avLst>
          </a:prstGeom>
          <a:solidFill>
            <a:srgbClr val="F4F6FB"/>
          </a:solidFill>
          <a:ln/>
        </p:spPr>
        <p:txBody>
          <a:bodyPr/>
          <a:lstStyle/>
          <a:p>
            <a:endParaRPr lang="en-US"/>
          </a:p>
        </p:txBody>
      </p:sp>
      <p:sp>
        <p:nvSpPr>
          <p:cNvPr id="11" name="Text 9"/>
          <p:cNvSpPr/>
          <p:nvPr/>
        </p:nvSpPr>
        <p:spPr>
          <a:xfrm>
            <a:off x="457200" y="2350008"/>
            <a:ext cx="2560320" cy="256032"/>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~8 consensus cut meetings</a:t>
            </a:r>
            <a:endParaRPr lang="en-US" sz="1100" dirty="0"/>
          </a:p>
        </p:txBody>
      </p:sp>
      <p:sp>
        <p:nvSpPr>
          <p:cNvPr id="12" name="Text 10"/>
          <p:cNvSpPr/>
          <p:nvPr/>
        </p:nvSpPr>
        <p:spPr>
          <a:xfrm>
            <a:off x="457200" y="2624328"/>
            <a:ext cx="4754880" cy="457200"/>
          </a:xfrm>
          <a:prstGeom prst="rect">
            <a:avLst/>
          </a:prstGeom>
          <a:noFill/>
          <a:ln/>
        </p:spPr>
        <p:txBody>
          <a:bodyPr wrap="square" lIns="38100" tIns="38100" rIns="38100" bIns="38100" rtlCol="0" anchor="t"/>
          <a:lstStyle/>
          <a:p>
            <a:pPr marL="0" indent="0" algn="l">
              <a:buNone/>
            </a:pPr>
            <a:r>
              <a:rPr lang="en-US" sz="1200" dirty="0">
                <a:solidFill>
                  <a:srgbClr val="333333"/>
                </a:solidFill>
                <a:latin typeface="Calibri" pitchFamily="34" charset="0"/>
                <a:ea typeface="Calibri" pitchFamily="34" charset="-122"/>
                <a:cs typeface="Calibri" pitchFamily="34" charset="-120"/>
              </a:rPr>
              <a:t>Kalshi correctly sized the cut  ·  surprise ≈ 0</a:t>
            </a:r>
            <a:endParaRPr lang="en-US" sz="1200" dirty="0"/>
          </a:p>
        </p:txBody>
      </p:sp>
      <p:sp>
        <p:nvSpPr>
          <p:cNvPr id="13" name="Shape 11"/>
          <p:cNvSpPr/>
          <p:nvPr/>
        </p:nvSpPr>
        <p:spPr>
          <a:xfrm>
            <a:off x="320040" y="3273552"/>
            <a:ext cx="5029200" cy="868680"/>
          </a:xfrm>
          <a:prstGeom prst="roundRect">
            <a:avLst>
              <a:gd name="adj" fmla="val 7368"/>
            </a:avLst>
          </a:prstGeom>
          <a:solidFill>
            <a:srgbClr val="1E4A2A"/>
          </a:solidFill>
          <a:ln/>
        </p:spPr>
        <p:txBody>
          <a:bodyPr/>
          <a:lstStyle/>
          <a:p>
            <a:endParaRPr lang="en-US"/>
          </a:p>
        </p:txBody>
      </p:sp>
      <p:sp>
        <p:nvSpPr>
          <p:cNvPr id="14" name="Text 12"/>
          <p:cNvSpPr/>
          <p:nvPr/>
        </p:nvSpPr>
        <p:spPr>
          <a:xfrm>
            <a:off x="457200" y="3337560"/>
            <a:ext cx="2926080" cy="256032"/>
          </a:xfrm>
          <a:prstGeom prst="rect">
            <a:avLst/>
          </a:prstGeom>
          <a:noFill/>
          <a:ln/>
        </p:spPr>
        <p:txBody>
          <a:bodyPr wrap="square" lIns="38100" tIns="38100" rIns="38100" bIns="38100" rtlCol="0" anchor="t"/>
          <a:lstStyle/>
          <a:p>
            <a:pPr marL="0" indent="0" algn="l">
              <a:buNone/>
            </a:pPr>
            <a:r>
              <a:rPr lang="en-US" sz="1100" b="1" dirty="0">
                <a:solidFill>
                  <a:srgbClr val="5AF07A"/>
                </a:solidFill>
                <a:latin typeface="Calibri" pitchFamily="34" charset="0"/>
                <a:ea typeface="Calibri" pitchFamily="34" charset="-122"/>
                <a:cs typeface="Calibri" pitchFamily="34" charset="-120"/>
              </a:rPr>
              <a:t>Sep 2024 — only genuine surprise</a:t>
            </a:r>
            <a:endParaRPr lang="en-US" sz="1100" dirty="0"/>
          </a:p>
        </p:txBody>
      </p:sp>
      <p:sp>
        <p:nvSpPr>
          <p:cNvPr id="15" name="Text 13"/>
          <p:cNvSpPr/>
          <p:nvPr/>
        </p:nvSpPr>
        <p:spPr>
          <a:xfrm>
            <a:off x="457200" y="3611880"/>
            <a:ext cx="4754880" cy="457200"/>
          </a:xfrm>
          <a:prstGeom prst="rect">
            <a:avLst/>
          </a:prstGeom>
          <a:noFill/>
          <a:ln/>
        </p:spPr>
        <p:txBody>
          <a:bodyPr wrap="square" lIns="38100" tIns="38100" rIns="38100" bIns="38100" rtlCol="0" anchor="t"/>
          <a:lstStyle/>
          <a:p>
            <a:pPr marL="0" indent="0" algn="l">
              <a:buNone/>
            </a:pPr>
            <a:r>
              <a:rPr lang="en-US" sz="1200" dirty="0">
                <a:solidFill>
                  <a:srgbClr val="FFFFFF"/>
                </a:solidFill>
                <a:latin typeface="Calibri" pitchFamily="34" charset="0"/>
                <a:ea typeface="Calibri" pitchFamily="34" charset="-122"/>
                <a:cs typeface="Calibri" pitchFamily="34" charset="-120"/>
              </a:rPr>
              <a:t>50bp delivered vs 25bp priced  →  −25bp dovish surprise</a:t>
            </a:r>
            <a:endParaRPr lang="en-US" sz="1200" dirty="0"/>
          </a:p>
        </p:txBody>
      </p:sp>
      <p:sp>
        <p:nvSpPr>
          <p:cNvPr id="16" name="Shape 14"/>
          <p:cNvSpPr/>
          <p:nvPr/>
        </p:nvSpPr>
        <p:spPr>
          <a:xfrm>
            <a:off x="320040" y="4251960"/>
            <a:ext cx="5029200" cy="713232"/>
          </a:xfrm>
          <a:prstGeom prst="roundRect">
            <a:avLst>
              <a:gd name="adj" fmla="val 8974"/>
            </a:avLst>
          </a:prstGeom>
          <a:solidFill>
            <a:srgbClr val="1E2761"/>
          </a:solidFill>
          <a:ln/>
        </p:spPr>
        <p:txBody>
          <a:bodyPr/>
          <a:lstStyle/>
          <a:p>
            <a:endParaRPr lang="en-US"/>
          </a:p>
        </p:txBody>
      </p:sp>
      <p:sp>
        <p:nvSpPr>
          <p:cNvPr id="17" name="Text 15"/>
          <p:cNvSpPr/>
          <p:nvPr/>
        </p:nvSpPr>
        <p:spPr>
          <a:xfrm>
            <a:off x="457200" y="4306824"/>
            <a:ext cx="4754880" cy="256032"/>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Regime explains the null. corr(T-7, T-1) = 0.9993 confirms it.</a:t>
            </a:r>
            <a:endParaRPr lang="en-US" sz="1100" dirty="0"/>
          </a:p>
        </p:txBody>
      </p:sp>
      <p:sp>
        <p:nvSpPr>
          <p:cNvPr id="18" name="Text 16"/>
          <p:cNvSpPr/>
          <p:nvPr/>
        </p:nvSpPr>
        <p:spPr>
          <a:xfrm>
            <a:off x="457200" y="4562856"/>
            <a:ext cx="4754880" cy="347472"/>
          </a:xfrm>
          <a:prstGeom prst="rect">
            <a:avLst/>
          </a:prstGeom>
          <a:noFill/>
          <a:ln/>
        </p:spPr>
        <p:txBody>
          <a:bodyPr wrap="square" lIns="38100" tIns="38100" rIns="38100" bIns="381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Diercks-Katz-Wright (2026): Kalshi MAE flattens near T-10. Same regime.</a:t>
            </a:r>
            <a:endParaRPr lang="en-US" sz="1100" dirty="0"/>
          </a:p>
        </p:txBody>
      </p:sp>
      <p:sp>
        <p:nvSpPr>
          <p:cNvPr id="19" name="Shape 17"/>
          <p:cNvSpPr/>
          <p:nvPr/>
        </p:nvSpPr>
        <p:spPr>
          <a:xfrm>
            <a:off x="5532120" y="1298448"/>
            <a:ext cx="3291840" cy="1051560"/>
          </a:xfrm>
          <a:prstGeom prst="roundRect">
            <a:avLst>
              <a:gd name="adj" fmla="val 6087"/>
            </a:avLst>
          </a:prstGeom>
          <a:solidFill>
            <a:srgbClr val="F4F6FB"/>
          </a:solidFill>
          <a:ln/>
        </p:spPr>
        <p:txBody>
          <a:bodyPr/>
          <a:lstStyle/>
          <a:p>
            <a:endParaRPr lang="en-US"/>
          </a:p>
        </p:txBody>
      </p:sp>
      <p:sp>
        <p:nvSpPr>
          <p:cNvPr id="20" name="Text 18"/>
          <p:cNvSpPr/>
          <p:nvPr/>
        </p:nvSpPr>
        <p:spPr>
          <a:xfrm>
            <a:off x="5669280" y="1362456"/>
            <a:ext cx="3017520" cy="256032"/>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Signal construction</a:t>
            </a:r>
            <a:endParaRPr lang="en-US" sz="1100" dirty="0"/>
          </a:p>
        </p:txBody>
      </p:sp>
      <p:sp>
        <p:nvSpPr>
          <p:cNvPr id="21" name="Text 19"/>
          <p:cNvSpPr/>
          <p:nvPr/>
        </p:nvSpPr>
        <p:spPr>
          <a:xfrm>
            <a:off x="5669280" y="1664208"/>
            <a:ext cx="3017520" cy="621792"/>
          </a:xfrm>
          <a:prstGeom prst="rect">
            <a:avLst/>
          </a:prstGeom>
          <a:noFill/>
          <a:ln/>
        </p:spPr>
        <p:txBody>
          <a:bodyPr wrap="square" lIns="50800" tIns="50800" rIns="50800" bIns="50800" rtlCol="0" anchor="ctr"/>
          <a:lstStyle/>
          <a:p>
            <a:pPr marL="0" indent="0" algn="ctr">
              <a:buNone/>
            </a:pPr>
            <a:r>
              <a:rPr lang="en-US" sz="1200" i="1" dirty="0">
                <a:solidFill>
                  <a:srgbClr val="1E2761"/>
                </a:solidFill>
                <a:latin typeface="Calibri" pitchFamily="34" charset="0"/>
                <a:ea typeface="Calibri" pitchFamily="34" charset="-122"/>
                <a:cs typeface="Calibri" pitchFamily="34" charset="-120"/>
              </a:rPr>
              <a:t>surprise_bps  =  decision_bps  −  kalshi_expected_T7</a:t>
            </a:r>
            <a:endParaRPr lang="en-US" sz="1200" dirty="0"/>
          </a:p>
        </p:txBody>
      </p:sp>
      <p:sp>
        <p:nvSpPr>
          <p:cNvPr id="22" name="Shape 20"/>
          <p:cNvSpPr/>
          <p:nvPr/>
        </p:nvSpPr>
        <p:spPr>
          <a:xfrm>
            <a:off x="5532120" y="2468880"/>
            <a:ext cx="3291840" cy="1901952"/>
          </a:xfrm>
          <a:prstGeom prst="roundRect">
            <a:avLst>
              <a:gd name="adj" fmla="val 3365"/>
            </a:avLst>
          </a:prstGeom>
          <a:solidFill>
            <a:srgbClr val="F4F6FB"/>
          </a:solidFill>
          <a:ln/>
        </p:spPr>
        <p:txBody>
          <a:bodyPr/>
          <a:lstStyle/>
          <a:p>
            <a:endParaRPr lang="en-US"/>
          </a:p>
        </p:txBody>
      </p:sp>
      <p:sp>
        <p:nvSpPr>
          <p:cNvPr id="23" name="Text 21"/>
          <p:cNvSpPr/>
          <p:nvPr/>
        </p:nvSpPr>
        <p:spPr>
          <a:xfrm>
            <a:off x="5669280" y="2532888"/>
            <a:ext cx="3017520" cy="274320"/>
          </a:xfrm>
          <a:prstGeom prst="rect">
            <a:avLst/>
          </a:prstGeom>
          <a:noFill/>
          <a:ln/>
        </p:spPr>
        <p:txBody>
          <a:bodyPr wrap="square" lIns="38100" tIns="38100" rIns="38100" bIns="38100" rtlCol="0" anchor="t"/>
          <a:lstStyle/>
          <a:p>
            <a:pPr marL="0" indent="0" algn="l">
              <a:buNone/>
            </a:pPr>
            <a:r>
              <a:rPr lang="en-US" sz="1100" b="1" dirty="0">
                <a:solidFill>
                  <a:srgbClr val="2E7DD1"/>
                </a:solidFill>
                <a:latin typeface="Calibri" pitchFamily="34" charset="0"/>
                <a:ea typeface="Calibri" pitchFamily="34" charset="-122"/>
                <a:cs typeface="Calibri" pitchFamily="34" charset="-120"/>
              </a:rPr>
              <a:t>OLS results — same-day OTC, HAC SE</a:t>
            </a:r>
            <a:endParaRPr lang="en-US" sz="1100" dirty="0"/>
          </a:p>
        </p:txBody>
      </p:sp>
      <p:sp>
        <p:nvSpPr>
          <p:cNvPr id="24" name="Text 22"/>
          <p:cNvSpPr/>
          <p:nvPr/>
        </p:nvSpPr>
        <p:spPr>
          <a:xfrm>
            <a:off x="5669280" y="2889504"/>
            <a:ext cx="1645920" cy="256032"/>
          </a:xfrm>
          <a:prstGeom prst="rect">
            <a:avLst/>
          </a:prstGeom>
          <a:noFill/>
          <a:ln/>
        </p:spPr>
        <p:txBody>
          <a:bodyPr wrap="square" lIns="38100" tIns="38100" rIns="38100" bIns="3810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IEI (primary)</a:t>
            </a:r>
            <a:endParaRPr lang="en-US" sz="1100" dirty="0"/>
          </a:p>
        </p:txBody>
      </p:sp>
      <p:sp>
        <p:nvSpPr>
          <p:cNvPr id="25" name="Text 23"/>
          <p:cNvSpPr/>
          <p:nvPr/>
        </p:nvSpPr>
        <p:spPr>
          <a:xfrm>
            <a:off x="7114032" y="2889504"/>
            <a:ext cx="685800" cy="256032"/>
          </a:xfrm>
          <a:prstGeom prst="rect">
            <a:avLst/>
          </a:prstGeom>
          <a:noFill/>
          <a:ln/>
        </p:spPr>
        <p:txBody>
          <a:bodyPr wrap="square" lIns="0" tIns="0" rIns="0" bIns="0" rtlCol="0" anchor="t"/>
          <a:lstStyle/>
          <a:p>
            <a:pPr marL="0" indent="0" algn="r">
              <a:buNone/>
            </a:pPr>
            <a:r>
              <a:rPr lang="en-US" sz="1100" b="1" dirty="0">
                <a:solidFill>
                  <a:srgbClr val="C0392B"/>
                </a:solidFill>
                <a:latin typeface="Calibri" pitchFamily="34" charset="0"/>
                <a:ea typeface="Calibri" pitchFamily="34" charset="-122"/>
                <a:cs typeface="Calibri" pitchFamily="34" charset="-120"/>
              </a:rPr>
              <a:t>p=0.963</a:t>
            </a:r>
            <a:endParaRPr lang="en-US" sz="1100" dirty="0"/>
          </a:p>
        </p:txBody>
      </p:sp>
      <p:sp>
        <p:nvSpPr>
          <p:cNvPr id="26" name="Text 24"/>
          <p:cNvSpPr/>
          <p:nvPr/>
        </p:nvSpPr>
        <p:spPr>
          <a:xfrm>
            <a:off x="7845552" y="2889504"/>
            <a:ext cx="914400" cy="256032"/>
          </a:xfrm>
          <a:prstGeom prst="rect">
            <a:avLst/>
          </a:prstGeom>
          <a:noFill/>
          <a:ln/>
        </p:spPr>
        <p:txBody>
          <a:bodyPr wrap="square" lIns="0" tIns="0" rIns="0" bIns="0" rtlCol="0" anchor="t"/>
          <a:lstStyle/>
          <a:p>
            <a:pPr marL="0" indent="0" algn="r">
              <a:buNone/>
            </a:pPr>
            <a:r>
              <a:rPr lang="en-US" sz="850" i="1" dirty="0">
                <a:solidFill>
                  <a:srgbClr val="8A9BC1"/>
                </a:solidFill>
                <a:latin typeface="Calibri" pitchFamily="34" charset="0"/>
                <a:ea typeface="Calibri" pitchFamily="34" charset="-122"/>
                <a:cs typeface="Calibri" pitchFamily="34" charset="-120"/>
              </a:rPr>
              <a:t>Null — near-zero surprise</a:t>
            </a:r>
            <a:endParaRPr lang="en-US" sz="850" dirty="0"/>
          </a:p>
        </p:txBody>
      </p:sp>
      <p:sp>
        <p:nvSpPr>
          <p:cNvPr id="27" name="Text 25"/>
          <p:cNvSpPr/>
          <p:nvPr/>
        </p:nvSpPr>
        <p:spPr>
          <a:xfrm>
            <a:off x="5669280" y="3364992"/>
            <a:ext cx="1645920" cy="256032"/>
          </a:xfrm>
          <a:prstGeom prst="rect">
            <a:avLst/>
          </a:prstGeom>
          <a:noFill/>
          <a:ln/>
        </p:spPr>
        <p:txBody>
          <a:bodyPr wrap="square" lIns="38100" tIns="38100" rIns="38100" bIns="3810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KRE (primary)</a:t>
            </a:r>
            <a:endParaRPr lang="en-US" sz="1100" dirty="0"/>
          </a:p>
        </p:txBody>
      </p:sp>
      <p:sp>
        <p:nvSpPr>
          <p:cNvPr id="28" name="Text 26"/>
          <p:cNvSpPr/>
          <p:nvPr/>
        </p:nvSpPr>
        <p:spPr>
          <a:xfrm>
            <a:off x="7114032" y="3364992"/>
            <a:ext cx="685800" cy="256032"/>
          </a:xfrm>
          <a:prstGeom prst="rect">
            <a:avLst/>
          </a:prstGeom>
          <a:noFill/>
          <a:ln/>
        </p:spPr>
        <p:txBody>
          <a:bodyPr wrap="square" lIns="0" tIns="0" rIns="0" bIns="0" rtlCol="0" anchor="t"/>
          <a:lstStyle/>
          <a:p>
            <a:pPr marL="0" indent="0" algn="r">
              <a:buNone/>
            </a:pPr>
            <a:r>
              <a:rPr lang="en-US" sz="1100" b="1" dirty="0">
                <a:solidFill>
                  <a:srgbClr val="C8860A"/>
                </a:solidFill>
                <a:latin typeface="Calibri" pitchFamily="34" charset="0"/>
                <a:ea typeface="Calibri" pitchFamily="34" charset="-122"/>
                <a:cs typeface="Calibri" pitchFamily="34" charset="-120"/>
              </a:rPr>
              <a:t>p=0.116</a:t>
            </a:r>
            <a:endParaRPr lang="en-US" sz="1100" dirty="0"/>
          </a:p>
        </p:txBody>
      </p:sp>
      <p:sp>
        <p:nvSpPr>
          <p:cNvPr id="29" name="Text 27"/>
          <p:cNvSpPr/>
          <p:nvPr/>
        </p:nvSpPr>
        <p:spPr>
          <a:xfrm>
            <a:off x="7845552" y="3364992"/>
            <a:ext cx="914400" cy="256032"/>
          </a:xfrm>
          <a:prstGeom prst="rect">
            <a:avLst/>
          </a:prstGeom>
          <a:noFill/>
          <a:ln/>
        </p:spPr>
        <p:txBody>
          <a:bodyPr wrap="square" lIns="0" tIns="0" rIns="0" bIns="0" rtlCol="0" anchor="t"/>
          <a:lstStyle/>
          <a:p>
            <a:pPr marL="0" indent="0" algn="r">
              <a:buNone/>
            </a:pPr>
            <a:r>
              <a:rPr lang="en-US" sz="850" i="1" dirty="0">
                <a:solidFill>
                  <a:srgbClr val="8A9BC1"/>
                </a:solidFill>
                <a:latin typeface="Calibri" pitchFamily="34" charset="0"/>
                <a:ea typeface="Calibri" pitchFamily="34" charset="-122"/>
                <a:cs typeface="Calibri" pitchFamily="34" charset="-120"/>
              </a:rPr>
              <a:t>Best result, correct sign</a:t>
            </a:r>
            <a:endParaRPr lang="en-US" sz="850" dirty="0"/>
          </a:p>
        </p:txBody>
      </p:sp>
      <p:sp>
        <p:nvSpPr>
          <p:cNvPr id="30" name="Text 28"/>
          <p:cNvSpPr/>
          <p:nvPr/>
        </p:nvSpPr>
        <p:spPr>
          <a:xfrm>
            <a:off x="5669280" y="3840480"/>
            <a:ext cx="1645920" cy="256032"/>
          </a:xfrm>
          <a:prstGeom prst="rect">
            <a:avLst/>
          </a:prstGeom>
          <a:noFill/>
          <a:ln/>
        </p:spPr>
        <p:txBody>
          <a:bodyPr wrap="square" lIns="38100" tIns="38100" rIns="38100" bIns="38100" rtlCol="0" anchor="ctr"/>
          <a:lstStyle/>
          <a:p>
            <a:pPr marL="0" indent="0" algn="l">
              <a:buNone/>
            </a:pPr>
            <a:r>
              <a:rPr lang="en-US" sz="1100" dirty="0">
                <a:solidFill>
                  <a:srgbClr val="444444"/>
                </a:solidFill>
                <a:latin typeface="Calibri" pitchFamily="34" charset="0"/>
                <a:ea typeface="Calibri" pitchFamily="34" charset="-122"/>
                <a:cs typeface="Calibri" pitchFamily="34" charset="-120"/>
              </a:rPr>
              <a:t>KRE flat-curve</a:t>
            </a:r>
            <a:endParaRPr lang="en-US" sz="1100" dirty="0"/>
          </a:p>
        </p:txBody>
      </p:sp>
      <p:sp>
        <p:nvSpPr>
          <p:cNvPr id="31" name="Text 29"/>
          <p:cNvSpPr/>
          <p:nvPr/>
        </p:nvSpPr>
        <p:spPr>
          <a:xfrm>
            <a:off x="7114032" y="3840480"/>
            <a:ext cx="685800" cy="256032"/>
          </a:xfrm>
          <a:prstGeom prst="rect">
            <a:avLst/>
          </a:prstGeom>
          <a:noFill/>
          <a:ln/>
        </p:spPr>
        <p:txBody>
          <a:bodyPr wrap="square" lIns="0" tIns="0" rIns="0" bIns="0" rtlCol="0" anchor="t"/>
          <a:lstStyle/>
          <a:p>
            <a:pPr marL="0" indent="0" algn="r">
              <a:buNone/>
            </a:pPr>
            <a:r>
              <a:rPr lang="en-US" sz="1100" b="1" dirty="0">
                <a:solidFill>
                  <a:srgbClr val="1A7A4A"/>
                </a:solidFill>
                <a:latin typeface="Calibri" pitchFamily="34" charset="0"/>
                <a:ea typeface="Calibri" pitchFamily="34" charset="-122"/>
                <a:cs typeface="Calibri" pitchFamily="34" charset="-120"/>
              </a:rPr>
              <a:t>p=0.003</a:t>
            </a:r>
            <a:endParaRPr lang="en-US" sz="1100" dirty="0"/>
          </a:p>
        </p:txBody>
      </p:sp>
      <p:sp>
        <p:nvSpPr>
          <p:cNvPr id="32" name="Text 30"/>
          <p:cNvSpPr/>
          <p:nvPr/>
        </p:nvSpPr>
        <p:spPr>
          <a:xfrm>
            <a:off x="7845552" y="3840480"/>
            <a:ext cx="914400" cy="256032"/>
          </a:xfrm>
          <a:prstGeom prst="rect">
            <a:avLst/>
          </a:prstGeom>
          <a:noFill/>
          <a:ln/>
        </p:spPr>
        <p:txBody>
          <a:bodyPr wrap="square" lIns="0" tIns="0" rIns="0" bIns="0" rtlCol="0" anchor="t"/>
          <a:lstStyle/>
          <a:p>
            <a:pPr marL="0" indent="0" algn="r">
              <a:buNone/>
            </a:pPr>
            <a:r>
              <a:rPr lang="en-US" sz="850" i="1" dirty="0">
                <a:solidFill>
                  <a:srgbClr val="8A9BC1"/>
                </a:solidFill>
                <a:latin typeface="Calibri" pitchFamily="34" charset="0"/>
                <a:ea typeface="Calibri" pitchFamily="34" charset="-122"/>
                <a:cs typeface="Calibri" pitchFamily="34" charset="-120"/>
              </a:rPr>
              <a:t>Regime conditioning ✓</a:t>
            </a:r>
            <a:endParaRPr lang="en-US" sz="850" dirty="0"/>
          </a:p>
        </p:txBody>
      </p:sp>
      <p:sp>
        <p:nvSpPr>
          <p:cNvPr id="33" name="Shape 31"/>
          <p:cNvSpPr/>
          <p:nvPr/>
        </p:nvSpPr>
        <p:spPr>
          <a:xfrm>
            <a:off x="5532120" y="4480560"/>
            <a:ext cx="3291840" cy="484632"/>
          </a:xfrm>
          <a:prstGeom prst="roundRect">
            <a:avLst>
              <a:gd name="adj" fmla="val 13208"/>
            </a:avLst>
          </a:prstGeom>
          <a:solidFill>
            <a:srgbClr val="0F1A3A"/>
          </a:solidFill>
          <a:ln/>
        </p:spPr>
        <p:txBody>
          <a:bodyPr/>
          <a:lstStyle/>
          <a:p>
            <a:endParaRPr lang="en-US"/>
          </a:p>
        </p:txBody>
      </p:sp>
      <p:sp>
        <p:nvSpPr>
          <p:cNvPr id="34" name="Text 32"/>
          <p:cNvSpPr/>
          <p:nvPr/>
        </p:nvSpPr>
        <p:spPr>
          <a:xfrm>
            <a:off x="5669280" y="4535424"/>
            <a:ext cx="3017520" cy="384048"/>
          </a:xfrm>
          <a:prstGeom prst="rect">
            <a:avLst/>
          </a:prstGeom>
          <a:noFill/>
          <a:ln/>
        </p:spPr>
        <p:txBody>
          <a:bodyPr wrap="square" lIns="38100" tIns="38100" rIns="38100" bIns="38100" rtlCol="0" anchor="ctr"/>
          <a:lstStyle/>
          <a:p>
            <a:pPr marL="0" indent="0" algn="l">
              <a:buNone/>
            </a:pPr>
            <a:r>
              <a:rPr lang="en-US" sz="1000" dirty="0">
                <a:solidFill>
                  <a:srgbClr val="CADCFC"/>
                </a:solidFill>
                <a:latin typeface="Calibri" pitchFamily="34" charset="0"/>
                <a:ea typeface="Calibri" pitchFamily="34" charset="-122"/>
                <a:cs typeface="Calibri" pitchFamily="34" charset="-120"/>
              </a:rPr>
              <a:t>Sep 2024 drives IEI IC = 0.148. Remove it → IC collapses. One genuine surprise event.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958"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PHASE 3 REDESIGN — RESULTS</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200" b="1" dirty="0">
                <a:solidFill>
                  <a:srgbClr val="1E2761"/>
                </a:solidFill>
                <a:latin typeface="Calibri" pitchFamily="34" charset="0"/>
                <a:ea typeface="Calibri" pitchFamily="34" charset="-122"/>
                <a:cs typeface="Calibri" pitchFamily="34" charset="-120"/>
              </a:rPr>
              <a:t>Surprise Signal: Distribution, Scatter, and IC Comparison.</a:t>
            </a:r>
            <a:endParaRPr lang="en-US" sz="22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8" name="Text 6"/>
          <p:cNvSpPr/>
          <p:nvPr/>
        </p:nvSpPr>
        <p:spPr>
          <a:xfrm>
            <a:off x="320040" y="1261872"/>
            <a:ext cx="8503920" cy="3200400"/>
          </a:xfrm>
          <a:prstGeom prst="rect">
            <a:avLst/>
          </a:prstGeom>
          <a:noFill/>
          <a:ln/>
        </p:spPr>
        <p:txBody>
          <a:bodyPr wrap="square" lIns="38100" tIns="38100" rIns="38100" bIns="38100" rtlCol="0" anchor="ctr"/>
          <a:lstStyle/>
          <a:p>
            <a:pPr marL="0" indent="0" algn="ctr">
              <a:buNone/>
            </a:pPr>
            <a:r>
              <a:rPr lang="en-US" sz="900" i="1" dirty="0">
                <a:solidFill>
                  <a:srgbClr val="8A9BC1"/>
                </a:solidFill>
                <a:latin typeface="Calibri" pitchFamily="34" charset="0"/>
                <a:ea typeface="Calibri" pitchFamily="34" charset="-122"/>
                <a:cs typeface="Calibri" pitchFamily="34" charset="-120"/>
              </a:rPr>
              <a:t>[ INS]</a:t>
            </a:r>
            <a:endParaRPr lang="en-US" sz="900" dirty="0"/>
          </a:p>
        </p:txBody>
      </p:sp>
      <p:sp>
        <p:nvSpPr>
          <p:cNvPr id="9" name="Shape 7"/>
          <p:cNvSpPr/>
          <p:nvPr/>
        </p:nvSpPr>
        <p:spPr>
          <a:xfrm>
            <a:off x="320040" y="4590288"/>
            <a:ext cx="4160520" cy="438912"/>
          </a:xfrm>
          <a:prstGeom prst="roundRect">
            <a:avLst>
              <a:gd name="adj" fmla="val 14583"/>
            </a:avLst>
          </a:prstGeom>
          <a:solidFill>
            <a:srgbClr val="F4F6FB"/>
          </a:solidFill>
          <a:ln/>
        </p:spPr>
        <p:txBody>
          <a:bodyPr/>
          <a:lstStyle/>
          <a:p>
            <a:endParaRPr lang="en-US"/>
          </a:p>
        </p:txBody>
      </p:sp>
      <p:sp>
        <p:nvSpPr>
          <p:cNvPr id="10" name="Text 8"/>
          <p:cNvSpPr/>
          <p:nvPr/>
        </p:nvSpPr>
        <p:spPr>
          <a:xfrm>
            <a:off x="457200" y="4645152"/>
            <a:ext cx="3931920" cy="329184"/>
          </a:xfrm>
          <a:prstGeom prst="rect">
            <a:avLst/>
          </a:prstGeom>
          <a:noFill/>
          <a:ln/>
        </p:spPr>
        <p:txBody>
          <a:bodyPr wrap="square" lIns="0" tIns="0" rIns="0" bIns="0" rtlCol="0" anchor="ctr"/>
          <a:lstStyle/>
          <a:p>
            <a:pPr marL="0" indent="0" algn="l">
              <a:buNone/>
            </a:pPr>
            <a:r>
              <a:rPr lang="en-US" sz="1000" dirty="0">
                <a:solidFill>
                  <a:srgbClr val="444444"/>
                </a:solidFill>
                <a:latin typeface="Calibri" pitchFamily="34" charset="0"/>
                <a:ea typeface="Calibri" pitchFamily="34" charset="-122"/>
                <a:cs typeface="Calibri" pitchFamily="34" charset="-120"/>
              </a:rPr>
              <a:t>Top row: surprise distribution, IEI OTC vs surprise (primary), KRE OTC vs surprise (primary)</a:t>
            </a:r>
            <a:endParaRPr lang="en-US" sz="1000" dirty="0"/>
          </a:p>
        </p:txBody>
      </p:sp>
      <p:sp>
        <p:nvSpPr>
          <p:cNvPr id="11" name="Shape 9"/>
          <p:cNvSpPr/>
          <p:nvPr/>
        </p:nvSpPr>
        <p:spPr>
          <a:xfrm>
            <a:off x="4663440" y="4590288"/>
            <a:ext cx="4160520" cy="438912"/>
          </a:xfrm>
          <a:prstGeom prst="roundRect">
            <a:avLst>
              <a:gd name="adj" fmla="val 14583"/>
            </a:avLst>
          </a:prstGeom>
          <a:solidFill>
            <a:srgbClr val="F4F6FB"/>
          </a:solidFill>
          <a:ln/>
        </p:spPr>
        <p:txBody>
          <a:bodyPr/>
          <a:lstStyle/>
          <a:p>
            <a:endParaRPr lang="en-US"/>
          </a:p>
        </p:txBody>
      </p:sp>
      <p:sp>
        <p:nvSpPr>
          <p:cNvPr id="12" name="Text 10"/>
          <p:cNvSpPr/>
          <p:nvPr/>
        </p:nvSpPr>
        <p:spPr>
          <a:xfrm>
            <a:off x="4800600" y="4645152"/>
            <a:ext cx="3931920" cy="329184"/>
          </a:xfrm>
          <a:prstGeom prst="rect">
            <a:avLst/>
          </a:prstGeom>
          <a:noFill/>
          <a:ln/>
        </p:spPr>
        <p:txBody>
          <a:bodyPr wrap="square" lIns="0" tIns="0" rIns="0" bIns="0" rtlCol="0" anchor="ctr"/>
          <a:lstStyle/>
          <a:p>
            <a:pPr marL="0" indent="0" algn="l">
              <a:buNone/>
            </a:pPr>
            <a:r>
              <a:rPr lang="en-US" sz="1000" dirty="0">
                <a:solidFill>
                  <a:srgbClr val="444444"/>
                </a:solidFill>
                <a:latin typeface="Calibri" pitchFamily="34" charset="0"/>
                <a:ea typeface="Calibri" pitchFamily="34" charset="-122"/>
                <a:cs typeface="Calibri" pitchFamily="34" charset="-120"/>
              </a:rPr>
              <a:t>Bottom row: bootstrap Sharpe CIs, IC comparison (surprise vs expectation), OTC IC by asset (blue=correct sign)</a:t>
            </a:r>
            <a:endParaRPr lang="en-US" sz="1000" dirty="0"/>
          </a:p>
        </p:txBody>
      </p:sp>
      <p:pic>
        <p:nvPicPr>
          <p:cNvPr id="16" name="Picture 15">
            <a:extLst>
              <a:ext uri="{FF2B5EF4-FFF2-40B4-BE49-F238E27FC236}">
                <a16:creationId xmlns:a16="http://schemas.microsoft.com/office/drawing/2014/main" id="{98A032B5-7A15-DCC6-6643-7081B2065D82}"/>
              </a:ext>
            </a:extLst>
          </p:cNvPr>
          <p:cNvPicPr>
            <a:picLocks noChangeAspect="1"/>
          </p:cNvPicPr>
          <p:nvPr/>
        </p:nvPicPr>
        <p:blipFill>
          <a:blip r:embed="rId3"/>
          <a:stretch>
            <a:fillRect/>
          </a:stretch>
        </p:blipFill>
        <p:spPr>
          <a:xfrm>
            <a:off x="2101684" y="1261872"/>
            <a:ext cx="4940632" cy="31680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A3A"/>
          </a:solidFill>
          <a:ln/>
        </p:spPr>
        <p:txBody>
          <a:bodyPr/>
          <a:lstStyle/>
          <a:p>
            <a:endParaRPr lang="en-US"/>
          </a:p>
        </p:txBody>
      </p:sp>
      <p:sp>
        <p:nvSpPr>
          <p:cNvPr id="3" name="Text 1"/>
          <p:cNvSpPr/>
          <p:nvPr/>
        </p:nvSpPr>
        <p:spPr>
          <a:xfrm>
            <a:off x="457200" y="347472"/>
            <a:ext cx="8229600" cy="658368"/>
          </a:xfrm>
          <a:prstGeom prst="rect">
            <a:avLst/>
          </a:prstGeom>
          <a:noFill/>
          <a:ln/>
        </p:spPr>
        <p:txBody>
          <a:bodyPr wrap="square" lIns="0" tIns="0" rIns="0" bIns="0" rtlCol="0" anchor="ctr"/>
          <a:lstStyle/>
          <a:p>
            <a:pPr marL="0" indent="0" algn="ctr">
              <a:buNone/>
            </a:pPr>
            <a:r>
              <a:rPr lang="en-US" sz="2700" b="1" dirty="0">
                <a:solidFill>
                  <a:srgbClr val="FFFFFF"/>
                </a:solidFill>
                <a:latin typeface="Calibri" pitchFamily="34" charset="0"/>
                <a:ea typeface="Calibri" pitchFamily="34" charset="-122"/>
                <a:cs typeface="Calibri" pitchFamily="34" charset="-120"/>
              </a:rPr>
              <a:t>Kalshi FOMC markets are efficient by every test we constructed.</a:t>
            </a:r>
            <a:endParaRPr lang="en-US" sz="2700" dirty="0"/>
          </a:p>
        </p:txBody>
      </p:sp>
      <p:sp>
        <p:nvSpPr>
          <p:cNvPr id="4" name="Shape 2"/>
          <p:cNvSpPr/>
          <p:nvPr/>
        </p:nvSpPr>
        <p:spPr>
          <a:xfrm>
            <a:off x="320040" y="1207008"/>
            <a:ext cx="1234440" cy="749808"/>
          </a:xfrm>
          <a:prstGeom prst="roundRect">
            <a:avLst>
              <a:gd name="adj" fmla="val 8537"/>
            </a:avLst>
          </a:prstGeom>
          <a:solidFill>
            <a:srgbClr val="2E5594"/>
          </a:solidFill>
          <a:ln/>
        </p:spPr>
        <p:txBody>
          <a:bodyPr/>
          <a:lstStyle/>
          <a:p>
            <a:endParaRPr lang="en-US"/>
          </a:p>
        </p:txBody>
      </p:sp>
      <p:sp>
        <p:nvSpPr>
          <p:cNvPr id="5" name="Text 3"/>
          <p:cNvSpPr/>
          <p:nvPr/>
        </p:nvSpPr>
        <p:spPr>
          <a:xfrm>
            <a:off x="320040" y="1261872"/>
            <a:ext cx="123444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p:txBody>
      </p:sp>
      <p:sp>
        <p:nvSpPr>
          <p:cNvPr id="6" name="Shape 4"/>
          <p:cNvSpPr/>
          <p:nvPr/>
        </p:nvSpPr>
        <p:spPr>
          <a:xfrm>
            <a:off x="1691640" y="1207008"/>
            <a:ext cx="2468880" cy="749808"/>
          </a:xfrm>
          <a:prstGeom prst="roundRect">
            <a:avLst>
              <a:gd name="adj" fmla="val 8537"/>
            </a:avLst>
          </a:prstGeom>
          <a:solidFill>
            <a:srgbClr val="1E3060"/>
          </a:solidFill>
          <a:ln/>
        </p:spPr>
        <p:txBody>
          <a:bodyPr/>
          <a:lstStyle/>
          <a:p>
            <a:endParaRPr lang="en-US"/>
          </a:p>
        </p:txBody>
      </p:sp>
      <p:sp>
        <p:nvSpPr>
          <p:cNvPr id="7" name="Text 5"/>
          <p:cNvSpPr/>
          <p:nvPr/>
        </p:nvSpPr>
        <p:spPr>
          <a:xfrm>
            <a:off x="1810512" y="1389888"/>
            <a:ext cx="2231136" cy="384048"/>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LM + Kalshi MixMCP (7 meetings)</a:t>
            </a:r>
            <a:endParaRPr lang="en-US" sz="1100" dirty="0"/>
          </a:p>
        </p:txBody>
      </p:sp>
      <p:sp>
        <p:nvSpPr>
          <p:cNvPr id="8" name="Shape 6"/>
          <p:cNvSpPr/>
          <p:nvPr/>
        </p:nvSpPr>
        <p:spPr>
          <a:xfrm>
            <a:off x="4297680" y="1207008"/>
            <a:ext cx="1920240" cy="749808"/>
          </a:xfrm>
          <a:prstGeom prst="roundRect">
            <a:avLst>
              <a:gd name="adj" fmla="val 8537"/>
            </a:avLst>
          </a:prstGeom>
          <a:solidFill>
            <a:srgbClr val="1E3060"/>
          </a:solidFill>
          <a:ln/>
        </p:spPr>
        <p:txBody>
          <a:bodyPr/>
          <a:lstStyle/>
          <a:p>
            <a:endParaRPr lang="en-US"/>
          </a:p>
        </p:txBody>
      </p:sp>
      <p:sp>
        <p:nvSpPr>
          <p:cNvPr id="9" name="Text 7"/>
          <p:cNvSpPr/>
          <p:nvPr/>
        </p:nvSpPr>
        <p:spPr>
          <a:xfrm>
            <a:off x="4416552" y="1335024"/>
            <a:ext cx="1700784" cy="493776"/>
          </a:xfrm>
          <a:prstGeom prst="rect">
            <a:avLst/>
          </a:prstGeom>
          <a:noFill/>
          <a:ln/>
        </p:spPr>
        <p:txBody>
          <a:bodyPr wrap="square" lIns="25400" tIns="25400" rIns="25400" bIns="25400" rtlCol="0" anchor="ctr"/>
          <a:lstStyle/>
          <a:p>
            <a:pPr marL="0" indent="0" algn="ctr">
              <a:buNone/>
            </a:pPr>
            <a:r>
              <a:rPr lang="en-US" sz="1400" b="1" dirty="0">
                <a:solidFill>
                  <a:srgbClr val="C8860A"/>
                </a:solidFill>
                <a:latin typeface="Calibri" pitchFamily="34" charset="0"/>
                <a:ea typeface="Calibri" pitchFamily="34" charset="-122"/>
                <a:cs typeface="Calibri" pitchFamily="34" charset="-120"/>
              </a:rPr>
              <a:t>α* = 0.00</a:t>
            </a:r>
            <a:endParaRPr lang="en-US" sz="1400" dirty="0"/>
          </a:p>
        </p:txBody>
      </p:sp>
      <p:sp>
        <p:nvSpPr>
          <p:cNvPr id="10" name="Shape 8"/>
          <p:cNvSpPr/>
          <p:nvPr/>
        </p:nvSpPr>
        <p:spPr>
          <a:xfrm>
            <a:off x="6355080" y="1207008"/>
            <a:ext cx="2514600" cy="749808"/>
          </a:xfrm>
          <a:prstGeom prst="roundRect">
            <a:avLst>
              <a:gd name="adj" fmla="val 8537"/>
            </a:avLst>
          </a:prstGeom>
          <a:solidFill>
            <a:srgbClr val="182850"/>
          </a:solidFill>
          <a:ln/>
        </p:spPr>
        <p:txBody>
          <a:bodyPr/>
          <a:lstStyle/>
          <a:p>
            <a:endParaRPr lang="en-US"/>
          </a:p>
        </p:txBody>
      </p:sp>
      <p:sp>
        <p:nvSpPr>
          <p:cNvPr id="11" name="Text 9"/>
          <p:cNvSpPr/>
          <p:nvPr/>
        </p:nvSpPr>
        <p:spPr>
          <a:xfrm>
            <a:off x="6473952" y="1353312"/>
            <a:ext cx="2286000" cy="457200"/>
          </a:xfrm>
          <a:prstGeom prst="rect">
            <a:avLst/>
          </a:prstGeom>
          <a:noFill/>
          <a:ln/>
        </p:spPr>
        <p:txBody>
          <a:bodyPr wrap="square" lIns="0" tIns="0" rIns="0" bIns="0" rtlCol="0" anchor="ctr"/>
          <a:lstStyle/>
          <a:p>
            <a:pPr marL="0" indent="0" algn="l">
              <a:buNone/>
            </a:pPr>
            <a:r>
              <a:rPr lang="en-US" sz="1050" dirty="0">
                <a:solidFill>
                  <a:srgbClr val="AABFE8"/>
                </a:solidFill>
                <a:latin typeface="Calibri" pitchFamily="34" charset="0"/>
                <a:ea typeface="Calibri" pitchFamily="34" charset="-122"/>
                <a:cs typeface="Calibri" pitchFamily="34" charset="-120"/>
              </a:rPr>
              <a:t>Dictionary adds zero over Kalshi prices</a:t>
            </a:r>
            <a:endParaRPr lang="en-US" sz="1050" dirty="0"/>
          </a:p>
        </p:txBody>
      </p:sp>
      <p:sp>
        <p:nvSpPr>
          <p:cNvPr id="12" name="Shape 10"/>
          <p:cNvSpPr/>
          <p:nvPr/>
        </p:nvSpPr>
        <p:spPr>
          <a:xfrm>
            <a:off x="320040" y="2084832"/>
            <a:ext cx="1234440" cy="749808"/>
          </a:xfrm>
          <a:prstGeom prst="roundRect">
            <a:avLst>
              <a:gd name="adj" fmla="val 8537"/>
            </a:avLst>
          </a:prstGeom>
          <a:solidFill>
            <a:srgbClr val="2E5594"/>
          </a:solidFill>
          <a:ln/>
        </p:spPr>
        <p:txBody>
          <a:bodyPr/>
          <a:lstStyle/>
          <a:p>
            <a:endParaRPr lang="en-US"/>
          </a:p>
        </p:txBody>
      </p:sp>
      <p:sp>
        <p:nvSpPr>
          <p:cNvPr id="13" name="Text 11"/>
          <p:cNvSpPr/>
          <p:nvPr/>
        </p:nvSpPr>
        <p:spPr>
          <a:xfrm>
            <a:off x="320040" y="2139696"/>
            <a:ext cx="123444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Phase 2</a:t>
            </a:r>
            <a:endParaRPr lang="en-US" sz="1100" dirty="0"/>
          </a:p>
        </p:txBody>
      </p:sp>
      <p:sp>
        <p:nvSpPr>
          <p:cNvPr id="14" name="Shape 12"/>
          <p:cNvSpPr/>
          <p:nvPr/>
        </p:nvSpPr>
        <p:spPr>
          <a:xfrm>
            <a:off x="1691640" y="2084832"/>
            <a:ext cx="2468880" cy="749808"/>
          </a:xfrm>
          <a:prstGeom prst="roundRect">
            <a:avLst>
              <a:gd name="adj" fmla="val 8537"/>
            </a:avLst>
          </a:prstGeom>
          <a:solidFill>
            <a:srgbClr val="1E3060"/>
          </a:solidFill>
          <a:ln/>
        </p:spPr>
        <p:txBody>
          <a:bodyPr/>
          <a:lstStyle/>
          <a:p>
            <a:endParaRPr lang="en-US"/>
          </a:p>
        </p:txBody>
      </p:sp>
      <p:sp>
        <p:nvSpPr>
          <p:cNvPr id="15" name="Text 13"/>
          <p:cNvSpPr/>
          <p:nvPr/>
        </p:nvSpPr>
        <p:spPr>
          <a:xfrm>
            <a:off x="1810512" y="2267712"/>
            <a:ext cx="2231136" cy="384048"/>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FinBERT + Kalshi MixMCP (5 meetings)</a:t>
            </a:r>
            <a:endParaRPr lang="en-US" sz="1100" dirty="0"/>
          </a:p>
        </p:txBody>
      </p:sp>
      <p:sp>
        <p:nvSpPr>
          <p:cNvPr id="16" name="Shape 14"/>
          <p:cNvSpPr/>
          <p:nvPr/>
        </p:nvSpPr>
        <p:spPr>
          <a:xfrm>
            <a:off x="4297680" y="2084832"/>
            <a:ext cx="1920240" cy="749808"/>
          </a:xfrm>
          <a:prstGeom prst="roundRect">
            <a:avLst>
              <a:gd name="adj" fmla="val 8537"/>
            </a:avLst>
          </a:prstGeom>
          <a:solidFill>
            <a:srgbClr val="1E3060"/>
          </a:solidFill>
          <a:ln/>
        </p:spPr>
        <p:txBody>
          <a:bodyPr/>
          <a:lstStyle/>
          <a:p>
            <a:endParaRPr lang="en-US"/>
          </a:p>
        </p:txBody>
      </p:sp>
      <p:sp>
        <p:nvSpPr>
          <p:cNvPr id="17" name="Text 15"/>
          <p:cNvSpPr/>
          <p:nvPr/>
        </p:nvSpPr>
        <p:spPr>
          <a:xfrm>
            <a:off x="4416552" y="2212848"/>
            <a:ext cx="1700784" cy="493776"/>
          </a:xfrm>
          <a:prstGeom prst="rect">
            <a:avLst/>
          </a:prstGeom>
          <a:noFill/>
          <a:ln/>
        </p:spPr>
        <p:txBody>
          <a:bodyPr wrap="square" lIns="25400" tIns="25400" rIns="25400" bIns="25400" rtlCol="0" anchor="ctr"/>
          <a:lstStyle/>
          <a:p>
            <a:pPr marL="0" indent="0" algn="ctr">
              <a:buNone/>
            </a:pPr>
            <a:r>
              <a:rPr lang="en-US" sz="1400" b="1" dirty="0">
                <a:solidFill>
                  <a:srgbClr val="C8860A"/>
                </a:solidFill>
                <a:latin typeface="Calibri" pitchFamily="34" charset="0"/>
                <a:ea typeface="Calibri" pitchFamily="34" charset="-122"/>
                <a:cs typeface="Calibri" pitchFamily="34" charset="-120"/>
              </a:rPr>
              <a:t>α* = 0.00</a:t>
            </a:r>
            <a:endParaRPr lang="en-US" sz="1400" dirty="0"/>
          </a:p>
        </p:txBody>
      </p:sp>
      <p:sp>
        <p:nvSpPr>
          <p:cNvPr id="18" name="Shape 16"/>
          <p:cNvSpPr/>
          <p:nvPr/>
        </p:nvSpPr>
        <p:spPr>
          <a:xfrm>
            <a:off x="6355080" y="2084832"/>
            <a:ext cx="2514600" cy="749808"/>
          </a:xfrm>
          <a:prstGeom prst="roundRect">
            <a:avLst>
              <a:gd name="adj" fmla="val 8537"/>
            </a:avLst>
          </a:prstGeom>
          <a:solidFill>
            <a:srgbClr val="182850"/>
          </a:solidFill>
          <a:ln/>
        </p:spPr>
        <p:txBody>
          <a:bodyPr/>
          <a:lstStyle/>
          <a:p>
            <a:endParaRPr lang="en-US"/>
          </a:p>
        </p:txBody>
      </p:sp>
      <p:sp>
        <p:nvSpPr>
          <p:cNvPr id="19" name="Text 17"/>
          <p:cNvSpPr/>
          <p:nvPr/>
        </p:nvSpPr>
        <p:spPr>
          <a:xfrm>
            <a:off x="6473952" y="2231136"/>
            <a:ext cx="2286000" cy="457200"/>
          </a:xfrm>
          <a:prstGeom prst="rect">
            <a:avLst/>
          </a:prstGeom>
          <a:noFill/>
          <a:ln/>
        </p:spPr>
        <p:txBody>
          <a:bodyPr wrap="square" lIns="0" tIns="0" rIns="0" bIns="0" rtlCol="0" anchor="ctr"/>
          <a:lstStyle/>
          <a:p>
            <a:pPr marL="0" indent="0" algn="l">
              <a:buNone/>
            </a:pPr>
            <a:r>
              <a:rPr lang="en-US" sz="1050" dirty="0">
                <a:solidFill>
                  <a:srgbClr val="AABFE8"/>
                </a:solidFill>
                <a:latin typeface="Calibri" pitchFamily="34" charset="0"/>
                <a:ea typeface="Calibri" pitchFamily="34" charset="-122"/>
                <a:cs typeface="Calibri" pitchFamily="34" charset="-120"/>
              </a:rPr>
              <a:t>9.2% better standalone — Kalshi still blocks</a:t>
            </a:r>
            <a:endParaRPr lang="en-US" sz="1050" dirty="0"/>
          </a:p>
        </p:txBody>
      </p:sp>
      <p:sp>
        <p:nvSpPr>
          <p:cNvPr id="20" name="Shape 18"/>
          <p:cNvSpPr/>
          <p:nvPr/>
        </p:nvSpPr>
        <p:spPr>
          <a:xfrm>
            <a:off x="320040" y="2962656"/>
            <a:ext cx="1234440" cy="749808"/>
          </a:xfrm>
          <a:prstGeom prst="roundRect">
            <a:avLst>
              <a:gd name="adj" fmla="val 8537"/>
            </a:avLst>
          </a:prstGeom>
          <a:solidFill>
            <a:srgbClr val="2E5594"/>
          </a:solidFill>
          <a:ln/>
        </p:spPr>
        <p:txBody>
          <a:bodyPr/>
          <a:lstStyle/>
          <a:p>
            <a:endParaRPr lang="en-US"/>
          </a:p>
        </p:txBody>
      </p:sp>
      <p:sp>
        <p:nvSpPr>
          <p:cNvPr id="21" name="Text 19"/>
          <p:cNvSpPr/>
          <p:nvPr/>
        </p:nvSpPr>
        <p:spPr>
          <a:xfrm>
            <a:off x="320040" y="3017520"/>
            <a:ext cx="123444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Phase 3 v1</a:t>
            </a:r>
            <a:endParaRPr lang="en-US" sz="1100" dirty="0"/>
          </a:p>
        </p:txBody>
      </p:sp>
      <p:sp>
        <p:nvSpPr>
          <p:cNvPr id="22" name="Shape 20"/>
          <p:cNvSpPr/>
          <p:nvPr/>
        </p:nvSpPr>
        <p:spPr>
          <a:xfrm>
            <a:off x="1691640" y="2962656"/>
            <a:ext cx="2468880" cy="749808"/>
          </a:xfrm>
          <a:prstGeom prst="roundRect">
            <a:avLst>
              <a:gd name="adj" fmla="val 8537"/>
            </a:avLst>
          </a:prstGeom>
          <a:solidFill>
            <a:srgbClr val="1E3060"/>
          </a:solidFill>
          <a:ln/>
        </p:spPr>
        <p:txBody>
          <a:bodyPr/>
          <a:lstStyle/>
          <a:p>
            <a:endParaRPr lang="en-US"/>
          </a:p>
        </p:txBody>
      </p:sp>
      <p:sp>
        <p:nvSpPr>
          <p:cNvPr id="23" name="Text 21"/>
          <p:cNvSpPr/>
          <p:nvPr/>
        </p:nvSpPr>
        <p:spPr>
          <a:xfrm>
            <a:off x="1810512" y="3145536"/>
            <a:ext cx="2231136" cy="384048"/>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Kalshi expectation → quintile L/S (22 mtgs)</a:t>
            </a:r>
            <a:endParaRPr lang="en-US" sz="1100" dirty="0"/>
          </a:p>
        </p:txBody>
      </p:sp>
      <p:sp>
        <p:nvSpPr>
          <p:cNvPr id="24" name="Shape 22"/>
          <p:cNvSpPr/>
          <p:nvPr/>
        </p:nvSpPr>
        <p:spPr>
          <a:xfrm>
            <a:off x="4297680" y="2962656"/>
            <a:ext cx="1920240" cy="749808"/>
          </a:xfrm>
          <a:prstGeom prst="roundRect">
            <a:avLst>
              <a:gd name="adj" fmla="val 8537"/>
            </a:avLst>
          </a:prstGeom>
          <a:solidFill>
            <a:srgbClr val="1E3060"/>
          </a:solidFill>
          <a:ln/>
        </p:spPr>
        <p:txBody>
          <a:bodyPr/>
          <a:lstStyle/>
          <a:p>
            <a:endParaRPr lang="en-US"/>
          </a:p>
        </p:txBody>
      </p:sp>
      <p:sp>
        <p:nvSpPr>
          <p:cNvPr id="25" name="Text 23"/>
          <p:cNvSpPr/>
          <p:nvPr/>
        </p:nvSpPr>
        <p:spPr>
          <a:xfrm>
            <a:off x="4416552" y="3090672"/>
            <a:ext cx="1700784" cy="493776"/>
          </a:xfrm>
          <a:prstGeom prst="rect">
            <a:avLst/>
          </a:prstGeom>
          <a:noFill/>
          <a:ln/>
        </p:spPr>
        <p:txBody>
          <a:bodyPr wrap="square" lIns="25400" tIns="25400" rIns="25400" bIns="25400" rtlCol="0" anchor="ctr"/>
          <a:lstStyle/>
          <a:p>
            <a:pPr marL="0" indent="0" algn="ctr">
              <a:buNone/>
            </a:pPr>
            <a:r>
              <a:rPr lang="en-US" sz="1400" b="1" dirty="0">
                <a:solidFill>
                  <a:srgbClr val="C8860A"/>
                </a:solidFill>
                <a:latin typeface="Calibri" pitchFamily="34" charset="0"/>
                <a:ea typeface="Calibri" pitchFamily="34" charset="-122"/>
                <a:cs typeface="Calibri" pitchFamily="34" charset="-120"/>
              </a:rPr>
              <a:t>IR = 0.57</a:t>
            </a:r>
            <a:endParaRPr lang="en-US" sz="1400" dirty="0"/>
          </a:p>
        </p:txBody>
      </p:sp>
      <p:sp>
        <p:nvSpPr>
          <p:cNvPr id="26" name="Shape 24"/>
          <p:cNvSpPr/>
          <p:nvPr/>
        </p:nvSpPr>
        <p:spPr>
          <a:xfrm>
            <a:off x="6355080" y="2962656"/>
            <a:ext cx="2514600" cy="749808"/>
          </a:xfrm>
          <a:prstGeom prst="roundRect">
            <a:avLst>
              <a:gd name="adj" fmla="val 8537"/>
            </a:avLst>
          </a:prstGeom>
          <a:solidFill>
            <a:srgbClr val="182850"/>
          </a:solidFill>
          <a:ln/>
        </p:spPr>
        <p:txBody>
          <a:bodyPr/>
          <a:lstStyle/>
          <a:p>
            <a:endParaRPr lang="en-US"/>
          </a:p>
        </p:txBody>
      </p:sp>
      <p:sp>
        <p:nvSpPr>
          <p:cNvPr id="27" name="Text 25"/>
          <p:cNvSpPr/>
          <p:nvPr/>
        </p:nvSpPr>
        <p:spPr>
          <a:xfrm>
            <a:off x="6473952" y="3108960"/>
            <a:ext cx="2286000" cy="457200"/>
          </a:xfrm>
          <a:prstGeom prst="rect">
            <a:avLst/>
          </a:prstGeom>
          <a:noFill/>
          <a:ln/>
        </p:spPr>
        <p:txBody>
          <a:bodyPr wrap="square" lIns="0" tIns="0" rIns="0" bIns="0" rtlCol="0" anchor="ctr"/>
          <a:lstStyle/>
          <a:p>
            <a:pPr marL="0" indent="0" algn="l">
              <a:buNone/>
            </a:pPr>
            <a:r>
              <a:rPr lang="en-US" sz="1050" dirty="0">
                <a:solidFill>
                  <a:srgbClr val="AABFE8"/>
                </a:solidFill>
                <a:latin typeface="Calibri" pitchFamily="34" charset="0"/>
                <a:ea typeface="Calibri" pitchFamily="34" charset="-122"/>
                <a:cs typeface="Calibri" pitchFamily="34" charset="-120"/>
              </a:rPr>
              <a:t>Anticipated component in ETF prices before meeting</a:t>
            </a:r>
            <a:endParaRPr lang="en-US" sz="1050" dirty="0"/>
          </a:p>
        </p:txBody>
      </p:sp>
      <p:sp>
        <p:nvSpPr>
          <p:cNvPr id="28" name="Shape 26"/>
          <p:cNvSpPr/>
          <p:nvPr/>
        </p:nvSpPr>
        <p:spPr>
          <a:xfrm>
            <a:off x="320040" y="3840480"/>
            <a:ext cx="1234440" cy="749808"/>
          </a:xfrm>
          <a:prstGeom prst="roundRect">
            <a:avLst>
              <a:gd name="adj" fmla="val 8537"/>
            </a:avLst>
          </a:prstGeom>
          <a:solidFill>
            <a:srgbClr val="2E5594"/>
          </a:solidFill>
          <a:ln/>
        </p:spPr>
        <p:txBody>
          <a:bodyPr/>
          <a:lstStyle/>
          <a:p>
            <a:endParaRPr lang="en-US"/>
          </a:p>
        </p:txBody>
      </p:sp>
      <p:sp>
        <p:nvSpPr>
          <p:cNvPr id="29" name="Text 27"/>
          <p:cNvSpPr/>
          <p:nvPr/>
        </p:nvSpPr>
        <p:spPr>
          <a:xfrm>
            <a:off x="320040" y="3895344"/>
            <a:ext cx="123444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Phase 3 v2</a:t>
            </a:r>
            <a:endParaRPr lang="en-US" sz="1100" dirty="0"/>
          </a:p>
        </p:txBody>
      </p:sp>
      <p:sp>
        <p:nvSpPr>
          <p:cNvPr id="30" name="Shape 28"/>
          <p:cNvSpPr/>
          <p:nvPr/>
        </p:nvSpPr>
        <p:spPr>
          <a:xfrm>
            <a:off x="1691640" y="3840480"/>
            <a:ext cx="2468880" cy="749808"/>
          </a:xfrm>
          <a:prstGeom prst="roundRect">
            <a:avLst>
              <a:gd name="adj" fmla="val 8537"/>
            </a:avLst>
          </a:prstGeom>
          <a:solidFill>
            <a:srgbClr val="1E3060"/>
          </a:solidFill>
          <a:ln/>
        </p:spPr>
        <p:txBody>
          <a:bodyPr/>
          <a:lstStyle/>
          <a:p>
            <a:endParaRPr lang="en-US"/>
          </a:p>
        </p:txBody>
      </p:sp>
      <p:sp>
        <p:nvSpPr>
          <p:cNvPr id="31" name="Text 29"/>
          <p:cNvSpPr/>
          <p:nvPr/>
        </p:nvSpPr>
        <p:spPr>
          <a:xfrm>
            <a:off x="1810512" y="4023360"/>
            <a:ext cx="2231136" cy="384048"/>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Surprise signal — Bernanke-Kuttner (23 mtgs)</a:t>
            </a:r>
            <a:endParaRPr lang="en-US" sz="1100" dirty="0"/>
          </a:p>
        </p:txBody>
      </p:sp>
      <p:sp>
        <p:nvSpPr>
          <p:cNvPr id="32" name="Shape 30"/>
          <p:cNvSpPr/>
          <p:nvPr/>
        </p:nvSpPr>
        <p:spPr>
          <a:xfrm>
            <a:off x="4297680" y="3840480"/>
            <a:ext cx="1920240" cy="749808"/>
          </a:xfrm>
          <a:prstGeom prst="roundRect">
            <a:avLst>
              <a:gd name="adj" fmla="val 8537"/>
            </a:avLst>
          </a:prstGeom>
          <a:solidFill>
            <a:srgbClr val="1E3060"/>
          </a:solidFill>
          <a:ln/>
        </p:spPr>
        <p:txBody>
          <a:bodyPr/>
          <a:lstStyle/>
          <a:p>
            <a:endParaRPr lang="en-US"/>
          </a:p>
        </p:txBody>
      </p:sp>
      <p:sp>
        <p:nvSpPr>
          <p:cNvPr id="33" name="Text 31"/>
          <p:cNvSpPr/>
          <p:nvPr/>
        </p:nvSpPr>
        <p:spPr>
          <a:xfrm>
            <a:off x="4416552" y="3968496"/>
            <a:ext cx="1700784" cy="493776"/>
          </a:xfrm>
          <a:prstGeom prst="rect">
            <a:avLst/>
          </a:prstGeom>
          <a:noFill/>
          <a:ln/>
        </p:spPr>
        <p:txBody>
          <a:bodyPr wrap="square" lIns="25400" tIns="25400" rIns="25400" bIns="25400" rtlCol="0" anchor="ctr"/>
          <a:lstStyle/>
          <a:p>
            <a:pPr marL="0" indent="0" algn="ctr">
              <a:buNone/>
            </a:pPr>
            <a:r>
              <a:rPr lang="en-US" sz="1000" b="1" dirty="0">
                <a:solidFill>
                  <a:srgbClr val="C8860A"/>
                </a:solidFill>
                <a:latin typeface="Calibri" pitchFamily="34" charset="0"/>
                <a:ea typeface="Calibri" pitchFamily="34" charset="-122"/>
                <a:cs typeface="Calibri" pitchFamily="34" charset="-120"/>
              </a:rPr>
              <a:t>Near-zero variance</a:t>
            </a:r>
            <a:endParaRPr lang="en-US" sz="1000" dirty="0"/>
          </a:p>
        </p:txBody>
      </p:sp>
      <p:sp>
        <p:nvSpPr>
          <p:cNvPr id="34" name="Shape 32"/>
          <p:cNvSpPr/>
          <p:nvPr/>
        </p:nvSpPr>
        <p:spPr>
          <a:xfrm>
            <a:off x="6355080" y="3840480"/>
            <a:ext cx="2514600" cy="749808"/>
          </a:xfrm>
          <a:prstGeom prst="roundRect">
            <a:avLst>
              <a:gd name="adj" fmla="val 8537"/>
            </a:avLst>
          </a:prstGeom>
          <a:solidFill>
            <a:srgbClr val="182850"/>
          </a:solidFill>
          <a:ln/>
        </p:spPr>
        <p:txBody>
          <a:bodyPr/>
          <a:lstStyle/>
          <a:p>
            <a:endParaRPr lang="en-US"/>
          </a:p>
        </p:txBody>
      </p:sp>
      <p:sp>
        <p:nvSpPr>
          <p:cNvPr id="35" name="Text 33"/>
          <p:cNvSpPr/>
          <p:nvPr/>
        </p:nvSpPr>
        <p:spPr>
          <a:xfrm>
            <a:off x="6473952" y="3986784"/>
            <a:ext cx="2286000" cy="457200"/>
          </a:xfrm>
          <a:prstGeom prst="rect">
            <a:avLst/>
          </a:prstGeom>
          <a:noFill/>
          <a:ln/>
        </p:spPr>
        <p:txBody>
          <a:bodyPr wrap="square" lIns="0" tIns="0" rIns="0" bIns="0" rtlCol="0" anchor="ctr"/>
          <a:lstStyle/>
          <a:p>
            <a:pPr marL="0" indent="0" algn="l">
              <a:buNone/>
            </a:pPr>
            <a:r>
              <a:rPr lang="en-US" sz="1050" dirty="0">
                <a:solidFill>
                  <a:srgbClr val="AABFE8"/>
                </a:solidFill>
                <a:latin typeface="Calibri" pitchFamily="34" charset="0"/>
                <a:ea typeface="Calibri" pitchFamily="34" charset="-122"/>
                <a:cs typeface="Calibri" pitchFamily="34" charset="-120"/>
              </a:rPr>
              <a:t>Regime degenerate; corr(T-7,T-1)=0.9993 confirms</a:t>
            </a:r>
            <a:endParaRPr lang="en-US" sz="1050" dirty="0"/>
          </a:p>
        </p:txBody>
      </p:sp>
      <p:sp>
        <p:nvSpPr>
          <p:cNvPr id="36" name="Shape 34"/>
          <p:cNvSpPr/>
          <p:nvPr/>
        </p:nvSpPr>
        <p:spPr>
          <a:xfrm>
            <a:off x="320040" y="4773168"/>
            <a:ext cx="8503920" cy="274320"/>
          </a:xfrm>
          <a:prstGeom prst="roundRect">
            <a:avLst>
              <a:gd name="adj" fmla="val 23333"/>
            </a:avLst>
          </a:prstGeom>
          <a:solidFill>
            <a:srgbClr val="2E7DD1"/>
          </a:solidFill>
          <a:ln/>
        </p:spPr>
        <p:txBody>
          <a:bodyPr/>
          <a:lstStyle/>
          <a:p>
            <a:endParaRPr lang="en-US"/>
          </a:p>
        </p:txBody>
      </p:sp>
      <p:sp>
        <p:nvSpPr>
          <p:cNvPr id="37" name="Text 35"/>
          <p:cNvSpPr/>
          <p:nvPr/>
        </p:nvSpPr>
        <p:spPr>
          <a:xfrm>
            <a:off x="457200" y="4773168"/>
            <a:ext cx="832104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Efficient against text signals.  Efficient against transformers.  Efficient against its own surprise residual.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n-US"/>
          </a:p>
        </p:txBody>
      </p:sp>
      <p:sp>
        <p:nvSpPr>
          <p:cNvPr id="3" name="Shape 1"/>
          <p:cNvSpPr/>
          <p:nvPr/>
        </p:nvSpPr>
        <p:spPr>
          <a:xfrm>
            <a:off x="320040" y="256032"/>
            <a:ext cx="1920240" cy="256032"/>
          </a:xfrm>
          <a:prstGeom prst="roundRect">
            <a:avLst>
              <a:gd name="adj" fmla="val 21429"/>
            </a:avLst>
          </a:prstGeom>
          <a:solidFill>
            <a:srgbClr val="2E7DD1"/>
          </a:solidFill>
          <a:ln/>
        </p:spPr>
        <p:txBody>
          <a:bodyPr/>
          <a:lstStyle/>
          <a:p>
            <a:endParaRPr lang="en-US"/>
          </a:p>
        </p:txBody>
      </p:sp>
      <p:sp>
        <p:nvSpPr>
          <p:cNvPr id="4" name="Text 2"/>
          <p:cNvSpPr/>
          <p:nvPr/>
        </p:nvSpPr>
        <p:spPr>
          <a:xfrm>
            <a:off x="320040" y="256032"/>
            <a:ext cx="192024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SCOPE, LIMITATIONS &amp; IMPLICATIONS</a:t>
            </a:r>
            <a:endParaRPr lang="en-US" sz="800" dirty="0"/>
          </a:p>
        </p:txBody>
      </p:sp>
      <p:sp>
        <p:nvSpPr>
          <p:cNvPr id="5" name="Text 3"/>
          <p:cNvSpPr/>
          <p:nvPr/>
        </p:nvSpPr>
        <p:spPr>
          <a:xfrm>
            <a:off x="320040" y="621792"/>
            <a:ext cx="8503920" cy="475488"/>
          </a:xfrm>
          <a:prstGeom prst="rect">
            <a:avLst/>
          </a:prstGeom>
          <a:noFill/>
          <a:ln/>
        </p:spPr>
        <p:txBody>
          <a:bodyPr wrap="square" lIns="0" tIns="0" rIns="0" bIns="0" rtlCol="0" anchor="t"/>
          <a:lstStyle/>
          <a:p>
            <a:pPr marL="0" indent="0" algn="ctr">
              <a:buNone/>
            </a:pPr>
            <a:r>
              <a:rPr lang="en-US" sz="2200" b="1" dirty="0">
                <a:solidFill>
                  <a:srgbClr val="1E2761"/>
                </a:solidFill>
                <a:latin typeface="Calibri" pitchFamily="34" charset="0"/>
                <a:ea typeface="Calibri" pitchFamily="34" charset="-122"/>
                <a:cs typeface="Calibri" pitchFamily="34" charset="-120"/>
              </a:rPr>
              <a:t>What We Can and Cannot Claim.</a:t>
            </a:r>
            <a:endParaRPr lang="en-US" sz="2200" dirty="0"/>
          </a:p>
        </p:txBody>
      </p:sp>
      <p:sp>
        <p:nvSpPr>
          <p:cNvPr id="6" name="Shape 4"/>
          <p:cNvSpPr/>
          <p:nvPr/>
        </p:nvSpPr>
        <p:spPr>
          <a:xfrm>
            <a:off x="320040" y="1170432"/>
            <a:ext cx="8503920" cy="0"/>
          </a:xfrm>
          <a:prstGeom prst="line">
            <a:avLst/>
          </a:prstGeom>
          <a:noFill/>
          <a:ln w="12700">
            <a:solidFill>
              <a:srgbClr val="CADCFC"/>
            </a:solidFill>
            <a:prstDash val="solid"/>
          </a:ln>
        </p:spPr>
        <p:txBody>
          <a:bodyPr/>
          <a:lstStyle/>
          <a:p>
            <a:endParaRPr lang="en-US"/>
          </a:p>
        </p:txBody>
      </p:sp>
      <p:sp>
        <p:nvSpPr>
          <p:cNvPr id="7" name="Shape 5"/>
          <p:cNvSpPr/>
          <p:nvPr/>
        </p:nvSpPr>
        <p:spPr>
          <a:xfrm>
            <a:off x="320040" y="1261872"/>
            <a:ext cx="4160520" cy="3520440"/>
          </a:xfrm>
          <a:prstGeom prst="roundRect">
            <a:avLst>
              <a:gd name="adj" fmla="val 1818"/>
            </a:avLst>
          </a:prstGeom>
          <a:solidFill>
            <a:srgbClr val="F4F6FB"/>
          </a:solidFill>
          <a:ln/>
        </p:spPr>
        <p:txBody>
          <a:bodyPr/>
          <a:lstStyle/>
          <a:p>
            <a:endParaRPr lang="en-US"/>
          </a:p>
        </p:txBody>
      </p:sp>
      <p:sp>
        <p:nvSpPr>
          <p:cNvPr id="8" name="Text 6"/>
          <p:cNvSpPr/>
          <p:nvPr/>
        </p:nvSpPr>
        <p:spPr>
          <a:xfrm>
            <a:off x="457200" y="1325880"/>
            <a:ext cx="3886200" cy="274320"/>
          </a:xfrm>
          <a:prstGeom prst="rect">
            <a:avLst/>
          </a:prstGeom>
          <a:noFill/>
          <a:ln/>
        </p:spPr>
        <p:txBody>
          <a:bodyPr wrap="square" lIns="38100" tIns="38100" rIns="38100" bIns="38100" rtlCol="0" anchor="t"/>
          <a:lstStyle/>
          <a:p>
            <a:pPr marL="0" indent="0" algn="l">
              <a:buNone/>
            </a:pPr>
            <a:r>
              <a:rPr lang="en-US" sz="1100" b="1" dirty="0">
                <a:solidFill>
                  <a:srgbClr val="C0392B"/>
                </a:solidFill>
                <a:latin typeface="Calibri" pitchFamily="34" charset="0"/>
                <a:ea typeface="Calibri" pitchFamily="34" charset="-122"/>
                <a:cs typeface="Calibri" pitchFamily="34" charset="-120"/>
              </a:rPr>
              <a:t>Honest scope boundaries (state up-front)</a:t>
            </a:r>
            <a:endParaRPr lang="en-US" sz="1100" dirty="0"/>
          </a:p>
        </p:txBody>
      </p:sp>
      <p:sp>
        <p:nvSpPr>
          <p:cNvPr id="9" name="Text 7"/>
          <p:cNvSpPr/>
          <p:nvPr/>
        </p:nvSpPr>
        <p:spPr>
          <a:xfrm>
            <a:off x="457200" y="1691640"/>
            <a:ext cx="3886200" cy="594360"/>
          </a:xfrm>
          <a:prstGeom prst="rect">
            <a:avLst/>
          </a:prstGeom>
          <a:noFill/>
          <a:ln/>
        </p:spPr>
        <p:txBody>
          <a:bodyPr wrap="square" lIns="38100" tIns="38100" rIns="38100" bIns="38100"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  N=23 meetings, Nov 2023–Feb 2026 only. All holds and consensus cuts. No hike-cycle data. B-K (2005) spanned 1994–2002 across three rate regimes.</a:t>
            </a:r>
            <a:endParaRPr lang="en-US" sz="1100" dirty="0"/>
          </a:p>
        </p:txBody>
      </p:sp>
      <p:sp>
        <p:nvSpPr>
          <p:cNvPr id="10" name="Text 8"/>
          <p:cNvSpPr/>
          <p:nvPr/>
        </p:nvSpPr>
        <p:spPr>
          <a:xfrm>
            <a:off x="457200" y="2404872"/>
            <a:ext cx="3886200" cy="594360"/>
          </a:xfrm>
          <a:prstGeom prst="rect">
            <a:avLst/>
          </a:prstGeom>
          <a:noFill/>
          <a:ln/>
        </p:spPr>
        <p:txBody>
          <a:bodyPr wrap="square" lIns="38100" tIns="38100" rIns="38100" bIns="38100"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  Same-day open-to-close is a 6.5-hour window. True event window is ~30 min post-2pm ET. Intraday TAQ data (WRDS) would sharpen the test.</a:t>
            </a:r>
            <a:endParaRPr lang="en-US" sz="1100" dirty="0"/>
          </a:p>
        </p:txBody>
      </p:sp>
      <p:sp>
        <p:nvSpPr>
          <p:cNvPr id="11" name="Text 9"/>
          <p:cNvSpPr/>
          <p:nvPr/>
        </p:nvSpPr>
        <p:spPr>
          <a:xfrm>
            <a:off x="457200" y="3118104"/>
            <a:ext cx="3886200" cy="594360"/>
          </a:xfrm>
          <a:prstGeom prst="rect">
            <a:avLst/>
          </a:prstGeom>
          <a:noFill/>
          <a:ln/>
        </p:spPr>
        <p:txBody>
          <a:bodyPr wrap="square" lIns="38100" tIns="38100" rIns="38100" bIns="38100"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  Surprise distribution is single-regime degenerate. We confirmed Kalshi efficient against itself in THIS regime — not beyond it.</a:t>
            </a:r>
            <a:endParaRPr lang="en-US" sz="1100" dirty="0"/>
          </a:p>
        </p:txBody>
      </p:sp>
      <p:sp>
        <p:nvSpPr>
          <p:cNvPr id="12" name="Text 10"/>
          <p:cNvSpPr/>
          <p:nvPr/>
        </p:nvSpPr>
        <p:spPr>
          <a:xfrm>
            <a:off x="457200" y="3831336"/>
            <a:ext cx="3886200" cy="594360"/>
          </a:xfrm>
          <a:prstGeom prst="rect">
            <a:avLst/>
          </a:prstGeom>
          <a:noFill/>
          <a:ln/>
        </p:spPr>
        <p:txBody>
          <a:bodyPr wrap="square" lIns="38100" tIns="38100" rIns="38100" bIns="38100" rtlCol="0" anchor="t"/>
          <a:lstStyle/>
          <a:p>
            <a:pPr marL="0" indent="0" algn="l">
              <a:buNone/>
            </a:pPr>
            <a:r>
              <a:rPr lang="en-US" sz="1100" dirty="0">
                <a:solidFill>
                  <a:srgbClr val="333333"/>
                </a:solidFill>
                <a:latin typeface="Calibri" pitchFamily="34" charset="0"/>
                <a:ea typeface="Calibri" pitchFamily="34" charset="-122"/>
                <a:cs typeface="Calibri" pitchFamily="34" charset="-120"/>
              </a:rPr>
              <a:t>→  All inference is directional only. No specification reaches p&lt;0.05. Bootstrap CIs include zero for all primary assets.</a:t>
            </a:r>
            <a:endParaRPr lang="en-US" sz="1100" dirty="0"/>
          </a:p>
        </p:txBody>
      </p:sp>
      <p:sp>
        <p:nvSpPr>
          <p:cNvPr id="13" name="Shape 11"/>
          <p:cNvSpPr/>
          <p:nvPr/>
        </p:nvSpPr>
        <p:spPr>
          <a:xfrm>
            <a:off x="4617720" y="1261872"/>
            <a:ext cx="4206240" cy="3520440"/>
          </a:xfrm>
          <a:prstGeom prst="roundRect">
            <a:avLst>
              <a:gd name="adj" fmla="val 1818"/>
            </a:avLst>
          </a:prstGeom>
          <a:solidFill>
            <a:srgbClr val="1E2761"/>
          </a:solidFill>
          <a:ln/>
        </p:spPr>
        <p:txBody>
          <a:bodyPr/>
          <a:lstStyle/>
          <a:p>
            <a:endParaRPr lang="en-US"/>
          </a:p>
        </p:txBody>
      </p:sp>
      <p:sp>
        <p:nvSpPr>
          <p:cNvPr id="14" name="Text 12"/>
          <p:cNvSpPr/>
          <p:nvPr/>
        </p:nvSpPr>
        <p:spPr>
          <a:xfrm>
            <a:off x="4754880" y="1325880"/>
            <a:ext cx="3931920" cy="274320"/>
          </a:xfrm>
          <a:prstGeom prst="rect">
            <a:avLst/>
          </a:prstGeom>
          <a:noFill/>
          <a:ln/>
        </p:spPr>
        <p:txBody>
          <a:bodyPr wrap="square" lIns="38100" tIns="38100" rIns="38100" bIns="38100" rtlCol="0" anchor="t"/>
          <a:lstStyle/>
          <a:p>
            <a:pPr marL="0" indent="0" algn="l">
              <a:buNone/>
            </a:pPr>
            <a:r>
              <a:rPr lang="en-US" sz="1100" b="1" dirty="0">
                <a:solidFill>
                  <a:srgbClr val="CADCFC"/>
                </a:solidFill>
                <a:latin typeface="Calibri" pitchFamily="34" charset="0"/>
                <a:ea typeface="Calibri" pitchFamily="34" charset="-122"/>
                <a:cs typeface="Calibri" pitchFamily="34" charset="-120"/>
              </a:rPr>
              <a:t>What the findings enable</a:t>
            </a:r>
            <a:endParaRPr lang="en-US" sz="1100" dirty="0"/>
          </a:p>
        </p:txBody>
      </p:sp>
      <p:sp>
        <p:nvSpPr>
          <p:cNvPr id="15" name="Text 13"/>
          <p:cNvSpPr/>
          <p:nvPr/>
        </p:nvSpPr>
        <p:spPr>
          <a:xfrm>
            <a:off x="4754880" y="1737360"/>
            <a:ext cx="3931920" cy="274320"/>
          </a:xfrm>
          <a:prstGeom prst="rect">
            <a:avLst/>
          </a:prstGeom>
          <a:noFill/>
          <a:ln/>
        </p:spPr>
        <p:txBody>
          <a:bodyPr wrap="square" lIns="38100" tIns="38100" rIns="38100" bIns="38100" rtlCol="0" anchor="t"/>
          <a:lstStyle/>
          <a:p>
            <a:pPr marL="0" indent="0" algn="l">
              <a:buNone/>
            </a:pPr>
            <a:r>
              <a:rPr lang="en-US" sz="1200" b="1" dirty="0">
                <a:solidFill>
                  <a:srgbClr val="CADCFC"/>
                </a:solidFill>
                <a:latin typeface="Calibri" pitchFamily="34" charset="0"/>
                <a:ea typeface="Calibri" pitchFamily="34" charset="-122"/>
                <a:cs typeface="Calibri" pitchFamily="34" charset="-120"/>
              </a:rPr>
              <a:t>🎯  Signal anchor</a:t>
            </a:r>
            <a:endParaRPr lang="en-US" sz="1200" dirty="0"/>
          </a:p>
        </p:txBody>
      </p:sp>
      <p:sp>
        <p:nvSpPr>
          <p:cNvPr id="16" name="Text 14"/>
          <p:cNvSpPr/>
          <p:nvPr/>
        </p:nvSpPr>
        <p:spPr>
          <a:xfrm>
            <a:off x="4754880" y="2048256"/>
            <a:ext cx="3931920" cy="594360"/>
          </a:xfrm>
          <a:prstGeom prst="rect">
            <a:avLst/>
          </a:prstGeom>
          <a:noFill/>
          <a:ln/>
        </p:spPr>
        <p:txBody>
          <a:bodyPr wrap="square" lIns="38100" tIns="38100" rIns="38100" bIns="381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Kalshi prices are the best available anchor for any FOMC rates strategy. NLP signals serve as disagreement updaters.</a:t>
            </a:r>
            <a:endParaRPr lang="en-US" sz="1100" dirty="0"/>
          </a:p>
        </p:txBody>
      </p:sp>
      <p:sp>
        <p:nvSpPr>
          <p:cNvPr id="17" name="Text 15"/>
          <p:cNvSpPr/>
          <p:nvPr/>
        </p:nvSpPr>
        <p:spPr>
          <a:xfrm>
            <a:off x="4754880" y="2724912"/>
            <a:ext cx="3931920" cy="274320"/>
          </a:xfrm>
          <a:prstGeom prst="rect">
            <a:avLst/>
          </a:prstGeom>
          <a:noFill/>
          <a:ln/>
        </p:spPr>
        <p:txBody>
          <a:bodyPr wrap="square" lIns="38100" tIns="38100" rIns="38100" bIns="38100" rtlCol="0" anchor="t"/>
          <a:lstStyle/>
          <a:p>
            <a:pPr marL="0" indent="0" algn="l">
              <a:buNone/>
            </a:pPr>
            <a:r>
              <a:rPr lang="en-US" sz="1200" b="1" dirty="0">
                <a:solidFill>
                  <a:srgbClr val="CADCFC"/>
                </a:solidFill>
                <a:latin typeface="Calibri" pitchFamily="34" charset="0"/>
                <a:ea typeface="Calibri" pitchFamily="34" charset="-122"/>
                <a:cs typeface="Calibri" pitchFamily="34" charset="-120"/>
              </a:rPr>
              <a:t>📊  Regime detection</a:t>
            </a:r>
            <a:endParaRPr lang="en-US" sz="1200" dirty="0"/>
          </a:p>
        </p:txBody>
      </p:sp>
      <p:sp>
        <p:nvSpPr>
          <p:cNvPr id="18" name="Text 16"/>
          <p:cNvSpPr/>
          <p:nvPr/>
        </p:nvSpPr>
        <p:spPr>
          <a:xfrm>
            <a:off x="4754880" y="3035808"/>
            <a:ext cx="3931920" cy="594360"/>
          </a:xfrm>
          <a:prstGeom prst="rect">
            <a:avLst/>
          </a:prstGeom>
          <a:noFill/>
          <a:ln/>
        </p:spPr>
        <p:txBody>
          <a:bodyPr wrap="square" lIns="38100" tIns="38100" rIns="38100" bIns="381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KRE p=0.003 in flat-curve regime: surprise signal becomes informative conditionally. Regime conditioning is a possible next research question.</a:t>
            </a:r>
            <a:endParaRPr lang="en-US" sz="1100" dirty="0"/>
          </a:p>
        </p:txBody>
      </p:sp>
      <p:sp>
        <p:nvSpPr>
          <p:cNvPr id="19" name="Text 17"/>
          <p:cNvSpPr/>
          <p:nvPr/>
        </p:nvSpPr>
        <p:spPr>
          <a:xfrm>
            <a:off x="4754880" y="3712464"/>
            <a:ext cx="3931920" cy="274320"/>
          </a:xfrm>
          <a:prstGeom prst="rect">
            <a:avLst/>
          </a:prstGeom>
          <a:noFill/>
          <a:ln/>
        </p:spPr>
        <p:txBody>
          <a:bodyPr wrap="square" lIns="38100" tIns="38100" rIns="38100" bIns="38100" rtlCol="0" anchor="t"/>
          <a:lstStyle/>
          <a:p>
            <a:pPr marL="0" indent="0" algn="l">
              <a:buNone/>
            </a:pPr>
            <a:r>
              <a:rPr lang="en-US" sz="1200" b="1" dirty="0">
                <a:solidFill>
                  <a:srgbClr val="CADCFC"/>
                </a:solidFill>
                <a:latin typeface="Calibri" pitchFamily="34" charset="0"/>
                <a:ea typeface="Calibri" pitchFamily="34" charset="-122"/>
                <a:cs typeface="Calibri" pitchFamily="34" charset="-120"/>
              </a:rPr>
              <a:t>🔭  Extension path</a:t>
            </a:r>
            <a:endParaRPr lang="en-US" sz="1200" dirty="0"/>
          </a:p>
        </p:txBody>
      </p:sp>
      <p:sp>
        <p:nvSpPr>
          <p:cNvPr id="20" name="Text 18"/>
          <p:cNvSpPr/>
          <p:nvPr/>
        </p:nvSpPr>
        <p:spPr>
          <a:xfrm>
            <a:off x="4754880" y="4023360"/>
            <a:ext cx="3931920" cy="594360"/>
          </a:xfrm>
          <a:prstGeom prst="rect">
            <a:avLst/>
          </a:prstGeom>
          <a:noFill/>
          <a:ln/>
        </p:spPr>
        <p:txBody>
          <a:bodyPr wrap="square" lIns="38100" tIns="38100" rIns="38100" bIns="38100" rtlCol="0" anchor="t"/>
          <a:lstStyle/>
          <a:p>
            <a:pPr marL="0" indent="0" algn="l">
              <a:buNone/>
            </a:pPr>
            <a:r>
              <a:rPr lang="en-US" sz="1100" dirty="0">
                <a:solidFill>
                  <a:srgbClr val="FFFFFF"/>
                </a:solidFill>
                <a:latin typeface="Calibri" pitchFamily="34" charset="0"/>
                <a:ea typeface="Calibri" pitchFamily="34" charset="-122"/>
                <a:cs typeface="Calibri" pitchFamily="34" charset="-120"/>
              </a:rPr>
              <a:t>Polymarket Fed markets (2021+) via Allium grant: N≈40, hiking cycle included. The methodology is ready. Data access is the only barrier.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A3A"/>
          </a:solidFill>
          <a:ln/>
        </p:spPr>
        <p:txBody>
          <a:bodyPr/>
          <a:lstStyle/>
          <a:p>
            <a:endParaRPr lang="en-US"/>
          </a:p>
        </p:txBody>
      </p:sp>
      <p:sp>
        <p:nvSpPr>
          <p:cNvPr id="3" name="Text 1"/>
          <p:cNvSpPr/>
          <p:nvPr/>
        </p:nvSpPr>
        <p:spPr>
          <a:xfrm>
            <a:off x="548640" y="621792"/>
            <a:ext cx="8046720" cy="713232"/>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The market has already read the Fed.</a:t>
            </a:r>
            <a:endParaRPr lang="en-US" sz="3400" dirty="0"/>
          </a:p>
        </p:txBody>
      </p:sp>
      <p:sp>
        <p:nvSpPr>
          <p:cNvPr id="4" name="Shape 2"/>
          <p:cNvSpPr/>
          <p:nvPr/>
        </p:nvSpPr>
        <p:spPr>
          <a:xfrm>
            <a:off x="347472" y="1508760"/>
            <a:ext cx="1572768" cy="621792"/>
          </a:xfrm>
          <a:prstGeom prst="roundRect">
            <a:avLst>
              <a:gd name="adj" fmla="val 10294"/>
            </a:avLst>
          </a:prstGeom>
          <a:solidFill>
            <a:srgbClr val="2E5594"/>
          </a:solidFill>
          <a:ln/>
        </p:spPr>
        <p:txBody>
          <a:bodyPr/>
          <a:lstStyle/>
          <a:p>
            <a:endParaRPr lang="en-US"/>
          </a:p>
        </p:txBody>
      </p:sp>
      <p:sp>
        <p:nvSpPr>
          <p:cNvPr id="5" name="Text 3"/>
          <p:cNvSpPr/>
          <p:nvPr/>
        </p:nvSpPr>
        <p:spPr>
          <a:xfrm>
            <a:off x="438912" y="1581912"/>
            <a:ext cx="13898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LM dictionary</a:t>
            </a:r>
            <a:endParaRPr lang="en-US" sz="1050" dirty="0"/>
          </a:p>
        </p:txBody>
      </p:sp>
      <p:sp>
        <p:nvSpPr>
          <p:cNvPr id="6" name="Shape 4"/>
          <p:cNvSpPr/>
          <p:nvPr/>
        </p:nvSpPr>
        <p:spPr>
          <a:xfrm>
            <a:off x="2057400" y="1508760"/>
            <a:ext cx="6766560" cy="621792"/>
          </a:xfrm>
          <a:prstGeom prst="roundRect">
            <a:avLst>
              <a:gd name="adj" fmla="val 10294"/>
            </a:avLst>
          </a:prstGeom>
          <a:solidFill>
            <a:srgbClr val="1A2550"/>
          </a:solidFill>
          <a:ln/>
        </p:spPr>
        <p:txBody>
          <a:bodyPr/>
          <a:lstStyle/>
          <a:p>
            <a:endParaRPr lang="en-US"/>
          </a:p>
        </p:txBody>
      </p:sp>
      <p:sp>
        <p:nvSpPr>
          <p:cNvPr id="7" name="Text 5"/>
          <p:cNvSpPr/>
          <p:nvPr/>
        </p:nvSpPr>
        <p:spPr>
          <a:xfrm>
            <a:off x="2194560" y="1600200"/>
            <a:ext cx="6492240" cy="438912"/>
          </a:xfrm>
          <a:prstGeom prst="rect">
            <a:avLst/>
          </a:prstGeom>
          <a:noFill/>
          <a:ln/>
        </p:spPr>
        <p:txBody>
          <a:bodyPr wrap="square" lIns="0" tIns="0" rIns="0" bIns="0" rtlCol="0" anchor="ctr"/>
          <a:lstStyle/>
          <a:p>
            <a:pPr marL="0" indent="0" algn="l">
              <a:buNone/>
            </a:pPr>
            <a:r>
              <a:rPr lang="en-US" sz="1150" dirty="0">
                <a:solidFill>
                  <a:srgbClr val="CCDAEE"/>
                </a:solidFill>
                <a:latin typeface="Calibri" pitchFamily="34" charset="0"/>
                <a:ea typeface="Calibri" pitchFamily="34" charset="-122"/>
                <a:cs typeface="Calibri" pitchFamily="34" charset="-120"/>
              </a:rPr>
              <a:t>r=0.069. Designed for SEC filings, not central bank rhetoric. Detects hedging — cannot detect direction.</a:t>
            </a:r>
            <a:endParaRPr lang="en-US" sz="1150" dirty="0"/>
          </a:p>
        </p:txBody>
      </p:sp>
      <p:sp>
        <p:nvSpPr>
          <p:cNvPr id="8" name="Shape 6"/>
          <p:cNvSpPr/>
          <p:nvPr/>
        </p:nvSpPr>
        <p:spPr>
          <a:xfrm>
            <a:off x="347472" y="2258568"/>
            <a:ext cx="1572768" cy="621792"/>
          </a:xfrm>
          <a:prstGeom prst="roundRect">
            <a:avLst>
              <a:gd name="adj" fmla="val 10294"/>
            </a:avLst>
          </a:prstGeom>
          <a:solidFill>
            <a:srgbClr val="2E5594"/>
          </a:solidFill>
          <a:ln/>
        </p:spPr>
        <p:txBody>
          <a:bodyPr/>
          <a:lstStyle/>
          <a:p>
            <a:endParaRPr lang="en-US"/>
          </a:p>
        </p:txBody>
      </p:sp>
      <p:sp>
        <p:nvSpPr>
          <p:cNvPr id="9" name="Text 7"/>
          <p:cNvSpPr/>
          <p:nvPr/>
        </p:nvSpPr>
        <p:spPr>
          <a:xfrm>
            <a:off x="438912" y="2331720"/>
            <a:ext cx="13898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Fine-tuned FinBERT</a:t>
            </a:r>
            <a:endParaRPr lang="en-US" sz="1050" dirty="0"/>
          </a:p>
        </p:txBody>
      </p:sp>
      <p:sp>
        <p:nvSpPr>
          <p:cNvPr id="10" name="Shape 8"/>
          <p:cNvSpPr/>
          <p:nvPr/>
        </p:nvSpPr>
        <p:spPr>
          <a:xfrm>
            <a:off x="2057400" y="2258568"/>
            <a:ext cx="6766560" cy="621792"/>
          </a:xfrm>
          <a:prstGeom prst="roundRect">
            <a:avLst>
              <a:gd name="adj" fmla="val 10294"/>
            </a:avLst>
          </a:prstGeom>
          <a:solidFill>
            <a:srgbClr val="1A2550"/>
          </a:solidFill>
          <a:ln/>
        </p:spPr>
        <p:txBody>
          <a:bodyPr/>
          <a:lstStyle/>
          <a:p>
            <a:endParaRPr lang="en-US"/>
          </a:p>
        </p:txBody>
      </p:sp>
      <p:sp>
        <p:nvSpPr>
          <p:cNvPr id="11" name="Text 9"/>
          <p:cNvSpPr/>
          <p:nvPr/>
        </p:nvSpPr>
        <p:spPr>
          <a:xfrm>
            <a:off x="2194560" y="2350008"/>
            <a:ext cx="6492240" cy="438912"/>
          </a:xfrm>
          <a:prstGeom prst="rect">
            <a:avLst/>
          </a:prstGeom>
          <a:noFill/>
          <a:ln/>
        </p:spPr>
        <p:txBody>
          <a:bodyPr wrap="square" lIns="0" tIns="0" rIns="0" bIns="0" rtlCol="0" anchor="ctr"/>
          <a:lstStyle/>
          <a:p>
            <a:pPr marL="0" indent="0" algn="l">
              <a:buNone/>
            </a:pPr>
            <a:r>
              <a:rPr lang="en-US" sz="1150" dirty="0">
                <a:solidFill>
                  <a:srgbClr val="CCDAEE"/>
                </a:solidFill>
                <a:latin typeface="Calibri" pitchFamily="34" charset="0"/>
                <a:ea typeface="Calibri" pitchFamily="34" charset="-122"/>
                <a:cs typeface="Calibri" pitchFamily="34" charset="-120"/>
              </a:rPr>
              <a:t>5× better on paragraphs. 9.2% better standalone Brier. Kalshi still dominant at α*=0.00.</a:t>
            </a:r>
            <a:endParaRPr lang="en-US" sz="1150" dirty="0"/>
          </a:p>
        </p:txBody>
      </p:sp>
      <p:sp>
        <p:nvSpPr>
          <p:cNvPr id="12" name="Shape 10"/>
          <p:cNvSpPr/>
          <p:nvPr/>
        </p:nvSpPr>
        <p:spPr>
          <a:xfrm>
            <a:off x="347472" y="3008376"/>
            <a:ext cx="1572768" cy="621792"/>
          </a:xfrm>
          <a:prstGeom prst="roundRect">
            <a:avLst>
              <a:gd name="adj" fmla="val 10294"/>
            </a:avLst>
          </a:prstGeom>
          <a:solidFill>
            <a:srgbClr val="2E5594"/>
          </a:solidFill>
          <a:ln/>
        </p:spPr>
        <p:txBody>
          <a:bodyPr/>
          <a:lstStyle/>
          <a:p>
            <a:endParaRPr lang="en-US"/>
          </a:p>
        </p:txBody>
      </p:sp>
      <p:sp>
        <p:nvSpPr>
          <p:cNvPr id="13" name="Text 11"/>
          <p:cNvSpPr/>
          <p:nvPr/>
        </p:nvSpPr>
        <p:spPr>
          <a:xfrm>
            <a:off x="438912" y="3081528"/>
            <a:ext cx="13898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Kalshi portfolio</a:t>
            </a:r>
            <a:endParaRPr lang="en-US" sz="1050" dirty="0"/>
          </a:p>
        </p:txBody>
      </p:sp>
      <p:sp>
        <p:nvSpPr>
          <p:cNvPr id="14" name="Shape 12"/>
          <p:cNvSpPr/>
          <p:nvPr/>
        </p:nvSpPr>
        <p:spPr>
          <a:xfrm>
            <a:off x="2057400" y="3008376"/>
            <a:ext cx="6766560" cy="621792"/>
          </a:xfrm>
          <a:prstGeom prst="roundRect">
            <a:avLst>
              <a:gd name="adj" fmla="val 10294"/>
            </a:avLst>
          </a:prstGeom>
          <a:solidFill>
            <a:srgbClr val="1A2550"/>
          </a:solidFill>
          <a:ln/>
        </p:spPr>
        <p:txBody>
          <a:bodyPr/>
          <a:lstStyle/>
          <a:p>
            <a:endParaRPr lang="en-US"/>
          </a:p>
        </p:txBody>
      </p:sp>
      <p:sp>
        <p:nvSpPr>
          <p:cNvPr id="15" name="Text 13"/>
          <p:cNvSpPr/>
          <p:nvPr/>
        </p:nvSpPr>
        <p:spPr>
          <a:xfrm>
            <a:off x="2194560" y="3099816"/>
            <a:ext cx="6492240" cy="438912"/>
          </a:xfrm>
          <a:prstGeom prst="rect">
            <a:avLst/>
          </a:prstGeom>
          <a:noFill/>
          <a:ln/>
        </p:spPr>
        <p:txBody>
          <a:bodyPr wrap="square" lIns="0" tIns="0" rIns="0" bIns="0" rtlCol="0" anchor="ctr"/>
          <a:lstStyle/>
          <a:p>
            <a:pPr marL="0" indent="0" algn="l">
              <a:buNone/>
            </a:pPr>
            <a:r>
              <a:rPr lang="en-US" sz="1150" dirty="0">
                <a:solidFill>
                  <a:srgbClr val="CCDAEE"/>
                </a:solidFill>
                <a:latin typeface="Calibri" pitchFamily="34" charset="0"/>
                <a:ea typeface="Calibri" pitchFamily="34" charset="-122"/>
                <a:cs typeface="Calibri" pitchFamily="34" charset="-120"/>
              </a:rPr>
              <a:t>IR=0.57. Short-horizon wrong-sign — anticipated component in ETF prices before the meeting.</a:t>
            </a:r>
            <a:endParaRPr lang="en-US" sz="1150" dirty="0"/>
          </a:p>
        </p:txBody>
      </p:sp>
      <p:sp>
        <p:nvSpPr>
          <p:cNvPr id="16" name="Shape 14"/>
          <p:cNvSpPr/>
          <p:nvPr/>
        </p:nvSpPr>
        <p:spPr>
          <a:xfrm>
            <a:off x="347472" y="3758184"/>
            <a:ext cx="1572768" cy="621792"/>
          </a:xfrm>
          <a:prstGeom prst="roundRect">
            <a:avLst>
              <a:gd name="adj" fmla="val 10294"/>
            </a:avLst>
          </a:prstGeom>
          <a:solidFill>
            <a:srgbClr val="2E5594"/>
          </a:solidFill>
          <a:ln/>
        </p:spPr>
        <p:txBody>
          <a:bodyPr/>
          <a:lstStyle/>
          <a:p>
            <a:endParaRPr lang="en-US"/>
          </a:p>
        </p:txBody>
      </p:sp>
      <p:sp>
        <p:nvSpPr>
          <p:cNvPr id="17" name="Text 15"/>
          <p:cNvSpPr/>
          <p:nvPr/>
        </p:nvSpPr>
        <p:spPr>
          <a:xfrm>
            <a:off x="438912" y="3831336"/>
            <a:ext cx="1389888" cy="47548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Surprise signal</a:t>
            </a:r>
            <a:endParaRPr lang="en-US" sz="1050" dirty="0"/>
          </a:p>
        </p:txBody>
      </p:sp>
      <p:sp>
        <p:nvSpPr>
          <p:cNvPr id="18" name="Shape 16"/>
          <p:cNvSpPr/>
          <p:nvPr/>
        </p:nvSpPr>
        <p:spPr>
          <a:xfrm>
            <a:off x="2057400" y="3758184"/>
            <a:ext cx="6766560" cy="621792"/>
          </a:xfrm>
          <a:prstGeom prst="roundRect">
            <a:avLst>
              <a:gd name="adj" fmla="val 10294"/>
            </a:avLst>
          </a:prstGeom>
          <a:solidFill>
            <a:srgbClr val="1A2550"/>
          </a:solidFill>
          <a:ln/>
        </p:spPr>
        <p:txBody>
          <a:bodyPr/>
          <a:lstStyle/>
          <a:p>
            <a:endParaRPr lang="en-US"/>
          </a:p>
        </p:txBody>
      </p:sp>
      <p:sp>
        <p:nvSpPr>
          <p:cNvPr id="19" name="Text 17"/>
          <p:cNvSpPr/>
          <p:nvPr/>
        </p:nvSpPr>
        <p:spPr>
          <a:xfrm>
            <a:off x="2194560" y="3849624"/>
            <a:ext cx="6492240" cy="438912"/>
          </a:xfrm>
          <a:prstGeom prst="rect">
            <a:avLst/>
          </a:prstGeom>
          <a:noFill/>
          <a:ln/>
        </p:spPr>
        <p:txBody>
          <a:bodyPr wrap="square" lIns="0" tIns="0" rIns="0" bIns="0" rtlCol="0" anchor="ctr"/>
          <a:lstStyle/>
          <a:p>
            <a:pPr marL="0" indent="0" algn="l">
              <a:buNone/>
            </a:pPr>
            <a:r>
              <a:rPr lang="en-US" sz="1150" dirty="0">
                <a:solidFill>
                  <a:srgbClr val="CCDAEE"/>
                </a:solidFill>
                <a:latin typeface="Calibri" pitchFamily="34" charset="0"/>
                <a:ea typeface="Calibri" pitchFamily="34" charset="-122"/>
                <a:cs typeface="Calibri" pitchFamily="34" charset="-120"/>
              </a:rPr>
              <a:t>Regime degenerate. corr(T-7,T-1)=0.9993 confirms Kalshi answers the question a week early.</a:t>
            </a:r>
            <a:endParaRPr lang="en-US" sz="1150" dirty="0"/>
          </a:p>
        </p:txBody>
      </p:sp>
      <p:sp>
        <p:nvSpPr>
          <p:cNvPr id="20" name="Shape 18"/>
          <p:cNvSpPr/>
          <p:nvPr/>
        </p:nvSpPr>
        <p:spPr>
          <a:xfrm>
            <a:off x="347472" y="4553712"/>
            <a:ext cx="8476488" cy="502920"/>
          </a:xfrm>
          <a:prstGeom prst="roundRect">
            <a:avLst>
              <a:gd name="adj" fmla="val 12727"/>
            </a:avLst>
          </a:prstGeom>
          <a:solidFill>
            <a:srgbClr val="2E7DD1"/>
          </a:solidFill>
          <a:ln/>
        </p:spPr>
        <p:txBody>
          <a:bodyPr/>
          <a:lstStyle/>
          <a:p>
            <a:endParaRPr lang="en-US"/>
          </a:p>
        </p:txBody>
      </p:sp>
      <p:sp>
        <p:nvSpPr>
          <p:cNvPr id="21" name="Text 19"/>
          <p:cNvSpPr/>
          <p:nvPr/>
        </p:nvSpPr>
        <p:spPr>
          <a:xfrm>
            <a:off x="502920" y="4553712"/>
            <a:ext cx="2560320" cy="502920"/>
          </a:xfrm>
          <a:prstGeom prst="rect">
            <a:avLst/>
          </a:prstGeom>
          <a:noFill/>
          <a:ln/>
        </p:spPr>
        <p:txBody>
          <a:bodyPr wrap="square" lIns="50800" tIns="50800" rIns="50800" bIns="5080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  Code, pipelines, and data access:</a:t>
            </a:r>
            <a:endParaRPr lang="en-US" sz="1100" dirty="0"/>
          </a:p>
        </p:txBody>
      </p:sp>
      <p:sp>
        <p:nvSpPr>
          <p:cNvPr id="22" name="Text 20"/>
          <p:cNvSpPr/>
          <p:nvPr/>
        </p:nvSpPr>
        <p:spPr>
          <a:xfrm>
            <a:off x="3127248" y="4553712"/>
            <a:ext cx="5577840" cy="502920"/>
          </a:xfrm>
          <a:prstGeom prst="rect">
            <a:avLst/>
          </a:prstGeom>
          <a:noFill/>
          <a:ln/>
        </p:spPr>
        <p:txBody>
          <a:bodyPr wrap="square" lIns="50800" tIns="50800" rIns="50800" bIns="50800" rtlCol="0" anchor="ctr"/>
          <a:lstStyle/>
          <a:p>
            <a:r>
              <a:rPr lang="en-US" sz="1100" dirty="0">
                <a:solidFill>
                  <a:srgbClr val="FFFFFF"/>
                </a:solidFill>
                <a:latin typeface="Calibri" pitchFamily="34" charset="0"/>
                <a:ea typeface="Calibri" pitchFamily="34" charset="-122"/>
                <a:cs typeface="Calibri" pitchFamily="34" charset="-120"/>
                <a:hlinkClick r:id="rId3"/>
              </a:rPr>
              <a:t>https://github.com/nix064/kalshi-fomc-nlp</a:t>
            </a:r>
            <a:r>
              <a:rPr lang="en-US" sz="1100" dirty="0">
                <a:solidFill>
                  <a:srgbClr val="FFFFFF"/>
                </a:solidFill>
                <a:latin typeface="Calibri" pitchFamily="34" charset="0"/>
                <a:ea typeface="Calibri" pitchFamily="34" charset="-122"/>
                <a:cs typeface="Calibri" pitchFamily="34" charset="-120"/>
              </a:rPr>
              <a:t> —  Full pipeline code, Snowflake schema, Colab notebooks, README with open data links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F1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2925" y="457200"/>
            <a:ext cx="8039100" cy="7048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3400" b="1">
                <a:solidFill>
                  <a:srgbClr val="FFFFFF"/>
                </a:solidFill>
                <a:latin typeface="Calibri"/>
              </a:rPr>
              <a:t>What comes next.</a:t>
            </a:r>
          </a:p>
        </p:txBody>
      </p:sp>
      <p:sp>
        <p:nvSpPr>
          <p:cNvPr id="4" name="Rectangle 3"/>
          <p:cNvSpPr/>
          <p:nvPr/>
        </p:nvSpPr>
        <p:spPr>
          <a:xfrm>
            <a:off x="542925" y="1095375"/>
            <a:ext cx="80391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8A9BC1"/>
                </a:solidFill>
                <a:latin typeface="Calibri"/>
              </a:rPr>
              <a:t>Four directions from this project.</a:t>
            </a:r>
          </a:p>
        </p:txBody>
      </p:sp>
      <p:sp>
        <p:nvSpPr>
          <p:cNvPr id="5" name="Rectangle 4"/>
          <p:cNvSpPr/>
          <p:nvPr/>
        </p:nvSpPr>
        <p:spPr>
          <a:xfrm>
            <a:off x="342900" y="1447800"/>
            <a:ext cx="1571625" cy="619125"/>
          </a:xfrm>
          <a:prstGeom prst="rect">
            <a:avLst/>
          </a:prstGeom>
          <a:solidFill>
            <a:srgbClr val="2E559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Calibri"/>
              </a:rPr>
              <a:t>Earlier
horizons</a:t>
            </a:r>
          </a:p>
        </p:txBody>
      </p:sp>
      <p:sp>
        <p:nvSpPr>
          <p:cNvPr id="6" name="Rectangle 5"/>
          <p:cNvSpPr/>
          <p:nvPr/>
        </p:nvSpPr>
        <p:spPr>
          <a:xfrm>
            <a:off x="2057400" y="1447800"/>
            <a:ext cx="6762750" cy="619125"/>
          </a:xfrm>
          <a:prstGeom prst="rect">
            <a:avLst/>
          </a:prstGeom>
          <a:solidFill>
            <a:srgbClr val="1A25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CCDAEE"/>
                </a:solidFill>
                <a:latin typeface="Calibri"/>
              </a:rPr>
              <a:t>Test whether Kalshi is efficient at T-30, T-20, T-14 — before CPI prints and Fed speeches have landed. That's where NLP might add value.</a:t>
            </a:r>
          </a:p>
        </p:txBody>
      </p:sp>
      <p:sp>
        <p:nvSpPr>
          <p:cNvPr id="7" name="Rectangle 6"/>
          <p:cNvSpPr/>
          <p:nvPr/>
        </p:nvSpPr>
        <p:spPr>
          <a:xfrm>
            <a:off x="342900" y="2200275"/>
            <a:ext cx="1571625" cy="619125"/>
          </a:xfrm>
          <a:prstGeom prst="rect">
            <a:avLst/>
          </a:prstGeom>
          <a:solidFill>
            <a:srgbClr val="2E559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Calibri"/>
              </a:rPr>
              <a:t>Cross-market
disagreement</a:t>
            </a:r>
          </a:p>
        </p:txBody>
      </p:sp>
      <p:sp>
        <p:nvSpPr>
          <p:cNvPr id="8" name="Rectangle 7"/>
          <p:cNvSpPr/>
          <p:nvPr/>
        </p:nvSpPr>
        <p:spPr>
          <a:xfrm>
            <a:off x="2057400" y="2200275"/>
            <a:ext cx="6762750" cy="619125"/>
          </a:xfrm>
          <a:prstGeom prst="rect">
            <a:avLst/>
          </a:prstGeom>
          <a:solidFill>
            <a:srgbClr val="1A25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dirty="0">
                <a:solidFill>
                  <a:srgbClr val="CCDAEE"/>
                </a:solidFill>
                <a:latin typeface="Calibri"/>
              </a:rPr>
              <a:t>Compare Kalshi against Fed funds futures, SOFR, and economist consensus. Gaps between them reveal how information flows between institutional and retail markets.</a:t>
            </a:r>
          </a:p>
        </p:txBody>
      </p:sp>
      <p:sp>
        <p:nvSpPr>
          <p:cNvPr id="9" name="Rectangle 8"/>
          <p:cNvSpPr/>
          <p:nvPr/>
        </p:nvSpPr>
        <p:spPr>
          <a:xfrm>
            <a:off x="342900" y="2952750"/>
            <a:ext cx="1571625" cy="619125"/>
          </a:xfrm>
          <a:prstGeom prst="rect">
            <a:avLst/>
          </a:prstGeom>
          <a:solidFill>
            <a:srgbClr val="2E559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Calibri"/>
              </a:rPr>
              <a:t>Speaker-conditional
NLP</a:t>
            </a:r>
          </a:p>
        </p:txBody>
      </p:sp>
      <p:sp>
        <p:nvSpPr>
          <p:cNvPr id="10" name="Rectangle 9"/>
          <p:cNvSpPr/>
          <p:nvPr/>
        </p:nvSpPr>
        <p:spPr>
          <a:xfrm>
            <a:off x="2057400" y="2952750"/>
            <a:ext cx="6762750" cy="619125"/>
          </a:xfrm>
          <a:prstGeom prst="rect">
            <a:avLst/>
          </a:prstGeom>
          <a:solidFill>
            <a:srgbClr val="1A25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CCDAEE"/>
                </a:solidFill>
                <a:latin typeface="Calibri"/>
              </a:rPr>
              <a:t>Weight Fed speeches by voting status, regional role, and meeting proximity. The FOMC communication literature supports this as the natural NLP extension.</a:t>
            </a:r>
          </a:p>
        </p:txBody>
      </p:sp>
      <p:sp>
        <p:nvSpPr>
          <p:cNvPr id="11" name="Rectangle 10"/>
          <p:cNvSpPr/>
          <p:nvPr/>
        </p:nvSpPr>
        <p:spPr>
          <a:xfrm>
            <a:off x="342900" y="3705225"/>
            <a:ext cx="1571625" cy="619125"/>
          </a:xfrm>
          <a:prstGeom prst="rect">
            <a:avLst/>
          </a:prstGeom>
          <a:solidFill>
            <a:srgbClr val="2E559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FFFFFF"/>
                </a:solidFill>
                <a:latin typeface="Calibri"/>
              </a:rPr>
              <a:t>Polymarket
replication</a:t>
            </a:r>
          </a:p>
        </p:txBody>
      </p:sp>
      <p:sp>
        <p:nvSpPr>
          <p:cNvPr id="12" name="Rectangle 11"/>
          <p:cNvSpPr/>
          <p:nvPr/>
        </p:nvSpPr>
        <p:spPr>
          <a:xfrm>
            <a:off x="2057400" y="3705225"/>
            <a:ext cx="6762750" cy="619125"/>
          </a:xfrm>
          <a:prstGeom prst="rect">
            <a:avLst/>
          </a:prstGeom>
          <a:solidFill>
            <a:srgbClr val="1A25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0">
                <a:solidFill>
                  <a:srgbClr val="CCDAEE"/>
                </a:solidFill>
                <a:latin typeface="Calibri"/>
              </a:rPr>
              <a:t>N≈40 meetings, hiking cycle included, two rate regimes. Same methodology — more variation. The test that confirms or breaks the efficiency finding.</a:t>
            </a:r>
          </a:p>
        </p:txBody>
      </p:sp>
      <p:sp>
        <p:nvSpPr>
          <p:cNvPr id="13" name="Rectangle 12"/>
          <p:cNvSpPr/>
          <p:nvPr/>
        </p:nvSpPr>
        <p:spPr>
          <a:xfrm>
            <a:off x="342900" y="4505325"/>
            <a:ext cx="8467725" cy="495300"/>
          </a:xfrm>
          <a:prstGeom prst="rect">
            <a:avLst/>
          </a:prstGeom>
          <a:solidFill>
            <a:srgbClr val="2E7DD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570</TotalTime>
  <Words>3118</Words>
  <Application>Microsoft Macintosh PowerPoint</Application>
  <PresentationFormat>On-screen Show (16:9)</PresentationFormat>
  <Paragraphs>363</Paragraphs>
  <Slides>16</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Saliou, Nic</cp:lastModifiedBy>
  <cp:revision>13</cp:revision>
  <dcterms:created xsi:type="dcterms:W3CDTF">2026-05-04T15:30:57Z</dcterms:created>
  <dcterms:modified xsi:type="dcterms:W3CDTF">2026-05-05T01:06:06Z</dcterms:modified>
</cp:coreProperties>
</file>